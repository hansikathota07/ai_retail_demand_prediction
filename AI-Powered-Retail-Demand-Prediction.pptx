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Geist" panose="020B0604020202020204" charset="0"/>
      <p:regular r:id="rId15"/>
    </p:embeddedFont>
    <p:embeddedFont>
      <p:font typeface="Geist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80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2" y="818555"/>
            <a:ext cx="2629793" cy="35063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244724"/>
            <a:ext cx="4722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AI-Powered Retail Demand Prediction 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2378720"/>
            <a:ext cx="5179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Literature Review and Research Gap Analysis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925119" y="2849984"/>
            <a:ext cx="2188443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T.L. Hansika (2510030330)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 Siri (2510030325)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M. Mounika (2510030343)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K. Sindhu (2510030195)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464201" y="2849984"/>
            <a:ext cx="218844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Department: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Computer Science Engineering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Year: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2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37" y="807913"/>
            <a:ext cx="2645718" cy="35276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27806"/>
            <a:ext cx="4722763" cy="791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5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Relevance and Motivation</a:t>
            </a:r>
            <a:endParaRPr lang="en-US" sz="23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376586"/>
            <a:ext cx="4722763" cy="8274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89372" y="1512689"/>
            <a:ext cx="4393406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7" name="Text 2"/>
          <p:cNvSpPr/>
          <p:nvPr/>
        </p:nvSpPr>
        <p:spPr>
          <a:xfrm>
            <a:off x="689372" y="1773510"/>
            <a:ext cx="4393406" cy="294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Retailers face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overstocking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(excess inventory costs) and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stockouts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(lost sales and customer dissatisfaction) simultaneously.</a:t>
            </a:r>
            <a:endParaRPr lang="en-US" sz="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08622"/>
            <a:ext cx="4722763" cy="8274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9372" y="2444725"/>
            <a:ext cx="4393406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0" name="Text 4"/>
          <p:cNvSpPr/>
          <p:nvPr/>
        </p:nvSpPr>
        <p:spPr>
          <a:xfrm>
            <a:off x="689372" y="2705546"/>
            <a:ext cx="4393406" cy="294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Demand shifts due to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seasonality, promotions, weather, and special events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—traditional forecasting approaches may struggle to adapt when demand patterns change due to seasonality, promotions, weather and special events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40658"/>
            <a:ext cx="4722763" cy="82741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9372" y="3376761"/>
            <a:ext cx="4393406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Gap</a:t>
            </a:r>
            <a:endParaRPr lang="en-US" sz="1150" dirty="0"/>
          </a:p>
        </p:txBody>
      </p:sp>
      <p:sp>
        <p:nvSpPr>
          <p:cNvPr id="13" name="Text 6"/>
          <p:cNvSpPr/>
          <p:nvPr/>
        </p:nvSpPr>
        <p:spPr>
          <a:xfrm>
            <a:off x="689372" y="3637583"/>
            <a:ext cx="4393406" cy="294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 accuracy alone is insufficient; retailers need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understandable, actionable recommendations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they can act on immediately.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678805" y="4303514"/>
            <a:ext cx="4540076" cy="294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research transforms demand forecasting from a static prediction task into an adaptive decision-support system.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496119" y="4185791"/>
            <a:ext cx="14288" cy="529828"/>
          </a:xfrm>
          <a:prstGeom prst="roundRect">
            <a:avLst>
              <a:gd name="adj" fmla="val 49998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360"/>
            <a:ext cx="8151763" cy="43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b="1" kern="0" spc="-5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Existing Approaches in Retail Demand Forecasting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68500"/>
            <a:ext cx="2638797" cy="26387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69332" y="1280666"/>
            <a:ext cx="67494" cy="6749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5" name="Text 2"/>
          <p:cNvSpPr/>
          <p:nvPr/>
        </p:nvSpPr>
        <p:spPr>
          <a:xfrm>
            <a:off x="3665562" y="1204615"/>
            <a:ext cx="4987007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Statistical Methods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65562" y="1552947"/>
            <a:ext cx="4987007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ARIMA, exponential smoothing — effective for stable patterns but struggle with sudden changes.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69332" y="2229594"/>
            <a:ext cx="67494" cy="6749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8" name="Text 5"/>
          <p:cNvSpPr/>
          <p:nvPr/>
        </p:nvSpPr>
        <p:spPr>
          <a:xfrm>
            <a:off x="3665562" y="2153543"/>
            <a:ext cx="4987007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65562" y="2501875"/>
            <a:ext cx="4987007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XGBoost, random forests — capture nonlinear relationships; limited context awareness.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9332" y="3178522"/>
            <a:ext cx="67494" cy="6749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1" name="Text 8"/>
          <p:cNvSpPr/>
          <p:nvPr/>
        </p:nvSpPr>
        <p:spPr>
          <a:xfrm>
            <a:off x="3665562" y="3102471"/>
            <a:ext cx="4987007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65562" y="3450803"/>
            <a:ext cx="4987007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LSTMs, Transformers — model temporal dependencies; often lack interpretability.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69332" y="3955926"/>
            <a:ext cx="67494" cy="67494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4" name="Text 11"/>
          <p:cNvSpPr/>
          <p:nvPr/>
        </p:nvSpPr>
        <p:spPr>
          <a:xfrm>
            <a:off x="3665562" y="3879875"/>
            <a:ext cx="4987007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Explainable AI &amp; Anomaly Detection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65562" y="4228207"/>
            <a:ext cx="4987007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SHAP, LIME, Isolation Forests — powerful individually but </a:t>
            </a: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rarely integrated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into forecasting pipelines.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/>
              <a:t>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CEEA1C-8773-3218-E669-6647F3312AA6}"/>
              </a:ext>
            </a:extLst>
          </p:cNvPr>
          <p:cNvSpPr txBox="1"/>
          <p:nvPr/>
        </p:nvSpPr>
        <p:spPr>
          <a:xfrm>
            <a:off x="3234266" y="4399731"/>
            <a:ext cx="6017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</a:t>
            </a:r>
            <a:r>
              <a:rPr lang="en-IN" sz="1400" dirty="0">
                <a:solidFill>
                  <a:schemeClr val="bg1"/>
                </a:solidFill>
              </a:rPr>
              <a:t>Adaptive Learning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</a:t>
            </a:r>
            <a:r>
              <a:rPr lang="en-IN" sz="1100" dirty="0">
                <a:solidFill>
                  <a:schemeClr val="bg1"/>
                </a:solidFill>
              </a:rPr>
              <a:t>Online learning and periodic retraining can address changing  demand patterns and model drift.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44398BA0-EAB9-EAED-BADE-D128B04C9865}"/>
              </a:ext>
            </a:extLst>
          </p:cNvPr>
          <p:cNvSpPr/>
          <p:nvPr/>
        </p:nvSpPr>
        <p:spPr>
          <a:xfrm>
            <a:off x="3475558" y="4548832"/>
            <a:ext cx="67494" cy="67494"/>
          </a:xfrm>
          <a:prstGeom prst="ellipse">
            <a:avLst/>
          </a:prstGeom>
          <a:solidFill>
            <a:srgbClr val="487C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4138"/>
            <a:ext cx="2090440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26628"/>
            <a:ext cx="23775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LITERATURE REVIEW — STUDIES 1–3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6196"/>
            <a:ext cx="8151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Deep Learning, Retail Forecasting &amp; Supply Chain AI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90192"/>
            <a:ext cx="8151763" cy="2769096"/>
          </a:xfrm>
          <a:prstGeom prst="roundRect">
            <a:avLst>
              <a:gd name="adj" fmla="val 215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261220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998366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919761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1104" y="1894954"/>
            <a:ext cx="1791221" cy="366266"/>
          </a:xfrm>
          <a:custGeom>
            <a:avLst/>
            <a:gdLst/>
            <a:ahLst/>
            <a:cxnLst/>
            <a:rect l="l" t="t" r="r" b="b"/>
            <a:pathLst>
              <a:path w="1791221" h="366266">
                <a:moveTo>
                  <a:pt x="49619" y="0"/>
                </a:moveTo>
                <a:lnTo>
                  <a:pt x="1791221" y="0"/>
                </a:lnTo>
                <a:lnTo>
                  <a:pt x="1791221" y="366266"/>
                </a:lnTo>
                <a:lnTo>
                  <a:pt x="0" y="366266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63" y="1984772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92325" y="1894954"/>
            <a:ext cx="1791221" cy="36626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434084" y="1984772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83546" y="1894954"/>
            <a:ext cx="1791221" cy="36626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5305" y="1984772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Method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74767" y="1894954"/>
            <a:ext cx="2768352" cy="366266"/>
          </a:xfrm>
          <a:custGeom>
            <a:avLst/>
            <a:gdLst/>
            <a:ahLst/>
            <a:cxnLst/>
            <a:rect l="l" t="t" r="r" b="b"/>
            <a:pathLst>
              <a:path w="2768352" h="366266">
                <a:moveTo>
                  <a:pt x="0" y="0"/>
                </a:moveTo>
                <a:lnTo>
                  <a:pt x="2718733" y="0"/>
                </a:lnTo>
                <a:arcTo wR="49619" hR="49619" stAng="16200000" swAng="5400000"/>
                <a:lnTo>
                  <a:pt x="2768352" y="366266"/>
                </a:lnTo>
                <a:lnTo>
                  <a:pt x="0" y="366266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526" y="1984772"/>
            <a:ext cx="29420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63" y="2353419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Eglite &amp; Birzniece (2022)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34084" y="2353419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 Learning for Retail Sales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5305" y="2353419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LSTMs, CNNs, RNNs, Transformers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16526" y="2353419"/>
            <a:ext cx="24848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DL improves accuracy but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lacks explainability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limited contextual integration discussion.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63" y="3090565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Fildes, Ma &amp; Kolassa (2022)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34084" y="3090565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Retail Forecasting: Research &amp; Practice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25305" y="3090565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Statistical, causal, and ML models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16526" y="3090565"/>
            <a:ext cx="248483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Causal models outperform benchmarks;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ML evidence still limited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gap in new product forecasting.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863" y="4011960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Douaioui et al. (2024)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34084" y="4011960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ML &amp; DL for Demand Forecasting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25305" y="4011960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XGBoost, neural networks, ensemble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16526" y="4011960"/>
            <a:ext cx="24848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Ensemble approaches improve accuracy;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integration of external features remains challenging.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4138"/>
            <a:ext cx="2114327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26628"/>
            <a:ext cx="24014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LITERATURE REVIEW — STUDIES 4–6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6196"/>
            <a:ext cx="8151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Explainability, Adaptive Forecasting &amp; Semantic XAI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90192"/>
            <a:ext cx="8151763" cy="2769096"/>
          </a:xfrm>
          <a:prstGeom prst="roundRect">
            <a:avLst>
              <a:gd name="adj" fmla="val 215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261220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82615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919761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1104" y="1894954"/>
            <a:ext cx="1791221" cy="366266"/>
          </a:xfrm>
          <a:custGeom>
            <a:avLst/>
            <a:gdLst/>
            <a:ahLst/>
            <a:cxnLst/>
            <a:rect l="l" t="t" r="r" b="b"/>
            <a:pathLst>
              <a:path w="1791221" h="366266">
                <a:moveTo>
                  <a:pt x="49619" y="0"/>
                </a:moveTo>
                <a:lnTo>
                  <a:pt x="1791221" y="0"/>
                </a:lnTo>
                <a:lnTo>
                  <a:pt x="1791221" y="366266"/>
                </a:lnTo>
                <a:lnTo>
                  <a:pt x="0" y="366266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63" y="1984772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92325" y="1894954"/>
            <a:ext cx="1791221" cy="36626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434084" y="1984772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83546" y="1894954"/>
            <a:ext cx="2116931" cy="36626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5305" y="1984772"/>
            <a:ext cx="229061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Achievement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0477" y="1894954"/>
            <a:ext cx="2442642" cy="366266"/>
          </a:xfrm>
          <a:custGeom>
            <a:avLst/>
            <a:gdLst/>
            <a:ahLst/>
            <a:cxnLst/>
            <a:rect l="l" t="t" r="r" b="b"/>
            <a:pathLst>
              <a:path w="2442642" h="366266">
                <a:moveTo>
                  <a:pt x="0" y="0"/>
                </a:moveTo>
                <a:lnTo>
                  <a:pt x="2393023" y="0"/>
                </a:lnTo>
                <a:arcTo wR="49619" hR="49619" stAng="16200000" swAng="5400000"/>
                <a:lnTo>
                  <a:pt x="2442642" y="366266"/>
                </a:lnTo>
                <a:lnTo>
                  <a:pt x="0" y="366266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342236" y="1984772"/>
            <a:ext cx="261632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 Addressed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63" y="2353419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 et al. (2025)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34084" y="2353419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Explainable Latent Auto-encoder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5305" y="2353419"/>
            <a:ext cx="183341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6.8% accuracy gain; interpretable predictions; real-world deployment (JD.com)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2236" y="2353419"/>
            <a:ext cx="215912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Event-aware forecasting; anomaly detection; model adaptation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63" y="3274814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Lei, Jun &amp; Jackson (2026)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34084" y="3274814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Predict-then-Correct Loop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25305" y="3274814"/>
            <a:ext cx="183341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9.52% RMSE improvement; handles demand pattern shifts; online correction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2236" y="3274814"/>
            <a:ext cx="215912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Explainability; event-aware context; anomaly detection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863" y="4011960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Rožanec &amp; Mladenić (2021)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34084" y="4011960"/>
            <a:ext cx="150770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Semantic XAI for Demand Forecasting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25305" y="4011960"/>
            <a:ext cx="183341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Enriches explanations with real-world events; recommends new datasets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2236" y="4011960"/>
            <a:ext cx="215912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Anomaly detection; inventory optimization; model retraining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255"/>
            <a:ext cx="8151763" cy="87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b="1" kern="0" spc="-5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Comparative Analysis: Existing Studies vs. Proposed System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532186"/>
            <a:ext cx="8151763" cy="2898651"/>
          </a:xfrm>
          <a:prstGeom prst="roundRect">
            <a:avLst>
              <a:gd name="adj" fmla="val 195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874862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215158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55453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95749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236044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76340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4088160"/>
            <a:ext cx="8151763" cy="84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46263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505721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165178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24636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4093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43551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03008" y="1532186"/>
            <a:ext cx="8445" cy="28986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34157" y="1536948"/>
            <a:ext cx="1612106" cy="337914"/>
          </a:xfrm>
          <a:custGeom>
            <a:avLst/>
            <a:gdLst/>
            <a:ahLst/>
            <a:cxnLst/>
            <a:rect l="l" t="t" r="r" b="b"/>
            <a:pathLst>
              <a:path w="1612106" h="337914">
                <a:moveTo>
                  <a:pt x="47293" y="0"/>
                </a:moveTo>
                <a:lnTo>
                  <a:pt x="1612106" y="0"/>
                </a:lnTo>
                <a:lnTo>
                  <a:pt x="1612106" y="337914"/>
                </a:lnTo>
                <a:lnTo>
                  <a:pt x="0" y="337914"/>
                </a:lnTo>
                <a:lnTo>
                  <a:pt x="0" y="47293"/>
                </a:lnTo>
                <a:arcTo wR="47293" hR="47293" stAng="10800000" swAng="5400000"/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1369219" y="1618952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46263" y="1536948"/>
            <a:ext cx="659457" cy="33791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2983706" y="1618952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05721" y="1536948"/>
            <a:ext cx="659457" cy="33791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3643164" y="1618952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5178" y="1536948"/>
            <a:ext cx="659457" cy="33791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4302621" y="1618952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4636" y="1536948"/>
            <a:ext cx="659457" cy="33791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4962079" y="1618952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4093" y="1536948"/>
            <a:ext cx="659457" cy="33791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5621536" y="1618952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3551" y="1536948"/>
            <a:ext cx="659457" cy="33791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6280993" y="1618952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03008" y="1536948"/>
            <a:ext cx="1025872" cy="337914"/>
          </a:xfrm>
          <a:custGeom>
            <a:avLst/>
            <a:gdLst/>
            <a:ahLst/>
            <a:cxnLst/>
            <a:rect l="l" t="t" r="r" b="b"/>
            <a:pathLst>
              <a:path w="1025872" h="337914">
                <a:moveTo>
                  <a:pt x="0" y="0"/>
                </a:moveTo>
                <a:lnTo>
                  <a:pt x="978580" y="0"/>
                </a:lnTo>
                <a:arcTo wR="47293" hR="47293" stAng="16200000" swAng="5400000"/>
                <a:lnTo>
                  <a:pt x="1025872" y="337914"/>
                </a:lnTo>
                <a:lnTo>
                  <a:pt x="0" y="337914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940451" y="1618952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69219" y="1959248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Historical Sales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55106" y="1959248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14564" y="1959248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074021" y="1959248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3479" y="1959248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92936" y="1959248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52393" y="1959248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11851" y="1959248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369219" y="2299543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Weather &amp; Context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55106" y="2299543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14564" y="2299543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074021" y="2299543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3479" y="2299543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92936" y="2299543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052393" y="2299543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711851" y="2299543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369219" y="2639839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Events &amp; Festivals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755106" y="2639839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14564" y="2639839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074021" y="2639839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33479" y="2639839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92936" y="2639839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052393" y="2639839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711851" y="2639839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369219" y="2980134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755106" y="2980134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414564" y="2980134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074021" y="2980134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733479" y="2980134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392936" y="2980134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052393" y="2980134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711851" y="2980134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369219" y="3320430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Explainability (XAI)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2755106" y="3320430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3414564" y="3320430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074021" y="3320430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733479" y="3320430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392936" y="3320430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052393" y="3320430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711851" y="3320430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369219" y="3660725"/>
            <a:ext cx="1339602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Inventory Recommendation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2755106" y="366072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3414564" y="366072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074021" y="366072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4733479" y="366072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392936" y="366072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052393" y="366072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711851" y="3660725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369219" y="4172545"/>
            <a:ext cx="179680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 Adaptation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2755106" y="417254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3414564" y="417254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4074021" y="417254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733479" y="417254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392936" y="417254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◐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052393" y="4172545"/>
            <a:ext cx="841772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✗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6711851" y="4172545"/>
            <a:ext cx="12105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496119" y="4575721"/>
            <a:ext cx="8608963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Legend: ✓ = Fully addressed  |  ◐ = Partially addressed  |  ✗ = Not addressed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1" y="809104"/>
            <a:ext cx="2643932" cy="35252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23714"/>
            <a:ext cx="4722763" cy="8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Critical Analysis and Research Gaps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925119" y="1501155"/>
            <a:ext cx="2210098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Works in Literature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1627" y="1812354"/>
            <a:ext cx="186035" cy="1860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28145" y="1824782"/>
            <a:ext cx="1807071" cy="45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 learning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captures temporal patterns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effectively across time-series retail data</a:t>
            </a:r>
            <a:endParaRPr lang="en-US" sz="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1627" y="2482825"/>
            <a:ext cx="186035" cy="1860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328145" y="2495252"/>
            <a:ext cx="1807071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Contextual features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improve accuracy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weather, promotions, and events are included</a:t>
            </a:r>
            <a:endParaRPr lang="en-US" sz="9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1627" y="3304431"/>
            <a:ext cx="186035" cy="1860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28145" y="3316858"/>
            <a:ext cx="1807071" cy="45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Explainability techniques like SHAP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build stakeholder trust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model outputs</a:t>
            </a:r>
            <a:endParaRPr lang="en-US" sz="950" dirty="0"/>
          </a:p>
        </p:txBody>
      </p:sp>
      <p:sp>
        <p:nvSpPr>
          <p:cNvPr id="12" name="Text 5"/>
          <p:cNvSpPr/>
          <p:nvPr/>
        </p:nvSpPr>
        <p:spPr>
          <a:xfrm>
            <a:off x="6442546" y="1501155"/>
            <a:ext cx="2210098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Critical Limitation</a:t>
            </a: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6442546" y="1824782"/>
            <a:ext cx="2210098" cy="1617390"/>
          </a:xfrm>
          <a:prstGeom prst="roundRect">
            <a:avLst>
              <a:gd name="adj" fmla="val 3221"/>
            </a:avLst>
          </a:prstGeom>
          <a:solidFill>
            <a:srgbClr val="4B3F02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520" y="1970038"/>
            <a:ext cx="155004" cy="12397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845498" y="1953369"/>
            <a:ext cx="1683172" cy="1360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2000"/>
              </a:lnSpc>
            </a:pPr>
            <a:r>
              <a:rPr lang="en-IN" sz="1400" dirty="0">
                <a:solidFill>
                  <a:schemeClr val="bg1"/>
                </a:solidFill>
              </a:rPr>
              <a:t>Retailers need integrated solutions that connect all these capabilities into one actionable pipeline.”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8"/>
          <p:cNvSpPr/>
          <p:nvPr/>
        </p:nvSpPr>
        <p:spPr>
          <a:xfrm>
            <a:off x="6442546" y="3564210"/>
            <a:ext cx="2210098" cy="105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Existing studies solve individual problems —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forecasting, explainability, anomaly detection, adaptation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in isolation. Retailers need integrated solutions that connect all these capabilities into one actionable pipeline.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755"/>
            <a:ext cx="815176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Gaps Identified from Literature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75407"/>
            <a:ext cx="8151763" cy="584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459" y="1072753"/>
            <a:ext cx="146149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67234" y="987103"/>
            <a:ext cx="756895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 vs. Action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67234" y="1185639"/>
            <a:ext cx="756895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Forecasting focuses on prediction accuracy rather than actionable inventory decisions </a:t>
            </a:r>
            <a:r>
              <a:rPr lang="en-US" sz="7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(Fildes et al., 2022)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27125"/>
            <a:ext cx="8151763" cy="5847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459" y="1724471"/>
            <a:ext cx="146149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67234" y="1638821"/>
            <a:ext cx="756895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Fragmented Context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67234" y="1837358"/>
            <a:ext cx="756895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Events, promotions, and weather are treated separately rather than integrated </a:t>
            </a:r>
            <a:r>
              <a:rPr lang="en-US" sz="7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(Rožanec &amp; Mladenić, 2021)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78844"/>
            <a:ext cx="8151763" cy="5847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7459" y="2376190"/>
            <a:ext cx="146149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967234" y="2290539"/>
            <a:ext cx="756895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Embedded Anomaly Detection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967234" y="2489076"/>
            <a:ext cx="756895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Anomaly detection is rarely embedded within forecasting pipelines </a:t>
            </a:r>
            <a:r>
              <a:rPr lang="en-US" sz="7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(Hu et al., 2025)</a:t>
            </a:r>
            <a:endParaRPr lang="en-US" sz="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30562"/>
            <a:ext cx="8151763" cy="5847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7459" y="3027908"/>
            <a:ext cx="146149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967234" y="2942258"/>
            <a:ext cx="756895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Black-Box Models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967234" y="3140794"/>
            <a:ext cx="756895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High-performing models lack explainability for business stakeholders </a:t>
            </a:r>
            <a:r>
              <a:rPr lang="en-US" sz="7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(Eglite &amp; Birzniece, 2022)</a:t>
            </a:r>
            <a:endParaRPr lang="en-US" sz="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482280"/>
            <a:ext cx="8151763" cy="5847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7459" y="3679627"/>
            <a:ext cx="146149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967234" y="3593976"/>
            <a:ext cx="756895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Drift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967234" y="3792513"/>
            <a:ext cx="756895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Models trained on historical data become outdated when customer behavior shifts </a:t>
            </a:r>
            <a:r>
              <a:rPr lang="en-US" sz="7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(Lei et al., 2026)</a:t>
            </a:r>
            <a:endParaRPr lang="en-US" sz="7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33999"/>
            <a:ext cx="8151763" cy="58474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7459" y="4331345"/>
            <a:ext cx="146149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967234" y="4245694"/>
            <a:ext cx="756895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Integrated Framework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967234" y="4444231"/>
            <a:ext cx="756895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1000"/>
              </a:lnSpc>
            </a:pPr>
            <a:r>
              <a:rPr lang="en-IN" sz="900" dirty="0">
                <a:solidFill>
                  <a:schemeClr val="bg1"/>
                </a:solidFill>
              </a:rPr>
              <a:t>Among the selected studies, these capabilities are not cohesively integrated into a single framework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675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Existing vs. Proposed Approach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193974"/>
            <a:ext cx="5381774" cy="3428851"/>
          </a:xfrm>
          <a:prstGeom prst="roundRect">
            <a:avLst>
              <a:gd name="adj" fmla="val 2977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335732"/>
            <a:ext cx="5098256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Traditional Forecasting Pipeline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682" y="1725513"/>
            <a:ext cx="2596455" cy="22417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28326" y="3353409"/>
            <a:ext cx="945961" cy="37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Prediction Result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016718" y="3353409"/>
            <a:ext cx="945961" cy="37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Historical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5781" y="4126781"/>
            <a:ext cx="5098256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Accuracy-focused. Retailers receive a number — with no explanation, no anomaly alert, and no inventory guidance.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24339" y="1521470"/>
            <a:ext cx="2628230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Our Integrated System Pipeline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39" y="1911251"/>
            <a:ext cx="2628230" cy="11333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01219" y="2828165"/>
            <a:ext cx="596243" cy="7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" b="1" kern="0" spc="-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Inventory Decision</a:t>
            </a:r>
            <a:endParaRPr lang="en-US" sz="450" dirty="0"/>
          </a:p>
        </p:txBody>
      </p:sp>
      <p:sp>
        <p:nvSpPr>
          <p:cNvPr id="12" name="Text 8"/>
          <p:cNvSpPr/>
          <p:nvPr/>
        </p:nvSpPr>
        <p:spPr>
          <a:xfrm>
            <a:off x="6201219" y="2565819"/>
            <a:ext cx="596243" cy="7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" b="1" kern="0" spc="-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 Anomalies</a:t>
            </a:r>
            <a:endParaRPr lang="en-US" sz="450" dirty="0"/>
          </a:p>
        </p:txBody>
      </p:sp>
      <p:sp>
        <p:nvSpPr>
          <p:cNvPr id="13" name="Text 9"/>
          <p:cNvSpPr/>
          <p:nvPr/>
        </p:nvSpPr>
        <p:spPr>
          <a:xfrm>
            <a:off x="6201219" y="2306122"/>
            <a:ext cx="596243" cy="7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" b="1" kern="0" spc="-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Explain</a:t>
            </a:r>
            <a:endParaRPr lang="en-US" sz="450" dirty="0"/>
          </a:p>
        </p:txBody>
      </p:sp>
      <p:sp>
        <p:nvSpPr>
          <p:cNvPr id="14" name="Text 10"/>
          <p:cNvSpPr/>
          <p:nvPr/>
        </p:nvSpPr>
        <p:spPr>
          <a:xfrm>
            <a:off x="6201219" y="2043775"/>
            <a:ext cx="596243" cy="7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" b="1" kern="0" spc="-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</a:t>
            </a:r>
            <a:endParaRPr lang="en-US" sz="450" dirty="0"/>
          </a:p>
        </p:txBody>
      </p:sp>
      <p:sp>
        <p:nvSpPr>
          <p:cNvPr id="15" name="Text 11"/>
          <p:cNvSpPr/>
          <p:nvPr/>
        </p:nvSpPr>
        <p:spPr>
          <a:xfrm>
            <a:off x="6024339" y="3204046"/>
            <a:ext cx="262823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this matters: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Retailers don't just need accurate predictions — they need to understand </a:t>
            </a:r>
            <a:r>
              <a:rPr lang="en-US" sz="11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demand changes, detect unusual patterns, make inventory decisions, and adapt when customer behavior shifts.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698"/>
            <a:ext cx="815176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NEW in Our Project?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496119" y="882253"/>
            <a:ext cx="899294" cy="144735"/>
          </a:xfrm>
          <a:prstGeom prst="roundRect">
            <a:avLst>
              <a:gd name="adj" fmla="val 22112"/>
            </a:avLst>
          </a:prstGeom>
          <a:solidFill>
            <a:srgbClr val="00194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69" y="916484"/>
            <a:ext cx="76200" cy="7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69" y="910828"/>
            <a:ext cx="1127894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INNOVATION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1052587"/>
            <a:ext cx="8151763" cy="854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550" b="1" kern="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 → EXPLAIN → DETECT → RECOMMEND → ADAPT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496119" y="2002854"/>
            <a:ext cx="4043883" cy="855985"/>
          </a:xfrm>
          <a:prstGeom prst="roundRect">
            <a:avLst>
              <a:gd name="adj" fmla="val 4674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0894" y="2107629"/>
            <a:ext cx="285750" cy="285750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475" y="2186211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0894" y="2457376"/>
            <a:ext cx="383433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Event-Aware Forecasting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00894" y="2650554"/>
            <a:ext cx="3834333" cy="10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Understands festivals, holidays, weekends, and special events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603998" y="2002854"/>
            <a:ext cx="4043883" cy="855985"/>
          </a:xfrm>
          <a:prstGeom prst="roundRect">
            <a:avLst>
              <a:gd name="adj" fmla="val 4674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8773" y="2107629"/>
            <a:ext cx="285750" cy="285750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7354" y="2186211"/>
            <a:ext cx="128588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8773" y="2457376"/>
            <a:ext cx="383433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Context-Aware Prediction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708773" y="2650554"/>
            <a:ext cx="3834333" cy="10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Integrates sales with weather, promotions, and seasonal patterns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96119" y="2922836"/>
            <a:ext cx="4043883" cy="855985"/>
          </a:xfrm>
          <a:prstGeom prst="roundRect">
            <a:avLst>
              <a:gd name="adj" fmla="val 4674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00894" y="3027611"/>
            <a:ext cx="285750" cy="285750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75" y="3106192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894" y="3377357"/>
            <a:ext cx="383433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Demand Anomaly Detection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00894" y="3570536"/>
            <a:ext cx="3834333" cy="10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unusual demand spikes or drops automatically via Isolation Forest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603998" y="2922836"/>
            <a:ext cx="4043883" cy="855985"/>
          </a:xfrm>
          <a:prstGeom prst="roundRect">
            <a:avLst>
              <a:gd name="adj" fmla="val 4674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08773" y="3027611"/>
            <a:ext cx="285750" cy="285750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7354" y="3106192"/>
            <a:ext cx="128588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08773" y="3377357"/>
            <a:ext cx="383433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Explainable AI (SHAP)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708773" y="3570536"/>
            <a:ext cx="3834333" cy="10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Explains the major factors contributing to each prediction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496119" y="3842817"/>
            <a:ext cx="4043883" cy="855985"/>
          </a:xfrm>
          <a:prstGeom prst="roundRect">
            <a:avLst>
              <a:gd name="adj" fmla="val 4674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00894" y="3947592"/>
            <a:ext cx="285750" cy="285750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75" y="4026173"/>
            <a:ext cx="128588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0894" y="4297338"/>
            <a:ext cx="383433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Dynamic Inventory Recommendation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00894" y="4490517"/>
            <a:ext cx="3834333" cy="10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Converts predictions into recommended stock levels via rule-based engine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4603998" y="3842817"/>
            <a:ext cx="4043883" cy="855985"/>
          </a:xfrm>
          <a:prstGeom prst="roundRect">
            <a:avLst>
              <a:gd name="adj" fmla="val 4674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708773" y="3947592"/>
            <a:ext cx="285750" cy="285750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87354" y="4026173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08773" y="4297338"/>
            <a:ext cx="383433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Self-Adaptive Model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708773" y="4490517"/>
            <a:ext cx="3834333" cy="10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Monitors errors periodically and retrains on recent data automatically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050"/>
            <a:ext cx="8151763" cy="367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kern="0" spc="-4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System Architecture &amp; Gap-to-Solution Mapping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03325"/>
            <a:ext cx="5202138" cy="22470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499" y="2557240"/>
            <a:ext cx="772415" cy="146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Preprocess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737499" y="2743564"/>
            <a:ext cx="772415" cy="3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 engineering and cleaning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20862" y="2410932"/>
            <a:ext cx="772415" cy="29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-1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 &amp; Explain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720862" y="2743564"/>
            <a:ext cx="772415" cy="3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Anomalies (IF) and SHAP explanations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48279" y="1206080"/>
            <a:ext cx="772415" cy="146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Sources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8279" y="1392404"/>
            <a:ext cx="772415" cy="3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Sales, weather, events, promotions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80617" y="1206080"/>
            <a:ext cx="772415" cy="29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Optimize &amp; Monitor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80617" y="1538712"/>
            <a:ext cx="772415" cy="3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Rules, recommendations, retrain trigger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741490" y="1206080"/>
            <a:ext cx="772415" cy="146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-1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41490" y="1392404"/>
            <a:ext cx="772415" cy="202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ML demand (XGBoost / LSTM)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96119" y="3351535"/>
            <a:ext cx="5202138" cy="482054"/>
          </a:xfrm>
          <a:prstGeom prst="roundRect">
            <a:avLst>
              <a:gd name="adj" fmla="val 9843"/>
            </a:avLst>
          </a:prstGeom>
          <a:solidFill>
            <a:srgbClr val="002A8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79" y="3475583"/>
            <a:ext cx="141163" cy="1129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3203" y="3460700"/>
            <a:ext cx="4722093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Feedback Loop:</a:t>
            </a: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Actual Sales → Prediction Error → Triggers Retraining → Improved Future Predictions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978649" y="1925762"/>
            <a:ext cx="2673921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→ Solution Mapping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148090" y="2291507"/>
            <a:ext cx="250448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proposed component is directly motivated by a gap identified in the reviewed literature — ensuring our system is grounded in evidence, not assumption.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978649" y="2210544"/>
            <a:ext cx="14288" cy="689372"/>
          </a:xfrm>
          <a:prstGeom prst="roundRect">
            <a:avLst>
              <a:gd name="adj" fmla="val 49998"/>
            </a:avLst>
          </a:prstGeom>
          <a:solidFill>
            <a:srgbClr val="6296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831" y="4021708"/>
            <a:ext cx="1967805" cy="4241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654" y="4035996"/>
            <a:ext cx="1811982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1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(Accuracy only) → </a:t>
            </a:r>
            <a:r>
              <a:rPr lang="en-US" sz="850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Rule-Based Inventory Engine</a:t>
            </a:r>
            <a:endParaRPr lang="en-US" sz="8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7863" y="4021708"/>
            <a:ext cx="1967880" cy="4241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03686" y="4035996"/>
            <a:ext cx="1812057" cy="39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2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(Fragmented context) → </a:t>
            </a:r>
            <a:r>
              <a:rPr lang="en-US" sz="850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 &amp; Context Feature Integration</a:t>
            </a:r>
            <a:endParaRPr lang="en-US" sz="8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3970" y="4021708"/>
            <a:ext cx="1967805" cy="4241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69793" y="4035996"/>
            <a:ext cx="1811982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3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(No anomaly detection) → </a:t>
            </a:r>
            <a:r>
              <a:rPr lang="en-US" sz="850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Isolation Forest Module</a:t>
            </a:r>
            <a:endParaRPr lang="en-US" sz="8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002" y="4021708"/>
            <a:ext cx="1967880" cy="4241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35825" y="4035996"/>
            <a:ext cx="1812057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4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(Black-box models) → </a:t>
            </a:r>
            <a:r>
              <a:rPr lang="en-US" sz="850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SHAP Explainability Layer</a:t>
            </a:r>
            <a:endParaRPr lang="en-US" sz="8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4597301"/>
            <a:ext cx="4033912" cy="16043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7654" y="4611588"/>
            <a:ext cx="387808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5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(Model drift) → </a:t>
            </a:r>
            <a:r>
              <a:rPr lang="en-US" sz="850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Periodic Error Monitoring &amp; Retraining</a:t>
            </a:r>
            <a:endParaRPr lang="en-US" sz="8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3970" y="4597301"/>
            <a:ext cx="4033912" cy="160437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769793" y="4611588"/>
            <a:ext cx="387808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Gap 6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(No unified framework) → </a:t>
            </a:r>
            <a:r>
              <a:rPr lang="en-US" sz="850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Integrated Pipeline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41364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                                        Thank you!!</a:t>
            </a: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1121</Words>
  <Application>Microsoft Office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Geist Bold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Hansika Thota</cp:lastModifiedBy>
  <cp:revision>3</cp:revision>
  <dcterms:created xsi:type="dcterms:W3CDTF">2026-08-18T14:42:31Z</dcterms:created>
  <dcterms:modified xsi:type="dcterms:W3CDTF">2026-08-18T16:09:43Z</dcterms:modified>
</cp:coreProperties>
</file>