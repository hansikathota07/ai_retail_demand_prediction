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2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and introduce the project: an AI-powered system that predicts product-level retail demand from historical transaction data. Mention your name, roll number, department, and guide. Set the tone: this is a working, implemented ML + web-app project, not just a proposal.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 simple terms what retail demand prediction is, and why it is useful for a business — knowing how much of a product to stock. Walk through the right-side panel: raw sales history is turned into training data, the model learns patterns, and then produces a future demand estimate.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business problem: demand changes constantly, manual estimation does not scale, and getting stock levels wrong is costly in both directions — overstocking and understocking. End on the motivating idea: a data-driven prediction system can support better planning decisions.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seven objectives quickly: from analyzing and cleaning raw data, to engineering features, training a Random Forest model, evaluating it with proper metrics, and finally exposing it through a Streamlit interface for demonstration.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traditional demand-planning methods: manual estimation, historical averages, and spreadsheet analysis. Be fair to them — they are not useless for small operations — but point out they don't scale well to large, fast-growing transaction datasets, which motivates an automated ML approach.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proposed pipeline top to bottom: raw retail data is cleaned, aggregated into daily demand, converted into features, fed into a Random Forest model, evaluated, used to predict demand, and finally served through a Streamlit web application. This replaces the manual process from the previous slide with an automated workflow.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dataset: the UCI Online Retail Dataset with 541,909 real transaction records. Point out the eight raw columns available — invoice, product code, description, quantity, date, price, customer and country — and explain that this transaction-level detail is what makes product-level daily demand reconstruction possible.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cleaning pipeline: starting from 541,909 raw records, remove rows with missing descriptions, cancelled invoices, negative quantities and non-positive prices, arriving at 530,104 valid transactions. Emphasize that this cleaning step is essential so the model learns from genuine sales, not data errors.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transformation from raw transactions (530,104 rows) into 275,668 product-day demand records, and then into 271,642 feature-engineered rows. Walk through the six input features — description, average price, previous demand, a 7-record rolling average, day of week, and month — which together predict the target variable, Demand.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full architecture end to end, left column to right column: the raw dataset is cleaned, aggregated and turned into features, split into train and test sets, fed into the Random Forest Regressor, evaluated, saved as a model file, used to generate predictions, and finally served through the Streamlit application.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Random Forest Regressor conceptually without heavy math: many decision trees are trained on the data, each one makes its own prediction, and the forest combines them — by averaging — into one final demand prediction. Emphasize that this is well suited to a numeric target like demand.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split: the most recent 100,000 feature records were used, split 80/20 into 80,000 training and 20,000 testing records. Emphasize the chronological ordering — this simulates the real-world scenario of predicting future demand using only past data, avoiding information leakage from the future.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two evaluation metrics: MAE of 17.27 units and RMSE of 55.47 units. Explain each in plain terms — MAE is the average sized error, RMSE penalizes larger errors more heavily. Do not translate these into an accuracy percentage; report them as they are.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actual_vs_predicted.png graph generated by plot_results.py here — replace the placeholder box with the real image before presenting. Explain that it visually compares actual and predicted demand values, and that some spread between them is expected, consistent with the MAE and RMSE reported earlier.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concrete example: for the product JUMBO BAG RED RETROSPOT, the model receives its latest price, previous demand, and 7-record rolling average as input features, and outputs a predicted demand of 182.92 units. Make clear this is the model's estimate based on historical patterns, not a guarantee.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Streamlit application, built to make the trained model easy to demonstrate. Replace the mockup on the left with an actual screenshot of app.py before presenting. Walk through the capabilities: product selection, live product stats, a historical demand trend chart, and a Predict Demand button that returns an instant result. Mention the technology stack.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concrete outputs of the project: the full data pipeline numbers from 541,909 raw records down to 271,642 feature-engineered records, the 100,000/20,000 model split, and the MAE/RMSE results. Confirm that every component — prediction script, evaluation script, visualization, and the Streamlit app — is implemented and working.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balanced, honest assessment. Advantages: real data, automation, ML-based prediction, and an easy-to-demonstrate interface. Limitations: the dataset is historical rather than a live feed, so predictions should be presented as a demonstration of the trained model rather than a guarantee of real-world future demand.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realistic next steps: connecting to live POS data, factoring in inventory levels, promotions and seasonality, exploring more advanced time-series models, forecasting multiple days ahead, deploying online, and adding automated retraining as new data comes 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full journey of the project: cleaning historical data, engineering features, training a Random Forest model, evaluating it honestly with MAE and RMSE, generating predictions, and building a Streamlit demo. Thank the panel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038"/>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669280" cy="5669280"/>
          </a:xfrm>
          <a:prstGeom prst="ellipse">
            <a:avLst/>
          </a:prstGeom>
          <a:solidFill>
            <a:srgbClr val="12395B">
              <a:alpha val="60000"/>
            </a:srgbClr>
          </a:solidFill>
        </p:spPr>
      </p:sp>
      <p:sp>
        <p:nvSpPr>
          <p:cNvPr id="3" name="Shape 1"/>
          <p:cNvSpPr/>
          <p:nvPr/>
        </p:nvSpPr>
        <p:spPr>
          <a:xfrm>
            <a:off x="9692640" y="-548640"/>
            <a:ext cx="3840480" cy="3840480"/>
          </a:xfrm>
          <a:prstGeom prst="ellipse">
            <a:avLst/>
          </a:prstGeom>
          <a:solidFill>
            <a:srgbClr val="1F7A8C">
              <a:alpha val="45000"/>
            </a:srgbClr>
          </a:solidFill>
        </p:spPr>
      </p:sp>
      <p:sp>
        <p:nvSpPr>
          <p:cNvPr id="4" name="Shape 2"/>
          <p:cNvSpPr/>
          <p:nvPr/>
        </p:nvSpPr>
        <p:spPr>
          <a:xfrm>
            <a:off x="-2011680" y="4206240"/>
            <a:ext cx="4206240" cy="4206240"/>
          </a:xfrm>
          <a:prstGeom prst="ellipse">
            <a:avLst/>
          </a:prstGeom>
          <a:solidFill>
            <a:srgbClr val="1F7A8C">
              <a:alpha val="40000"/>
            </a:srgbClr>
          </a:solidFill>
        </p:spPr>
      </p:sp>
      <p:sp>
        <p:nvSpPr>
          <p:cNvPr id="5" name="Text 3"/>
          <p:cNvSpPr/>
          <p:nvPr/>
        </p:nvSpPr>
        <p:spPr>
          <a:xfrm>
            <a:off x="822960" y="1417320"/>
            <a:ext cx="9144000" cy="320040"/>
          </a:xfrm>
          <a:prstGeom prst="rect">
            <a:avLst/>
          </a:prstGeom>
          <a:noFill/>
        </p:spPr>
        <p:txBody>
          <a:bodyPr wrap="square" rtlCol="0" anchor="ctr"/>
          <a:lstStyle/>
          <a:p>
            <a:pPr marL="0" indent="0">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B.TECH · COMPUTER SCIENCE &amp; ENGINEERING</a:t>
            </a:r>
            <a:endParaRPr lang="en-US" sz="1300" dirty="0"/>
          </a:p>
        </p:txBody>
      </p:sp>
      <p:sp>
        <p:nvSpPr>
          <p:cNvPr id="6" name="Text 4"/>
          <p:cNvSpPr/>
          <p:nvPr/>
        </p:nvSpPr>
        <p:spPr>
          <a:xfrm>
            <a:off x="822960" y="1874520"/>
            <a:ext cx="9875520" cy="1737360"/>
          </a:xfrm>
          <a:prstGeom prst="rect">
            <a:avLst/>
          </a:prstGeom>
          <a:noFill/>
        </p:spPr>
        <p:txBody>
          <a:bodyPr wrap="square" rtlCol="0" anchor="t"/>
          <a:lstStyle/>
          <a:p>
            <a:pPr marL="0" indent="0" algn="l">
              <a:lnSpc>
                <a:spcPts val="4800"/>
              </a:lnSpc>
              <a:buNone/>
            </a:pPr>
            <a:r>
              <a:rPr lang="en-US" sz="4400" b="1" dirty="0">
                <a:solidFill>
                  <a:srgbClr val="FFFFFF"/>
                </a:solidFill>
                <a:latin typeface="Cambria" panose="02040503050406030204" pitchFamily="34" charset="0"/>
                <a:ea typeface="Cambria" panose="02040503050406030204" pitchFamily="34" charset="-122"/>
                <a:cs typeface="Cambria" panose="02040503050406030204" pitchFamily="34" charset="-120"/>
              </a:rPr>
              <a:t>AI-Powered Retail Demand Prediction System</a:t>
            </a:r>
            <a:endParaRPr lang="en-US" sz="4400" dirty="0"/>
          </a:p>
        </p:txBody>
      </p:sp>
      <p:sp>
        <p:nvSpPr>
          <p:cNvPr id="7" name="Text 5"/>
          <p:cNvSpPr/>
          <p:nvPr/>
        </p:nvSpPr>
        <p:spPr>
          <a:xfrm>
            <a:off x="822960" y="3611880"/>
            <a:ext cx="7863840" cy="685800"/>
          </a:xfrm>
          <a:prstGeom prst="rect">
            <a:avLst/>
          </a:prstGeom>
          <a:noFill/>
        </p:spPr>
        <p:txBody>
          <a:bodyPr wrap="square" rtlCol="0" anchor="ctr"/>
          <a:lstStyle/>
          <a:p>
            <a:pPr marL="0" indent="0" algn="l">
              <a:buNone/>
            </a:pPr>
            <a:r>
              <a:rPr lang="en-US" sz="1400" i="1" dirty="0">
                <a:solidFill>
                  <a:srgbClr val="C8D6E5"/>
                </a:solidFill>
                <a:latin typeface="Calibri" panose="020F0502020204030204" pitchFamily="34" charset="0"/>
                <a:ea typeface="Calibri" panose="020F0502020204030204" pitchFamily="34" charset="-122"/>
                <a:cs typeface="Calibri" panose="020F0502020204030204" pitchFamily="34" charset="-120"/>
              </a:rPr>
              <a:t>Forecasting product-level retail demand from historical transaction data using a Random Forest regression model, with an interactive Streamlit interface.</a:t>
            </a:r>
            <a:endParaRPr lang="en-US" sz="1400" dirty="0"/>
          </a:p>
        </p:txBody>
      </p:sp>
      <p:sp>
        <p:nvSpPr>
          <p:cNvPr id="8" name="Shape 6"/>
          <p:cNvSpPr/>
          <p:nvPr/>
        </p:nvSpPr>
        <p:spPr>
          <a:xfrm>
            <a:off x="914400" y="4699635"/>
            <a:ext cx="7955280" cy="1417320"/>
          </a:xfrm>
          <a:prstGeom prst="roundRect">
            <a:avLst>
              <a:gd name="adj" fmla="val 6452"/>
            </a:avLst>
          </a:prstGeom>
          <a:solidFill>
            <a:srgbClr val="0F2C4C"/>
          </a:solidFill>
          <a:ln w="12700">
            <a:solidFill>
              <a:srgbClr val="234A70"/>
            </a:solidFill>
            <a:prstDash val="solid"/>
          </a:ln>
        </p:spPr>
        <p:txBody>
          <a:bodyPr/>
          <a:lstStyle/>
          <a:p>
            <a:r>
              <a:rPr lang="en-US" dirty="0">
                <a:solidFill>
                  <a:schemeClr val="bg1"/>
                </a:solidFill>
              </a:rPr>
              <a:t>2510030325 -  </a:t>
            </a:r>
            <a:r>
              <a:rPr lang="en-US" dirty="0" err="1">
                <a:solidFill>
                  <a:schemeClr val="bg1"/>
                </a:solidFill>
              </a:rPr>
              <a:t>B.Siri</a:t>
            </a:r>
            <a:r>
              <a:rPr lang="en-US" dirty="0">
                <a:solidFill>
                  <a:schemeClr val="bg1"/>
                </a:solidFill>
              </a:rPr>
              <a:t> </a:t>
            </a:r>
          </a:p>
          <a:p>
            <a:r>
              <a:rPr lang="en-US" dirty="0">
                <a:solidFill>
                  <a:schemeClr val="bg1"/>
                </a:solidFill>
              </a:rPr>
              <a:t>2510030330 - Hansika</a:t>
            </a:r>
          </a:p>
          <a:p>
            <a:r>
              <a:rPr lang="en-US" dirty="0">
                <a:solidFill>
                  <a:schemeClr val="bg1"/>
                </a:solidFill>
              </a:rPr>
              <a:t>2510030343- Mounika</a:t>
            </a:r>
          </a:p>
          <a:p>
            <a:r>
              <a:rPr lang="en-US" dirty="0">
                <a:solidFill>
                  <a:schemeClr val="bg1"/>
                </a:solidFill>
              </a:rPr>
              <a:t>2510030195 - Sindhuja</a:t>
            </a:r>
          </a:p>
        </p:txBody>
      </p:sp>
      <p:sp>
        <p:nvSpPr>
          <p:cNvPr id="9" name="Text 7"/>
          <p:cNvSpPr/>
          <p:nvPr/>
        </p:nvSpPr>
        <p:spPr>
          <a:xfrm>
            <a:off x="1051560" y="4754880"/>
            <a:ext cx="2194560" cy="237744"/>
          </a:xfrm>
          <a:prstGeom prst="rect">
            <a:avLst/>
          </a:prstGeom>
          <a:noFill/>
        </p:spPr>
        <p:txBody>
          <a:bodyPr wrap="square" rtlCol="0" anchor="ctr"/>
          <a:lstStyle/>
          <a:p>
            <a:pPr marL="0" indent="0">
              <a:buNone/>
            </a:pPr>
            <a:endParaRPr lang="en-US" sz="1100" dirty="0"/>
          </a:p>
        </p:txBody>
      </p:sp>
      <p:sp>
        <p:nvSpPr>
          <p:cNvPr id="10" name="Text 8"/>
          <p:cNvSpPr/>
          <p:nvPr/>
        </p:nvSpPr>
        <p:spPr>
          <a:xfrm>
            <a:off x="3291840" y="4754880"/>
            <a:ext cx="5212080" cy="237744"/>
          </a:xfrm>
          <a:prstGeom prst="rect">
            <a:avLst/>
          </a:prstGeom>
          <a:noFill/>
        </p:spPr>
        <p:txBody>
          <a:bodyPr wrap="square" rtlCol="0" anchor="ctr"/>
          <a:lstStyle/>
          <a:p>
            <a:pPr marL="0" indent="0">
              <a:buNone/>
            </a:pPr>
            <a:endParaRPr lang="en-US" sz="1200" dirty="0"/>
          </a:p>
        </p:txBody>
      </p:sp>
      <p:sp>
        <p:nvSpPr>
          <p:cNvPr id="11" name="Text 9"/>
          <p:cNvSpPr/>
          <p:nvPr/>
        </p:nvSpPr>
        <p:spPr>
          <a:xfrm>
            <a:off x="1051560" y="4992624"/>
            <a:ext cx="2194560" cy="237744"/>
          </a:xfrm>
          <a:prstGeom prst="rect">
            <a:avLst/>
          </a:prstGeom>
          <a:noFill/>
        </p:spPr>
        <p:txBody>
          <a:bodyPr wrap="square" rtlCol="0" anchor="ctr"/>
          <a:lstStyle/>
          <a:p>
            <a:pPr marL="0" indent="0">
              <a:buNone/>
            </a:pPr>
            <a:endParaRPr lang="en-US" sz="1100" dirty="0"/>
          </a:p>
        </p:txBody>
      </p:sp>
      <p:sp>
        <p:nvSpPr>
          <p:cNvPr id="12" name="Text 10"/>
          <p:cNvSpPr/>
          <p:nvPr/>
        </p:nvSpPr>
        <p:spPr>
          <a:xfrm>
            <a:off x="3291840" y="4992624"/>
            <a:ext cx="5212080" cy="237744"/>
          </a:xfrm>
          <a:prstGeom prst="rect">
            <a:avLst/>
          </a:prstGeom>
          <a:noFill/>
        </p:spPr>
        <p:txBody>
          <a:bodyPr wrap="square" rtlCol="0" anchor="ctr"/>
          <a:lstStyle/>
          <a:p>
            <a:pPr marL="0" indent="0">
              <a:buNone/>
            </a:pPr>
            <a:endParaRPr lang="en-US" sz="1200" dirty="0"/>
          </a:p>
        </p:txBody>
      </p:sp>
      <p:sp>
        <p:nvSpPr>
          <p:cNvPr id="13" name="Text 11"/>
          <p:cNvSpPr/>
          <p:nvPr/>
        </p:nvSpPr>
        <p:spPr>
          <a:xfrm>
            <a:off x="914400" y="5230495"/>
            <a:ext cx="3439795" cy="637540"/>
          </a:xfrm>
          <a:prstGeom prst="rect">
            <a:avLst/>
          </a:prstGeom>
          <a:noFill/>
        </p:spPr>
        <p:txBody>
          <a:bodyPr wrap="square" rtlCol="0" anchor="ctr"/>
          <a:lstStyle/>
          <a:p>
            <a:pPr marL="0" indent="0">
              <a:buNone/>
            </a:pPr>
            <a:endParaRPr lang="en-US" sz="1100" dirty="0"/>
          </a:p>
        </p:txBody>
      </p:sp>
      <p:sp>
        <p:nvSpPr>
          <p:cNvPr id="14" name="Text 12"/>
          <p:cNvSpPr/>
          <p:nvPr/>
        </p:nvSpPr>
        <p:spPr>
          <a:xfrm>
            <a:off x="3291840" y="5230368"/>
            <a:ext cx="5212080" cy="237744"/>
          </a:xfrm>
          <a:prstGeom prst="rect">
            <a:avLst/>
          </a:prstGeom>
          <a:noFill/>
        </p:spPr>
        <p:txBody>
          <a:bodyPr wrap="square" rtlCol="0" anchor="ctr"/>
          <a:lstStyle/>
          <a:p>
            <a:pPr marL="0" indent="0">
              <a:buNone/>
            </a:pPr>
            <a:endParaRPr lang="en-US" sz="1200" dirty="0"/>
          </a:p>
        </p:txBody>
      </p:sp>
      <p:sp>
        <p:nvSpPr>
          <p:cNvPr id="15" name="Text 13"/>
          <p:cNvSpPr/>
          <p:nvPr/>
        </p:nvSpPr>
        <p:spPr>
          <a:xfrm>
            <a:off x="1032510" y="4864735"/>
            <a:ext cx="6172200" cy="1188720"/>
          </a:xfrm>
          <a:prstGeom prst="rect">
            <a:avLst/>
          </a:prstGeom>
          <a:noFill/>
        </p:spPr>
        <p:txBody>
          <a:bodyPr wrap="square" rtlCol="0" anchor="ctr"/>
          <a:lstStyle/>
          <a:p>
            <a:pPr marL="0" indent="0">
              <a:buNone/>
            </a:pPr>
            <a:endParaRPr lang="en-US" sz="1100" dirty="0"/>
          </a:p>
        </p:txBody>
      </p:sp>
      <p:sp>
        <p:nvSpPr>
          <p:cNvPr id="16" name="Text 14"/>
          <p:cNvSpPr/>
          <p:nvPr/>
        </p:nvSpPr>
        <p:spPr>
          <a:xfrm>
            <a:off x="3291840" y="5468112"/>
            <a:ext cx="5212080" cy="237744"/>
          </a:xfrm>
          <a:prstGeom prst="rect">
            <a:avLst/>
          </a:prstGeom>
          <a:noFill/>
        </p:spPr>
        <p:txBody>
          <a:bodyPr wrap="square" rtlCol="0" anchor="ctr"/>
          <a:lstStyle/>
          <a:p>
            <a:pPr marL="0" indent="0">
              <a:buNone/>
            </a:pPr>
            <a:endParaRPr lang="en-US" sz="1200" dirty="0"/>
          </a:p>
        </p:txBody>
      </p:sp>
      <p:sp>
        <p:nvSpPr>
          <p:cNvPr id="17" name="Text 15"/>
          <p:cNvSpPr/>
          <p:nvPr/>
        </p:nvSpPr>
        <p:spPr>
          <a:xfrm>
            <a:off x="1032510" y="4635500"/>
            <a:ext cx="6152515" cy="1417955"/>
          </a:xfrm>
          <a:prstGeom prst="rect">
            <a:avLst/>
          </a:prstGeom>
          <a:noFill/>
        </p:spPr>
        <p:txBody>
          <a:bodyPr wrap="square" rtlCol="0" anchor="ctr"/>
          <a:lstStyle/>
          <a:p>
            <a:pPr marL="0" indent="0">
              <a:buNone/>
            </a:pPr>
            <a:endParaRPr lang="en-US" sz="1100" dirty="0"/>
          </a:p>
        </p:txBody>
      </p:sp>
      <p:sp>
        <p:nvSpPr>
          <p:cNvPr id="18" name="Text 16"/>
          <p:cNvSpPr/>
          <p:nvPr/>
        </p:nvSpPr>
        <p:spPr>
          <a:xfrm>
            <a:off x="3291840" y="5705856"/>
            <a:ext cx="5212080" cy="237744"/>
          </a:xfrm>
          <a:prstGeom prst="rect">
            <a:avLst/>
          </a:prstGeom>
          <a:noFill/>
        </p:spPr>
        <p:txBody>
          <a:bodyPr wrap="square" rtlCol="0" anchor="ctr"/>
          <a:lstStyle/>
          <a:p>
            <a:pPr marL="0" indent="0">
              <a:buNone/>
            </a:pPr>
            <a:endParaRPr lang="en-US" sz="1200" dirty="0"/>
          </a:p>
        </p:txBody>
      </p:sp>
      <p:sp>
        <p:nvSpPr>
          <p:cNvPr id="19" name="Text 17"/>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20" name="Text 18"/>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01 / 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INTRODUCTION</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Understanding Retail Demand Prediction</a:t>
            </a:r>
            <a:endParaRPr lang="en-US" sz="3000" dirty="0"/>
          </a:p>
        </p:txBody>
      </p:sp>
      <p:sp>
        <p:nvSpPr>
          <p:cNvPr id="4" name="Text 2"/>
          <p:cNvSpPr/>
          <p:nvPr/>
        </p:nvSpPr>
        <p:spPr>
          <a:xfrm>
            <a:off x="548640" y="1600200"/>
            <a:ext cx="6126480" cy="4206240"/>
          </a:xfrm>
          <a:prstGeom prst="rect">
            <a:avLst/>
          </a:prstGeom>
          <a:noFill/>
        </p:spPr>
        <p:txBody>
          <a:bodyPr wrap="square" rtlCol="0" anchor="t"/>
          <a:lstStyle/>
          <a:p>
            <a:pPr marL="0" indent="0">
              <a:lnSpc>
                <a:spcPts val="2100"/>
              </a:lnSpc>
              <a:spcAft>
                <a:spcPts val="1400"/>
              </a:spcAft>
              <a:buNone/>
            </a:pPr>
            <a:r>
              <a:rPr lang="en-US" sz="1450" dirty="0">
                <a:solidFill>
                  <a:srgbClr val="1A2432"/>
                </a:solidFill>
                <a:latin typeface="Calibri" panose="020F0502020204030204" pitchFamily="34" charset="0"/>
                <a:ea typeface="Calibri" panose="020F0502020204030204" pitchFamily="34" charset="-122"/>
                <a:cs typeface="Calibri" panose="020F0502020204030204" pitchFamily="34" charset="-120"/>
              </a:rPr>
              <a:t>Retail demand prediction means estimating how many units of a product customers are likely to buy in the near future.</a:t>
            </a:r>
            <a:endParaRPr lang="en-US" sz="1450" dirty="0"/>
          </a:p>
          <a:p>
            <a:pPr marL="0" indent="0">
              <a:lnSpc>
                <a:spcPts val="2100"/>
              </a:lnSpc>
              <a:spcAft>
                <a:spcPts val="1400"/>
              </a:spcAft>
              <a:buNone/>
            </a:pPr>
            <a:r>
              <a:rPr lang="en-US" sz="1450" dirty="0">
                <a:solidFill>
                  <a:srgbClr val="1A2432"/>
                </a:solidFill>
                <a:latin typeface="Calibri" panose="020F0502020204030204" pitchFamily="34" charset="0"/>
                <a:ea typeface="Calibri" panose="020F0502020204030204" pitchFamily="34" charset="-122"/>
                <a:cs typeface="Calibri" panose="020F0502020204030204" pitchFamily="34" charset="-120"/>
              </a:rPr>
              <a:t>Retailers historically record every sale — product, quantity, price, and date — creating a rich trail of transaction data.</a:t>
            </a:r>
            <a:endParaRPr lang="en-US" sz="1450" dirty="0"/>
          </a:p>
          <a:p>
            <a:pPr marL="0" indent="0">
              <a:lnSpc>
                <a:spcPts val="2100"/>
              </a:lnSpc>
              <a:spcAft>
                <a:spcPts val="1400"/>
              </a:spcAft>
              <a:buNone/>
            </a:pPr>
            <a:r>
              <a:rPr lang="en-US" sz="1450" dirty="0">
                <a:solidFill>
                  <a:srgbClr val="1A2432"/>
                </a:solidFill>
                <a:latin typeface="Calibri" panose="020F0502020204030204" pitchFamily="34" charset="0"/>
                <a:ea typeface="Calibri" panose="020F0502020204030204" pitchFamily="34" charset="-122"/>
                <a:cs typeface="Calibri" panose="020F0502020204030204" pitchFamily="34" charset="-120"/>
              </a:rPr>
              <a:t>This historical data holds patterns: which products sell more, on which days, and at what price points.</a:t>
            </a:r>
            <a:endParaRPr lang="en-US" sz="1450" dirty="0"/>
          </a:p>
          <a:p>
            <a:pPr marL="0" indent="0">
              <a:lnSpc>
                <a:spcPts val="2100"/>
              </a:lnSpc>
              <a:spcAft>
                <a:spcPts val="1400"/>
              </a:spcAft>
              <a:buNone/>
            </a:pPr>
            <a:r>
              <a:rPr lang="en-US" sz="1450" dirty="0">
                <a:solidFill>
                  <a:srgbClr val="1A2432"/>
                </a:solidFill>
                <a:latin typeface="Calibri" panose="020F0502020204030204" pitchFamily="34" charset="0"/>
                <a:ea typeface="Calibri" panose="020F0502020204030204" pitchFamily="34" charset="-122"/>
                <a:cs typeface="Calibri" panose="020F0502020204030204" pitchFamily="34" charset="-120"/>
              </a:rPr>
              <a:t>Machine learning can learn these patterns automatically and use them to predict future demand for a product.</a:t>
            </a:r>
            <a:endParaRPr lang="en-US" sz="1450" dirty="0"/>
          </a:p>
        </p:txBody>
      </p:sp>
      <p:sp>
        <p:nvSpPr>
          <p:cNvPr id="5" name="Shape 3"/>
          <p:cNvSpPr/>
          <p:nvPr/>
        </p:nvSpPr>
        <p:spPr>
          <a:xfrm>
            <a:off x="7040880" y="1645920"/>
            <a:ext cx="4572000" cy="4206240"/>
          </a:xfrm>
          <a:prstGeom prst="roundRect">
            <a:avLst>
              <a:gd name="adj" fmla="val 2609"/>
            </a:avLst>
          </a:prstGeom>
          <a:solidFill>
            <a:srgbClr val="12395B"/>
          </a:solidFill>
        </p:spPr>
      </p:sp>
      <p:sp>
        <p:nvSpPr>
          <p:cNvPr id="6" name="Text 4"/>
          <p:cNvSpPr/>
          <p:nvPr/>
        </p:nvSpPr>
        <p:spPr>
          <a:xfrm>
            <a:off x="7360920" y="1874520"/>
            <a:ext cx="3931920" cy="274320"/>
          </a:xfrm>
          <a:prstGeom prst="rect">
            <a:avLst/>
          </a:prstGeom>
          <a:noFill/>
        </p:spPr>
        <p:txBody>
          <a:bodyPr wrap="square" rtlCol="0" anchor="ctr"/>
          <a:lstStyle/>
          <a:p>
            <a:pPr marL="0" indent="0">
              <a:buNone/>
            </a:pPr>
            <a:r>
              <a:rPr lang="en-US" sz="1100" b="1" kern="0" spc="150" dirty="0">
                <a:solidFill>
                  <a:srgbClr val="E0982E"/>
                </a:solidFill>
                <a:latin typeface="Calibri" panose="020F0502020204030204" pitchFamily="34" charset="0"/>
                <a:ea typeface="Calibri" panose="020F0502020204030204" pitchFamily="34" charset="-122"/>
                <a:cs typeface="Calibri" panose="020F0502020204030204" pitchFamily="34" charset="-120"/>
              </a:rPr>
              <a:t>WHY IT MATTERS</a:t>
            </a:r>
            <a:endParaRPr lang="en-US" sz="1100" dirty="0"/>
          </a:p>
        </p:txBody>
      </p:sp>
      <p:sp>
        <p:nvSpPr>
          <p:cNvPr id="7" name="Text 5"/>
          <p:cNvSpPr/>
          <p:nvPr/>
        </p:nvSpPr>
        <p:spPr>
          <a:xfrm>
            <a:off x="7360920" y="2331720"/>
            <a:ext cx="502920" cy="502920"/>
          </a:xfrm>
          <a:prstGeom prst="ellipse">
            <a:avLst/>
          </a:prstGeom>
          <a:solidFill>
            <a:srgbClr val="E0982E"/>
          </a:solidFill>
        </p:spPr>
        <p:txBody>
          <a:bodyPr wrap="square" lIns="0" tIns="0" rIns="0" bIns="0" rtlCol="0" anchor="ctr"/>
          <a:lstStyle/>
          <a:p>
            <a:pPr marL="0" indent="0" algn="ctr">
              <a:buNone/>
            </a:pPr>
            <a:r>
              <a:rPr lang="en-US" sz="1600" b="1" dirty="0">
                <a:solidFill>
                  <a:srgbClr val="0A2038"/>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8" name="Text 6"/>
          <p:cNvSpPr/>
          <p:nvPr/>
        </p:nvSpPr>
        <p:spPr>
          <a:xfrm>
            <a:off x="8001000" y="2313432"/>
            <a:ext cx="3291840" cy="292608"/>
          </a:xfrm>
          <a:prstGeom prst="rect">
            <a:avLst/>
          </a:prstGeom>
          <a:noFill/>
        </p:spPr>
        <p:txBody>
          <a:bodyPr wrap="square" rtlCol="0" anchor="ctr"/>
          <a:lstStyle/>
          <a:p>
            <a:pPr marL="0" indent="0">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Sales History</a:t>
            </a:r>
            <a:endParaRPr lang="en-US" sz="1500" dirty="0"/>
          </a:p>
        </p:txBody>
      </p:sp>
      <p:sp>
        <p:nvSpPr>
          <p:cNvPr id="9" name="Text 7"/>
          <p:cNvSpPr/>
          <p:nvPr/>
        </p:nvSpPr>
        <p:spPr>
          <a:xfrm>
            <a:off x="8001000" y="2587752"/>
            <a:ext cx="3291840" cy="502920"/>
          </a:xfrm>
          <a:prstGeom prst="rect">
            <a:avLst/>
          </a:prstGeom>
          <a:noFill/>
        </p:spPr>
        <p:txBody>
          <a:bodyPr wrap="square" rtlCol="0" anchor="ctr"/>
          <a:lstStyle/>
          <a:p>
            <a:pPr marL="0" indent="0">
              <a:lnSpc>
                <a:spcPts val="1400"/>
              </a:lnSpc>
              <a:buNone/>
            </a:pPr>
            <a:r>
              <a:rPr lang="en-US" sz="1150" dirty="0">
                <a:solidFill>
                  <a:srgbClr val="C8D6E5"/>
                </a:solidFill>
                <a:latin typeface="Calibri" panose="020F0502020204030204" pitchFamily="34" charset="0"/>
                <a:ea typeface="Calibri" panose="020F0502020204030204" pitchFamily="34" charset="-122"/>
                <a:cs typeface="Calibri" panose="020F0502020204030204" pitchFamily="34" charset="-120"/>
              </a:rPr>
              <a:t>Past invoices become structured training data</a:t>
            </a:r>
            <a:endParaRPr lang="en-US" sz="1150" dirty="0"/>
          </a:p>
        </p:txBody>
      </p:sp>
      <p:sp>
        <p:nvSpPr>
          <p:cNvPr id="10" name="Shape 8"/>
          <p:cNvSpPr/>
          <p:nvPr/>
        </p:nvSpPr>
        <p:spPr>
          <a:xfrm>
            <a:off x="7543800" y="3200400"/>
            <a:ext cx="237744" cy="201168"/>
          </a:xfrm>
          <a:prstGeom prst="downArrow">
            <a:avLst/>
          </a:prstGeom>
          <a:solidFill>
            <a:srgbClr val="E0982E"/>
          </a:solidFill>
        </p:spPr>
      </p:sp>
      <p:sp>
        <p:nvSpPr>
          <p:cNvPr id="11" name="Text 9"/>
          <p:cNvSpPr/>
          <p:nvPr/>
        </p:nvSpPr>
        <p:spPr>
          <a:xfrm>
            <a:off x="7360920" y="3502152"/>
            <a:ext cx="502920" cy="502920"/>
          </a:xfrm>
          <a:prstGeom prst="ellipse">
            <a:avLst/>
          </a:prstGeom>
          <a:solidFill>
            <a:srgbClr val="E0982E"/>
          </a:solidFill>
        </p:spPr>
        <p:txBody>
          <a:bodyPr wrap="square" lIns="0" tIns="0" rIns="0" bIns="0" rtlCol="0" anchor="ctr"/>
          <a:lstStyle/>
          <a:p>
            <a:pPr marL="0" indent="0" algn="ctr">
              <a:buNone/>
            </a:pPr>
            <a:r>
              <a:rPr lang="en-US" sz="1600" b="1" dirty="0">
                <a:solidFill>
                  <a:srgbClr val="0A2038"/>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2" name="Text 10"/>
          <p:cNvSpPr/>
          <p:nvPr/>
        </p:nvSpPr>
        <p:spPr>
          <a:xfrm>
            <a:off x="8001000" y="3483864"/>
            <a:ext cx="3291840" cy="292608"/>
          </a:xfrm>
          <a:prstGeom prst="rect">
            <a:avLst/>
          </a:prstGeom>
          <a:noFill/>
        </p:spPr>
        <p:txBody>
          <a:bodyPr wrap="square" rtlCol="0" anchor="ctr"/>
          <a:lstStyle/>
          <a:p>
            <a:pPr marL="0" indent="0">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Pattern Learning</a:t>
            </a:r>
            <a:endParaRPr lang="en-US" sz="1500" dirty="0"/>
          </a:p>
        </p:txBody>
      </p:sp>
      <p:sp>
        <p:nvSpPr>
          <p:cNvPr id="13" name="Text 11"/>
          <p:cNvSpPr/>
          <p:nvPr/>
        </p:nvSpPr>
        <p:spPr>
          <a:xfrm>
            <a:off x="8001000" y="3758184"/>
            <a:ext cx="3291840" cy="502920"/>
          </a:xfrm>
          <a:prstGeom prst="rect">
            <a:avLst/>
          </a:prstGeom>
          <a:noFill/>
        </p:spPr>
        <p:txBody>
          <a:bodyPr wrap="square" rtlCol="0" anchor="ctr"/>
          <a:lstStyle/>
          <a:p>
            <a:pPr marL="0" indent="0">
              <a:lnSpc>
                <a:spcPts val="1400"/>
              </a:lnSpc>
              <a:buNone/>
            </a:pPr>
            <a:r>
              <a:rPr lang="en-US" sz="1150" dirty="0">
                <a:solidFill>
                  <a:srgbClr val="C8D6E5"/>
                </a:solidFill>
                <a:latin typeface="Calibri" panose="020F0502020204030204" pitchFamily="34" charset="0"/>
                <a:ea typeface="Calibri" panose="020F0502020204030204" pitchFamily="34" charset="-122"/>
                <a:cs typeface="Calibri" panose="020F0502020204030204" pitchFamily="34" charset="-120"/>
              </a:rPr>
              <a:t>ML model links price, time &amp; trend to demand</a:t>
            </a:r>
            <a:endParaRPr lang="en-US" sz="1150" dirty="0"/>
          </a:p>
        </p:txBody>
      </p:sp>
      <p:sp>
        <p:nvSpPr>
          <p:cNvPr id="14" name="Shape 12"/>
          <p:cNvSpPr/>
          <p:nvPr/>
        </p:nvSpPr>
        <p:spPr>
          <a:xfrm>
            <a:off x="7543800" y="4370832"/>
            <a:ext cx="237744" cy="201168"/>
          </a:xfrm>
          <a:prstGeom prst="downArrow">
            <a:avLst/>
          </a:prstGeom>
          <a:solidFill>
            <a:srgbClr val="E0982E"/>
          </a:solidFill>
        </p:spPr>
      </p:sp>
      <p:sp>
        <p:nvSpPr>
          <p:cNvPr id="15" name="Text 13"/>
          <p:cNvSpPr/>
          <p:nvPr/>
        </p:nvSpPr>
        <p:spPr>
          <a:xfrm>
            <a:off x="7360920" y="4672584"/>
            <a:ext cx="502920" cy="502920"/>
          </a:xfrm>
          <a:prstGeom prst="ellipse">
            <a:avLst/>
          </a:prstGeom>
          <a:solidFill>
            <a:srgbClr val="E0982E"/>
          </a:solidFill>
        </p:spPr>
        <p:txBody>
          <a:bodyPr wrap="square" lIns="0" tIns="0" rIns="0" bIns="0" rtlCol="0" anchor="ctr"/>
          <a:lstStyle/>
          <a:p>
            <a:pPr marL="0" indent="0" algn="ctr">
              <a:buNone/>
            </a:pPr>
            <a:r>
              <a:rPr lang="en-US" sz="1600" b="1" dirty="0">
                <a:solidFill>
                  <a:srgbClr val="0A2038"/>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6" name="Text 14"/>
          <p:cNvSpPr/>
          <p:nvPr/>
        </p:nvSpPr>
        <p:spPr>
          <a:xfrm>
            <a:off x="8001000" y="4654296"/>
            <a:ext cx="3291840" cy="292608"/>
          </a:xfrm>
          <a:prstGeom prst="rect">
            <a:avLst/>
          </a:prstGeom>
          <a:noFill/>
        </p:spPr>
        <p:txBody>
          <a:bodyPr wrap="square" rtlCol="0" anchor="ctr"/>
          <a:lstStyle/>
          <a:p>
            <a:pPr marL="0" indent="0">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Future Insight</a:t>
            </a:r>
            <a:endParaRPr lang="en-US" sz="1500" dirty="0"/>
          </a:p>
        </p:txBody>
      </p:sp>
      <p:sp>
        <p:nvSpPr>
          <p:cNvPr id="17" name="Text 15"/>
          <p:cNvSpPr/>
          <p:nvPr/>
        </p:nvSpPr>
        <p:spPr>
          <a:xfrm>
            <a:off x="8001000" y="4928616"/>
            <a:ext cx="3291840" cy="502920"/>
          </a:xfrm>
          <a:prstGeom prst="rect">
            <a:avLst/>
          </a:prstGeom>
          <a:noFill/>
        </p:spPr>
        <p:txBody>
          <a:bodyPr wrap="square" rtlCol="0" anchor="ctr"/>
          <a:lstStyle/>
          <a:p>
            <a:pPr marL="0" indent="0">
              <a:lnSpc>
                <a:spcPts val="1400"/>
              </a:lnSpc>
              <a:buNone/>
            </a:pPr>
            <a:r>
              <a:rPr lang="en-US" sz="1150" dirty="0">
                <a:solidFill>
                  <a:srgbClr val="C8D6E5"/>
                </a:solidFill>
                <a:latin typeface="Calibri" panose="020F0502020204030204" pitchFamily="34" charset="0"/>
                <a:ea typeface="Calibri" panose="020F0502020204030204" pitchFamily="34" charset="-122"/>
                <a:cs typeface="Calibri" panose="020F0502020204030204" pitchFamily="34" charset="-120"/>
              </a:rPr>
              <a:t>Model predicts demand for upcoming periods</a:t>
            </a:r>
            <a:endParaRPr lang="en-US" sz="1150" dirty="0"/>
          </a:p>
        </p:txBody>
      </p:sp>
      <p:sp>
        <p:nvSpPr>
          <p:cNvPr id="18" name="Text 16"/>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19" name="Text 17"/>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02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Why Retail Demand Is Hard to Plan For</a:t>
            </a:r>
            <a:endParaRPr lang="en-US" sz="3000" dirty="0"/>
          </a:p>
        </p:txBody>
      </p:sp>
      <p:sp>
        <p:nvSpPr>
          <p:cNvPr id="4" name="Shape 2"/>
          <p:cNvSpPr/>
          <p:nvPr/>
        </p:nvSpPr>
        <p:spPr>
          <a:xfrm>
            <a:off x="548640" y="1600200"/>
            <a:ext cx="5272888" cy="1143000"/>
          </a:xfrm>
          <a:prstGeom prst="roundRect">
            <a:avLst>
              <a:gd name="adj" fmla="val 7200"/>
            </a:avLst>
          </a:prstGeom>
          <a:solidFill>
            <a:srgbClr val="FFFFFF"/>
          </a:solidFill>
          <a:ln w="12700">
            <a:solidFill>
              <a:srgbClr val="E2E8EF"/>
            </a:solidFill>
            <a:prstDash val="solid"/>
          </a:ln>
        </p:spPr>
      </p:sp>
      <p:sp>
        <p:nvSpPr>
          <p:cNvPr id="5" name="Text 3"/>
          <p:cNvSpPr/>
          <p:nvPr/>
        </p:nvSpPr>
        <p:spPr>
          <a:xfrm>
            <a:off x="749808" y="1892808"/>
            <a:ext cx="548640" cy="548640"/>
          </a:xfrm>
          <a:prstGeom prst="ellipse">
            <a:avLst/>
          </a:prstGeom>
          <a:solidFill>
            <a:srgbClr val="B0503F"/>
          </a:solidFill>
        </p:spPr>
        <p:txBody>
          <a:bodyPr wrap="square" lIns="0" tIns="0" rIns="0" bIns="0"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6" name="Text 4"/>
          <p:cNvSpPr/>
          <p:nvPr/>
        </p:nvSpPr>
        <p:spPr>
          <a:xfrm>
            <a:off x="1444752" y="1728216"/>
            <a:ext cx="4175608" cy="292608"/>
          </a:xfrm>
          <a:prstGeom prst="rect">
            <a:avLst/>
          </a:prstGeom>
          <a:noFill/>
        </p:spPr>
        <p:txBody>
          <a:bodyPr wrap="square" rtlCol="0" anchor="ctr"/>
          <a:lstStyle/>
          <a:p>
            <a:pPr marL="0" indent="0">
              <a:buNone/>
            </a:pPr>
            <a:r>
              <a:rPr lang="en-US" sz="1400" b="1" dirty="0">
                <a:solidFill>
                  <a:srgbClr val="12395B"/>
                </a:solidFill>
                <a:latin typeface="Cambria" panose="02040503050406030204" pitchFamily="34" charset="0"/>
                <a:ea typeface="Cambria" panose="02040503050406030204" pitchFamily="34" charset="-122"/>
                <a:cs typeface="Cambria" panose="02040503050406030204" pitchFamily="34" charset="-120"/>
              </a:rPr>
              <a:t>Demand Keeps Changing</a:t>
            </a:r>
            <a:endParaRPr lang="en-US" sz="1400" dirty="0"/>
          </a:p>
        </p:txBody>
      </p:sp>
      <p:sp>
        <p:nvSpPr>
          <p:cNvPr id="7" name="Text 5"/>
          <p:cNvSpPr/>
          <p:nvPr/>
        </p:nvSpPr>
        <p:spPr>
          <a:xfrm>
            <a:off x="1444752" y="2039112"/>
            <a:ext cx="4175608" cy="621792"/>
          </a:xfrm>
          <a:prstGeom prst="rect">
            <a:avLst/>
          </a:prstGeom>
          <a:noFill/>
        </p:spPr>
        <p:txBody>
          <a:bodyPr wrap="square" rtlCol="0" anchor="ctr"/>
          <a:lstStyle/>
          <a:p>
            <a:pPr marL="0" indent="0">
              <a:lnSpc>
                <a:spcPts val="1300"/>
              </a:lnSpc>
              <a:buNone/>
            </a:pPr>
            <a:r>
              <a:rPr lang="en-US" sz="1080" dirty="0">
                <a:solidFill>
                  <a:srgbClr val="64758B"/>
                </a:solidFill>
                <a:latin typeface="Calibri" panose="020F0502020204030204" pitchFamily="34" charset="0"/>
                <a:ea typeface="Calibri" panose="020F0502020204030204" pitchFamily="34" charset="-122"/>
                <a:cs typeface="Calibri" panose="020F0502020204030204" pitchFamily="34" charset="-120"/>
              </a:rPr>
              <a:t>Product demand shifts over time due to trends, seasons and pricing, making it hard to plan with fixed assumptions.</a:t>
            </a:r>
            <a:endParaRPr lang="en-US" sz="1080" dirty="0"/>
          </a:p>
        </p:txBody>
      </p:sp>
      <p:sp>
        <p:nvSpPr>
          <p:cNvPr id="8" name="Shape 6"/>
          <p:cNvSpPr/>
          <p:nvPr/>
        </p:nvSpPr>
        <p:spPr>
          <a:xfrm>
            <a:off x="6370168" y="1600200"/>
            <a:ext cx="5272888" cy="1143000"/>
          </a:xfrm>
          <a:prstGeom prst="roundRect">
            <a:avLst>
              <a:gd name="adj" fmla="val 7200"/>
            </a:avLst>
          </a:prstGeom>
          <a:solidFill>
            <a:srgbClr val="FFFFFF"/>
          </a:solidFill>
          <a:ln w="12700">
            <a:solidFill>
              <a:srgbClr val="E2E8EF"/>
            </a:solidFill>
            <a:prstDash val="solid"/>
          </a:ln>
        </p:spPr>
      </p:sp>
      <p:sp>
        <p:nvSpPr>
          <p:cNvPr id="9" name="Text 7"/>
          <p:cNvSpPr/>
          <p:nvPr/>
        </p:nvSpPr>
        <p:spPr>
          <a:xfrm>
            <a:off x="6571336" y="1892808"/>
            <a:ext cx="548640" cy="548640"/>
          </a:xfrm>
          <a:prstGeom prst="ellipse">
            <a:avLst/>
          </a:prstGeom>
          <a:solidFill>
            <a:srgbClr val="B0503F"/>
          </a:solidFill>
        </p:spPr>
        <p:txBody>
          <a:bodyPr wrap="square" lIns="0" tIns="0" rIns="0" bIns="0"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0" name="Text 8"/>
          <p:cNvSpPr/>
          <p:nvPr/>
        </p:nvSpPr>
        <p:spPr>
          <a:xfrm>
            <a:off x="7266280" y="1728216"/>
            <a:ext cx="4175608" cy="292608"/>
          </a:xfrm>
          <a:prstGeom prst="rect">
            <a:avLst/>
          </a:prstGeom>
          <a:noFill/>
        </p:spPr>
        <p:txBody>
          <a:bodyPr wrap="square" rtlCol="0" anchor="ctr"/>
          <a:lstStyle/>
          <a:p>
            <a:pPr marL="0" indent="0">
              <a:buNone/>
            </a:pPr>
            <a:r>
              <a:rPr lang="en-US" sz="1400" b="1" dirty="0">
                <a:solidFill>
                  <a:srgbClr val="12395B"/>
                </a:solidFill>
                <a:latin typeface="Cambria" panose="02040503050406030204" pitchFamily="34" charset="0"/>
                <a:ea typeface="Cambria" panose="02040503050406030204" pitchFamily="34" charset="-122"/>
                <a:cs typeface="Cambria" panose="02040503050406030204" pitchFamily="34" charset="-120"/>
              </a:rPr>
              <a:t>Manual Estimation Is Difficult</a:t>
            </a:r>
            <a:endParaRPr lang="en-US" sz="1400" dirty="0"/>
          </a:p>
        </p:txBody>
      </p:sp>
      <p:sp>
        <p:nvSpPr>
          <p:cNvPr id="11" name="Text 9"/>
          <p:cNvSpPr/>
          <p:nvPr/>
        </p:nvSpPr>
        <p:spPr>
          <a:xfrm>
            <a:off x="7266280" y="2039112"/>
            <a:ext cx="4175608" cy="621792"/>
          </a:xfrm>
          <a:prstGeom prst="rect">
            <a:avLst/>
          </a:prstGeom>
          <a:noFill/>
        </p:spPr>
        <p:txBody>
          <a:bodyPr wrap="square" rtlCol="0" anchor="ctr"/>
          <a:lstStyle/>
          <a:p>
            <a:pPr marL="0" indent="0">
              <a:lnSpc>
                <a:spcPts val="1300"/>
              </a:lnSpc>
              <a:buNone/>
            </a:pPr>
            <a:r>
              <a:rPr lang="en-US" sz="1080" dirty="0">
                <a:solidFill>
                  <a:srgbClr val="64758B"/>
                </a:solidFill>
                <a:latin typeface="Calibri" panose="020F0502020204030204" pitchFamily="34" charset="0"/>
                <a:ea typeface="Calibri" panose="020F0502020204030204" pitchFamily="34" charset="-122"/>
                <a:cs typeface="Calibri" panose="020F0502020204030204" pitchFamily="34" charset="-120"/>
              </a:rPr>
              <a:t>Estimating demand by hand does not scale to thousands of products and transactions.</a:t>
            </a:r>
            <a:endParaRPr lang="en-US" sz="1080" dirty="0"/>
          </a:p>
        </p:txBody>
      </p:sp>
      <p:sp>
        <p:nvSpPr>
          <p:cNvPr id="12" name="Shape 10"/>
          <p:cNvSpPr/>
          <p:nvPr/>
        </p:nvSpPr>
        <p:spPr>
          <a:xfrm>
            <a:off x="548640" y="2880360"/>
            <a:ext cx="5272888" cy="1143000"/>
          </a:xfrm>
          <a:prstGeom prst="roundRect">
            <a:avLst>
              <a:gd name="adj" fmla="val 7200"/>
            </a:avLst>
          </a:prstGeom>
          <a:solidFill>
            <a:srgbClr val="FFFFFF"/>
          </a:solidFill>
          <a:ln w="12700">
            <a:solidFill>
              <a:srgbClr val="E2E8EF"/>
            </a:solidFill>
            <a:prstDash val="solid"/>
          </a:ln>
        </p:spPr>
      </p:sp>
      <p:sp>
        <p:nvSpPr>
          <p:cNvPr id="13" name="Text 11"/>
          <p:cNvSpPr/>
          <p:nvPr/>
        </p:nvSpPr>
        <p:spPr>
          <a:xfrm>
            <a:off x="749808" y="3172968"/>
            <a:ext cx="548640" cy="548640"/>
          </a:xfrm>
          <a:prstGeom prst="ellipse">
            <a:avLst/>
          </a:prstGeom>
          <a:solidFill>
            <a:srgbClr val="B0503F"/>
          </a:solidFill>
        </p:spPr>
        <p:txBody>
          <a:bodyPr wrap="square" lIns="0" tIns="0" rIns="0" bIns="0"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4" name="Text 12"/>
          <p:cNvSpPr/>
          <p:nvPr/>
        </p:nvSpPr>
        <p:spPr>
          <a:xfrm>
            <a:off x="1444752" y="3008376"/>
            <a:ext cx="4175608" cy="292608"/>
          </a:xfrm>
          <a:prstGeom prst="rect">
            <a:avLst/>
          </a:prstGeom>
          <a:noFill/>
        </p:spPr>
        <p:txBody>
          <a:bodyPr wrap="square" rtlCol="0" anchor="ctr"/>
          <a:lstStyle/>
          <a:p>
            <a:pPr marL="0" indent="0">
              <a:buNone/>
            </a:pPr>
            <a:r>
              <a:rPr lang="en-US" sz="1400" b="1" dirty="0">
                <a:solidFill>
                  <a:srgbClr val="12395B"/>
                </a:solidFill>
                <a:latin typeface="Cambria" panose="02040503050406030204" pitchFamily="34" charset="0"/>
                <a:ea typeface="Cambria" panose="02040503050406030204" pitchFamily="34" charset="-122"/>
                <a:cs typeface="Cambria" panose="02040503050406030204" pitchFamily="34" charset="-120"/>
              </a:rPr>
              <a:t>Overstocking Raises Cost</a:t>
            </a:r>
            <a:endParaRPr lang="en-US" sz="1400" dirty="0"/>
          </a:p>
        </p:txBody>
      </p:sp>
      <p:sp>
        <p:nvSpPr>
          <p:cNvPr id="15" name="Text 13"/>
          <p:cNvSpPr/>
          <p:nvPr/>
        </p:nvSpPr>
        <p:spPr>
          <a:xfrm>
            <a:off x="1444752" y="3319272"/>
            <a:ext cx="4175608" cy="621792"/>
          </a:xfrm>
          <a:prstGeom prst="rect">
            <a:avLst/>
          </a:prstGeom>
          <a:noFill/>
        </p:spPr>
        <p:txBody>
          <a:bodyPr wrap="square" rtlCol="0" anchor="ctr"/>
          <a:lstStyle/>
          <a:p>
            <a:pPr marL="0" indent="0">
              <a:lnSpc>
                <a:spcPts val="1300"/>
              </a:lnSpc>
              <a:buNone/>
            </a:pPr>
            <a:r>
              <a:rPr lang="en-US" sz="1080" dirty="0">
                <a:solidFill>
                  <a:srgbClr val="64758B"/>
                </a:solidFill>
                <a:latin typeface="Calibri" panose="020F0502020204030204" pitchFamily="34" charset="0"/>
                <a:ea typeface="Calibri" panose="020F0502020204030204" pitchFamily="34" charset="-122"/>
                <a:cs typeface="Calibri" panose="020F0502020204030204" pitchFamily="34" charset="-120"/>
              </a:rPr>
              <a:t>Ordering more stock than needed ties up capital and increases storage and holding costs.</a:t>
            </a:r>
            <a:endParaRPr lang="en-US" sz="1080" dirty="0"/>
          </a:p>
        </p:txBody>
      </p:sp>
      <p:sp>
        <p:nvSpPr>
          <p:cNvPr id="16" name="Shape 14"/>
          <p:cNvSpPr/>
          <p:nvPr/>
        </p:nvSpPr>
        <p:spPr>
          <a:xfrm>
            <a:off x="6370168" y="2880360"/>
            <a:ext cx="5272888" cy="1143000"/>
          </a:xfrm>
          <a:prstGeom prst="roundRect">
            <a:avLst>
              <a:gd name="adj" fmla="val 7200"/>
            </a:avLst>
          </a:prstGeom>
          <a:solidFill>
            <a:srgbClr val="FFFFFF"/>
          </a:solidFill>
          <a:ln w="12700">
            <a:solidFill>
              <a:srgbClr val="E2E8EF"/>
            </a:solidFill>
            <a:prstDash val="solid"/>
          </a:ln>
        </p:spPr>
      </p:sp>
      <p:sp>
        <p:nvSpPr>
          <p:cNvPr id="17" name="Text 15"/>
          <p:cNvSpPr/>
          <p:nvPr/>
        </p:nvSpPr>
        <p:spPr>
          <a:xfrm>
            <a:off x="6571336" y="3172968"/>
            <a:ext cx="548640" cy="548640"/>
          </a:xfrm>
          <a:prstGeom prst="ellipse">
            <a:avLst/>
          </a:prstGeom>
          <a:solidFill>
            <a:srgbClr val="B0503F"/>
          </a:solidFill>
        </p:spPr>
        <p:txBody>
          <a:bodyPr wrap="square" lIns="0" tIns="0" rIns="0" bIns="0"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8" name="Text 16"/>
          <p:cNvSpPr/>
          <p:nvPr/>
        </p:nvSpPr>
        <p:spPr>
          <a:xfrm>
            <a:off x="7266280" y="3008376"/>
            <a:ext cx="4175608" cy="292608"/>
          </a:xfrm>
          <a:prstGeom prst="rect">
            <a:avLst/>
          </a:prstGeom>
          <a:noFill/>
        </p:spPr>
        <p:txBody>
          <a:bodyPr wrap="square" rtlCol="0" anchor="ctr"/>
          <a:lstStyle/>
          <a:p>
            <a:pPr marL="0" indent="0">
              <a:buNone/>
            </a:pPr>
            <a:r>
              <a:rPr lang="en-US" sz="1400" b="1" dirty="0">
                <a:solidFill>
                  <a:srgbClr val="12395B"/>
                </a:solidFill>
                <a:latin typeface="Cambria" panose="02040503050406030204" pitchFamily="34" charset="0"/>
                <a:ea typeface="Cambria" panose="02040503050406030204" pitchFamily="34" charset="-122"/>
                <a:cs typeface="Cambria" panose="02040503050406030204" pitchFamily="34" charset="-120"/>
              </a:rPr>
              <a:t>Understocking Loses Sales</a:t>
            </a:r>
            <a:endParaRPr lang="en-US" sz="1400" dirty="0"/>
          </a:p>
        </p:txBody>
      </p:sp>
      <p:sp>
        <p:nvSpPr>
          <p:cNvPr id="19" name="Text 17"/>
          <p:cNvSpPr/>
          <p:nvPr/>
        </p:nvSpPr>
        <p:spPr>
          <a:xfrm>
            <a:off x="7266280" y="3319272"/>
            <a:ext cx="4175608" cy="621792"/>
          </a:xfrm>
          <a:prstGeom prst="rect">
            <a:avLst/>
          </a:prstGeom>
          <a:noFill/>
        </p:spPr>
        <p:txBody>
          <a:bodyPr wrap="square" rtlCol="0" anchor="ctr"/>
          <a:lstStyle/>
          <a:p>
            <a:pPr marL="0" indent="0">
              <a:lnSpc>
                <a:spcPts val="1300"/>
              </a:lnSpc>
              <a:buNone/>
            </a:pPr>
            <a:r>
              <a:rPr lang="en-US" sz="1080" dirty="0">
                <a:solidFill>
                  <a:srgbClr val="64758B"/>
                </a:solidFill>
                <a:latin typeface="Calibri" panose="020F0502020204030204" pitchFamily="34" charset="0"/>
                <a:ea typeface="Calibri" panose="020F0502020204030204" pitchFamily="34" charset="-122"/>
                <a:cs typeface="Calibri" panose="020F0502020204030204" pitchFamily="34" charset="-120"/>
              </a:rPr>
              <a:t>Ordering too little leads to stock-outs, missed sales and dissatisfied customers.</a:t>
            </a:r>
            <a:endParaRPr lang="en-US" sz="1080" dirty="0"/>
          </a:p>
        </p:txBody>
      </p:sp>
      <p:sp>
        <p:nvSpPr>
          <p:cNvPr id="20" name="Shape 18"/>
          <p:cNvSpPr/>
          <p:nvPr/>
        </p:nvSpPr>
        <p:spPr>
          <a:xfrm>
            <a:off x="548640" y="4160520"/>
            <a:ext cx="11094415" cy="1051560"/>
          </a:xfrm>
          <a:prstGeom prst="roundRect">
            <a:avLst>
              <a:gd name="adj" fmla="val 7826"/>
            </a:avLst>
          </a:prstGeom>
          <a:solidFill>
            <a:srgbClr val="12395B"/>
          </a:solidFill>
        </p:spPr>
      </p:sp>
      <p:sp>
        <p:nvSpPr>
          <p:cNvPr id="21" name="Text 19"/>
          <p:cNvSpPr/>
          <p:nvPr/>
        </p:nvSpPr>
        <p:spPr>
          <a:xfrm>
            <a:off x="804672" y="4434840"/>
            <a:ext cx="548640" cy="548640"/>
          </a:xfrm>
          <a:prstGeom prst="ellipse">
            <a:avLst/>
          </a:prstGeom>
          <a:solidFill>
            <a:srgbClr val="E0982E"/>
          </a:solidFill>
        </p:spPr>
        <p:txBody>
          <a:bodyPr wrap="square" lIns="0" tIns="0" rIns="0" bIns="0" rtlCol="0" anchor="ctr"/>
          <a:lstStyle/>
          <a:p>
            <a:pPr marL="0" indent="0" algn="ctr">
              <a:buNone/>
            </a:pPr>
            <a:r>
              <a:rPr lang="en-US" sz="2000" b="1" dirty="0">
                <a:solidFill>
                  <a:srgbClr val="0A2038"/>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2" name="Text 20"/>
          <p:cNvSpPr/>
          <p:nvPr/>
        </p:nvSpPr>
        <p:spPr>
          <a:xfrm>
            <a:off x="1508760" y="4279392"/>
            <a:ext cx="9905695" cy="292608"/>
          </a:xfrm>
          <a:prstGeom prst="rect">
            <a:avLst/>
          </a:prstGeom>
          <a:noFill/>
        </p:spPr>
        <p:txBody>
          <a:bodyPr wrap="square" rtlCol="0" anchor="ctr"/>
          <a:lstStyle/>
          <a:p>
            <a:pPr marL="0" indent="0">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Need for Data-Driven Planning</a:t>
            </a:r>
            <a:endParaRPr lang="en-US" sz="1500" dirty="0"/>
          </a:p>
        </p:txBody>
      </p:sp>
      <p:sp>
        <p:nvSpPr>
          <p:cNvPr id="23" name="Text 21"/>
          <p:cNvSpPr/>
          <p:nvPr/>
        </p:nvSpPr>
        <p:spPr>
          <a:xfrm>
            <a:off x="1508760" y="4572000"/>
            <a:ext cx="9905695" cy="548640"/>
          </a:xfrm>
          <a:prstGeom prst="rect">
            <a:avLst/>
          </a:prstGeom>
          <a:noFill/>
        </p:spPr>
        <p:txBody>
          <a:bodyPr wrap="square" rtlCol="0" anchor="ctr"/>
          <a:lstStyle/>
          <a:p>
            <a:pPr marL="0" indent="0">
              <a:lnSpc>
                <a:spcPts val="1400"/>
              </a:lnSpc>
              <a:buNone/>
            </a:pPr>
            <a:r>
              <a:rPr lang="en-US" sz="1150" dirty="0">
                <a:solidFill>
                  <a:srgbClr val="D7E3EF"/>
                </a:solidFill>
                <a:latin typeface="Calibri" panose="020F0502020204030204" pitchFamily="34" charset="0"/>
                <a:ea typeface="Calibri" panose="020F0502020204030204" pitchFamily="34" charset="-122"/>
                <a:cs typeface="Calibri" panose="020F0502020204030204" pitchFamily="34" charset="-120"/>
              </a:rPr>
              <a:t>A system that learns from historical transactions can support smarter, evidence-based stocking decisions.</a:t>
            </a:r>
            <a:endParaRPr lang="en-US" sz="1150" dirty="0"/>
          </a:p>
        </p:txBody>
      </p:sp>
      <p:sp>
        <p:nvSpPr>
          <p:cNvPr id="24" name="Text 22"/>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25" name="Text 23"/>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03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OBJECTIVES</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What This Project Aims To Do</a:t>
            </a:r>
            <a:endParaRPr lang="en-US" sz="3000" dirty="0"/>
          </a:p>
        </p:txBody>
      </p:sp>
      <p:sp>
        <p:nvSpPr>
          <p:cNvPr id="4" name="Shape 2"/>
          <p:cNvSpPr/>
          <p:nvPr/>
        </p:nvSpPr>
        <p:spPr>
          <a:xfrm>
            <a:off x="548640" y="1645920"/>
            <a:ext cx="5364328" cy="932688"/>
          </a:xfrm>
          <a:prstGeom prst="roundRect">
            <a:avLst>
              <a:gd name="adj" fmla="val 8824"/>
            </a:avLst>
          </a:prstGeom>
          <a:solidFill>
            <a:srgbClr val="FFFFFF"/>
          </a:solidFill>
          <a:ln w="12700">
            <a:solidFill>
              <a:srgbClr val="E2E8EF"/>
            </a:solidFill>
            <a:prstDash val="solid"/>
          </a:ln>
        </p:spPr>
      </p:sp>
      <p:sp>
        <p:nvSpPr>
          <p:cNvPr id="5" name="Text 3"/>
          <p:cNvSpPr/>
          <p:nvPr/>
        </p:nvSpPr>
        <p:spPr>
          <a:xfrm>
            <a:off x="685800" y="1645920"/>
            <a:ext cx="914400" cy="932688"/>
          </a:xfrm>
          <a:prstGeom prst="rect">
            <a:avLst/>
          </a:prstGeom>
          <a:noFill/>
        </p:spPr>
        <p:txBody>
          <a:bodyPr wrap="square" rtlCol="0" anchor="ctr"/>
          <a:lstStyle/>
          <a:p>
            <a:pPr marL="0" indent="0" algn="l">
              <a:buNone/>
            </a:pPr>
            <a:r>
              <a:rPr lang="en-US" sz="2800" b="1" dirty="0">
                <a:solidFill>
                  <a:srgbClr val="D7E7EA"/>
                </a:solidFill>
                <a:latin typeface="Cambria" panose="02040503050406030204" pitchFamily="34" charset="0"/>
                <a:ea typeface="Cambria" panose="02040503050406030204" pitchFamily="34" charset="-122"/>
                <a:cs typeface="Cambria" panose="02040503050406030204" pitchFamily="34" charset="-120"/>
              </a:rPr>
              <a:t>01</a:t>
            </a:r>
            <a:endParaRPr lang="en-US" sz="2800" dirty="0"/>
          </a:p>
        </p:txBody>
      </p:sp>
      <p:sp>
        <p:nvSpPr>
          <p:cNvPr id="6" name="Shape 4"/>
          <p:cNvSpPr/>
          <p:nvPr/>
        </p:nvSpPr>
        <p:spPr>
          <a:xfrm>
            <a:off x="1600200" y="1783080"/>
            <a:ext cx="18288" cy="658368"/>
          </a:xfrm>
          <a:prstGeom prst="rect">
            <a:avLst/>
          </a:prstGeom>
          <a:solidFill>
            <a:srgbClr val="E9EEF3"/>
          </a:solidFill>
        </p:spPr>
      </p:sp>
      <p:sp>
        <p:nvSpPr>
          <p:cNvPr id="7" name="Text 5"/>
          <p:cNvSpPr/>
          <p:nvPr/>
        </p:nvSpPr>
        <p:spPr>
          <a:xfrm>
            <a:off x="1783080" y="1645920"/>
            <a:ext cx="3947008" cy="932688"/>
          </a:xfrm>
          <a:prstGeom prst="rect">
            <a:avLst/>
          </a:prstGeom>
          <a:noFill/>
        </p:spPr>
        <p:txBody>
          <a:bodyPr wrap="square" rtlCol="0" anchor="ctr"/>
          <a:lstStyle/>
          <a:p>
            <a:pPr marL="0" indent="0">
              <a:buNone/>
            </a:pPr>
            <a:r>
              <a:rPr lang="en-US" sz="1400" b="1" dirty="0">
                <a:solidFill>
                  <a:srgbClr val="1A2432"/>
                </a:solidFill>
                <a:latin typeface="Calibri" panose="020F0502020204030204" pitchFamily="34" charset="0"/>
                <a:ea typeface="Calibri" panose="020F0502020204030204" pitchFamily="34" charset="-122"/>
                <a:cs typeface="Calibri" panose="020F0502020204030204" pitchFamily="34" charset="-120"/>
              </a:rPr>
              <a:t>Analyze historical retail transaction data</a:t>
            </a:r>
            <a:endParaRPr lang="en-US" sz="1400" dirty="0"/>
          </a:p>
        </p:txBody>
      </p:sp>
      <p:sp>
        <p:nvSpPr>
          <p:cNvPr id="8" name="Shape 6"/>
          <p:cNvSpPr/>
          <p:nvPr/>
        </p:nvSpPr>
        <p:spPr>
          <a:xfrm>
            <a:off x="6278728" y="1645920"/>
            <a:ext cx="5364328" cy="932688"/>
          </a:xfrm>
          <a:prstGeom prst="roundRect">
            <a:avLst>
              <a:gd name="adj" fmla="val 8824"/>
            </a:avLst>
          </a:prstGeom>
          <a:solidFill>
            <a:srgbClr val="FFFFFF"/>
          </a:solidFill>
          <a:ln w="12700">
            <a:solidFill>
              <a:srgbClr val="E2E8EF"/>
            </a:solidFill>
            <a:prstDash val="solid"/>
          </a:ln>
        </p:spPr>
      </p:sp>
      <p:sp>
        <p:nvSpPr>
          <p:cNvPr id="9" name="Text 7"/>
          <p:cNvSpPr/>
          <p:nvPr/>
        </p:nvSpPr>
        <p:spPr>
          <a:xfrm>
            <a:off x="6415888" y="1645920"/>
            <a:ext cx="914400" cy="932688"/>
          </a:xfrm>
          <a:prstGeom prst="rect">
            <a:avLst/>
          </a:prstGeom>
          <a:noFill/>
        </p:spPr>
        <p:txBody>
          <a:bodyPr wrap="square" rtlCol="0" anchor="ctr"/>
          <a:lstStyle/>
          <a:p>
            <a:pPr marL="0" indent="0" algn="l">
              <a:buNone/>
            </a:pPr>
            <a:r>
              <a:rPr lang="en-US" sz="2800" b="1" dirty="0">
                <a:solidFill>
                  <a:srgbClr val="D7E7EA"/>
                </a:solidFill>
                <a:latin typeface="Cambria" panose="02040503050406030204" pitchFamily="34" charset="0"/>
                <a:ea typeface="Cambria" panose="02040503050406030204" pitchFamily="34" charset="-122"/>
                <a:cs typeface="Cambria" panose="02040503050406030204" pitchFamily="34" charset="-120"/>
              </a:rPr>
              <a:t>02</a:t>
            </a:r>
            <a:endParaRPr lang="en-US" sz="2800" dirty="0"/>
          </a:p>
        </p:txBody>
      </p:sp>
      <p:sp>
        <p:nvSpPr>
          <p:cNvPr id="10" name="Shape 8"/>
          <p:cNvSpPr/>
          <p:nvPr/>
        </p:nvSpPr>
        <p:spPr>
          <a:xfrm>
            <a:off x="7330288" y="1783080"/>
            <a:ext cx="18288" cy="658368"/>
          </a:xfrm>
          <a:prstGeom prst="rect">
            <a:avLst/>
          </a:prstGeom>
          <a:solidFill>
            <a:srgbClr val="E9EEF3"/>
          </a:solidFill>
        </p:spPr>
      </p:sp>
      <p:sp>
        <p:nvSpPr>
          <p:cNvPr id="11" name="Text 9"/>
          <p:cNvSpPr/>
          <p:nvPr/>
        </p:nvSpPr>
        <p:spPr>
          <a:xfrm>
            <a:off x="7513168" y="1645920"/>
            <a:ext cx="3947008" cy="932688"/>
          </a:xfrm>
          <a:prstGeom prst="rect">
            <a:avLst/>
          </a:prstGeom>
          <a:noFill/>
        </p:spPr>
        <p:txBody>
          <a:bodyPr wrap="square" rtlCol="0" anchor="ctr"/>
          <a:lstStyle/>
          <a:p>
            <a:pPr marL="0" indent="0">
              <a:buNone/>
            </a:pPr>
            <a:r>
              <a:rPr lang="en-US" sz="1400" b="1" dirty="0">
                <a:solidFill>
                  <a:srgbClr val="1A2432"/>
                </a:solidFill>
                <a:latin typeface="Calibri" panose="020F0502020204030204" pitchFamily="34" charset="0"/>
                <a:ea typeface="Calibri" panose="020F0502020204030204" pitchFamily="34" charset="-122"/>
                <a:cs typeface="Calibri" panose="020F0502020204030204" pitchFamily="34" charset="-120"/>
              </a:rPr>
              <a:t>Clean and preprocess raw sales data</a:t>
            </a:r>
            <a:endParaRPr lang="en-US" sz="1400" dirty="0"/>
          </a:p>
        </p:txBody>
      </p:sp>
      <p:sp>
        <p:nvSpPr>
          <p:cNvPr id="12" name="Shape 10"/>
          <p:cNvSpPr/>
          <p:nvPr/>
        </p:nvSpPr>
        <p:spPr>
          <a:xfrm>
            <a:off x="548640" y="2743200"/>
            <a:ext cx="5364328" cy="932688"/>
          </a:xfrm>
          <a:prstGeom prst="roundRect">
            <a:avLst>
              <a:gd name="adj" fmla="val 8824"/>
            </a:avLst>
          </a:prstGeom>
          <a:solidFill>
            <a:srgbClr val="FFFFFF"/>
          </a:solidFill>
          <a:ln w="12700">
            <a:solidFill>
              <a:srgbClr val="E2E8EF"/>
            </a:solidFill>
            <a:prstDash val="solid"/>
          </a:ln>
        </p:spPr>
      </p:sp>
      <p:sp>
        <p:nvSpPr>
          <p:cNvPr id="13" name="Text 11"/>
          <p:cNvSpPr/>
          <p:nvPr/>
        </p:nvSpPr>
        <p:spPr>
          <a:xfrm>
            <a:off x="685800" y="2743200"/>
            <a:ext cx="914400" cy="932688"/>
          </a:xfrm>
          <a:prstGeom prst="rect">
            <a:avLst/>
          </a:prstGeom>
          <a:noFill/>
        </p:spPr>
        <p:txBody>
          <a:bodyPr wrap="square" rtlCol="0" anchor="ctr"/>
          <a:lstStyle/>
          <a:p>
            <a:pPr marL="0" indent="0" algn="l">
              <a:buNone/>
            </a:pPr>
            <a:r>
              <a:rPr lang="en-US" sz="2800" b="1" dirty="0">
                <a:solidFill>
                  <a:srgbClr val="D7E7EA"/>
                </a:solidFill>
                <a:latin typeface="Cambria" panose="02040503050406030204" pitchFamily="34" charset="0"/>
                <a:ea typeface="Cambria" panose="02040503050406030204" pitchFamily="34" charset="-122"/>
                <a:cs typeface="Cambria" panose="02040503050406030204" pitchFamily="34" charset="-120"/>
              </a:rPr>
              <a:t>03</a:t>
            </a:r>
            <a:endParaRPr lang="en-US" sz="2800" dirty="0"/>
          </a:p>
        </p:txBody>
      </p:sp>
      <p:sp>
        <p:nvSpPr>
          <p:cNvPr id="14" name="Shape 12"/>
          <p:cNvSpPr/>
          <p:nvPr/>
        </p:nvSpPr>
        <p:spPr>
          <a:xfrm>
            <a:off x="1600200" y="2880360"/>
            <a:ext cx="18288" cy="658368"/>
          </a:xfrm>
          <a:prstGeom prst="rect">
            <a:avLst/>
          </a:prstGeom>
          <a:solidFill>
            <a:srgbClr val="E9EEF3"/>
          </a:solidFill>
        </p:spPr>
      </p:sp>
      <p:sp>
        <p:nvSpPr>
          <p:cNvPr id="15" name="Text 13"/>
          <p:cNvSpPr/>
          <p:nvPr/>
        </p:nvSpPr>
        <p:spPr>
          <a:xfrm>
            <a:off x="1783080" y="2743200"/>
            <a:ext cx="3947008" cy="932688"/>
          </a:xfrm>
          <a:prstGeom prst="rect">
            <a:avLst/>
          </a:prstGeom>
          <a:noFill/>
        </p:spPr>
        <p:txBody>
          <a:bodyPr wrap="square" rtlCol="0" anchor="ctr"/>
          <a:lstStyle/>
          <a:p>
            <a:pPr marL="0" indent="0">
              <a:buNone/>
            </a:pPr>
            <a:r>
              <a:rPr lang="en-US" sz="1400" b="1" dirty="0">
                <a:solidFill>
                  <a:srgbClr val="1A2432"/>
                </a:solidFill>
                <a:latin typeface="Calibri" panose="020F0502020204030204" pitchFamily="34" charset="0"/>
                <a:ea typeface="Calibri" panose="020F0502020204030204" pitchFamily="34" charset="-122"/>
                <a:cs typeface="Calibri" panose="020F0502020204030204" pitchFamily="34" charset="-120"/>
              </a:rPr>
              <a:t>Create useful demand-related features</a:t>
            </a:r>
            <a:endParaRPr lang="en-US" sz="1400" dirty="0"/>
          </a:p>
        </p:txBody>
      </p:sp>
      <p:sp>
        <p:nvSpPr>
          <p:cNvPr id="16" name="Shape 14"/>
          <p:cNvSpPr/>
          <p:nvPr/>
        </p:nvSpPr>
        <p:spPr>
          <a:xfrm>
            <a:off x="6278728" y="2743200"/>
            <a:ext cx="5364328" cy="932688"/>
          </a:xfrm>
          <a:prstGeom prst="roundRect">
            <a:avLst>
              <a:gd name="adj" fmla="val 8824"/>
            </a:avLst>
          </a:prstGeom>
          <a:solidFill>
            <a:srgbClr val="FFFFFF"/>
          </a:solidFill>
          <a:ln w="12700">
            <a:solidFill>
              <a:srgbClr val="E2E8EF"/>
            </a:solidFill>
            <a:prstDash val="solid"/>
          </a:ln>
        </p:spPr>
      </p:sp>
      <p:sp>
        <p:nvSpPr>
          <p:cNvPr id="17" name="Text 15"/>
          <p:cNvSpPr/>
          <p:nvPr/>
        </p:nvSpPr>
        <p:spPr>
          <a:xfrm>
            <a:off x="6415888" y="2743200"/>
            <a:ext cx="914400" cy="932688"/>
          </a:xfrm>
          <a:prstGeom prst="rect">
            <a:avLst/>
          </a:prstGeom>
          <a:noFill/>
        </p:spPr>
        <p:txBody>
          <a:bodyPr wrap="square" rtlCol="0" anchor="ctr"/>
          <a:lstStyle/>
          <a:p>
            <a:pPr marL="0" indent="0" algn="l">
              <a:buNone/>
            </a:pPr>
            <a:r>
              <a:rPr lang="en-US" sz="2800" b="1" dirty="0">
                <a:solidFill>
                  <a:srgbClr val="D7E7EA"/>
                </a:solidFill>
                <a:latin typeface="Cambria" panose="02040503050406030204" pitchFamily="34" charset="0"/>
                <a:ea typeface="Cambria" panose="02040503050406030204" pitchFamily="34" charset="-122"/>
                <a:cs typeface="Cambria" panose="02040503050406030204" pitchFamily="34" charset="-120"/>
              </a:rPr>
              <a:t>04</a:t>
            </a:r>
            <a:endParaRPr lang="en-US" sz="2800" dirty="0"/>
          </a:p>
        </p:txBody>
      </p:sp>
      <p:sp>
        <p:nvSpPr>
          <p:cNvPr id="18" name="Shape 16"/>
          <p:cNvSpPr/>
          <p:nvPr/>
        </p:nvSpPr>
        <p:spPr>
          <a:xfrm>
            <a:off x="7330288" y="2880360"/>
            <a:ext cx="18288" cy="658368"/>
          </a:xfrm>
          <a:prstGeom prst="rect">
            <a:avLst/>
          </a:prstGeom>
          <a:solidFill>
            <a:srgbClr val="E9EEF3"/>
          </a:solidFill>
        </p:spPr>
      </p:sp>
      <p:sp>
        <p:nvSpPr>
          <p:cNvPr id="19" name="Text 17"/>
          <p:cNvSpPr/>
          <p:nvPr/>
        </p:nvSpPr>
        <p:spPr>
          <a:xfrm>
            <a:off x="7513168" y="2743200"/>
            <a:ext cx="3947008" cy="932688"/>
          </a:xfrm>
          <a:prstGeom prst="rect">
            <a:avLst/>
          </a:prstGeom>
          <a:noFill/>
        </p:spPr>
        <p:txBody>
          <a:bodyPr wrap="square" rtlCol="0" anchor="ctr"/>
          <a:lstStyle/>
          <a:p>
            <a:pPr marL="0" indent="0">
              <a:buNone/>
            </a:pPr>
            <a:r>
              <a:rPr lang="en-US" sz="1400" b="1" dirty="0">
                <a:solidFill>
                  <a:srgbClr val="1A2432"/>
                </a:solidFill>
                <a:latin typeface="Calibri" panose="020F0502020204030204" pitchFamily="34" charset="0"/>
                <a:ea typeface="Calibri" panose="020F0502020204030204" pitchFamily="34" charset="-122"/>
                <a:cs typeface="Calibri" panose="020F0502020204030204" pitchFamily="34" charset="-120"/>
              </a:rPr>
              <a:t>Train a machine learning model</a:t>
            </a:r>
            <a:endParaRPr lang="en-US" sz="1400" dirty="0"/>
          </a:p>
        </p:txBody>
      </p:sp>
      <p:sp>
        <p:nvSpPr>
          <p:cNvPr id="20" name="Shape 18"/>
          <p:cNvSpPr/>
          <p:nvPr/>
        </p:nvSpPr>
        <p:spPr>
          <a:xfrm>
            <a:off x="548640" y="3840480"/>
            <a:ext cx="5364328" cy="932688"/>
          </a:xfrm>
          <a:prstGeom prst="roundRect">
            <a:avLst>
              <a:gd name="adj" fmla="val 8824"/>
            </a:avLst>
          </a:prstGeom>
          <a:solidFill>
            <a:srgbClr val="FFFFFF"/>
          </a:solidFill>
          <a:ln w="12700">
            <a:solidFill>
              <a:srgbClr val="E2E8EF"/>
            </a:solidFill>
            <a:prstDash val="solid"/>
          </a:ln>
        </p:spPr>
      </p:sp>
      <p:sp>
        <p:nvSpPr>
          <p:cNvPr id="21" name="Text 19"/>
          <p:cNvSpPr/>
          <p:nvPr/>
        </p:nvSpPr>
        <p:spPr>
          <a:xfrm>
            <a:off x="685800" y="3840480"/>
            <a:ext cx="914400" cy="932688"/>
          </a:xfrm>
          <a:prstGeom prst="rect">
            <a:avLst/>
          </a:prstGeom>
          <a:noFill/>
        </p:spPr>
        <p:txBody>
          <a:bodyPr wrap="square" rtlCol="0" anchor="ctr"/>
          <a:lstStyle/>
          <a:p>
            <a:pPr marL="0" indent="0" algn="l">
              <a:buNone/>
            </a:pPr>
            <a:r>
              <a:rPr lang="en-US" sz="2800" b="1" dirty="0">
                <a:solidFill>
                  <a:srgbClr val="D7E7EA"/>
                </a:solidFill>
                <a:latin typeface="Cambria" panose="02040503050406030204" pitchFamily="34" charset="0"/>
                <a:ea typeface="Cambria" panose="02040503050406030204" pitchFamily="34" charset="-122"/>
                <a:cs typeface="Cambria" panose="02040503050406030204" pitchFamily="34" charset="-120"/>
              </a:rPr>
              <a:t>05</a:t>
            </a:r>
            <a:endParaRPr lang="en-US" sz="2800" dirty="0"/>
          </a:p>
        </p:txBody>
      </p:sp>
      <p:sp>
        <p:nvSpPr>
          <p:cNvPr id="22" name="Shape 20"/>
          <p:cNvSpPr/>
          <p:nvPr/>
        </p:nvSpPr>
        <p:spPr>
          <a:xfrm>
            <a:off x="1600200" y="3977640"/>
            <a:ext cx="18288" cy="658368"/>
          </a:xfrm>
          <a:prstGeom prst="rect">
            <a:avLst/>
          </a:prstGeom>
          <a:solidFill>
            <a:srgbClr val="E9EEF3"/>
          </a:solidFill>
        </p:spPr>
      </p:sp>
      <p:sp>
        <p:nvSpPr>
          <p:cNvPr id="23" name="Text 21"/>
          <p:cNvSpPr/>
          <p:nvPr/>
        </p:nvSpPr>
        <p:spPr>
          <a:xfrm>
            <a:off x="1783080" y="3840480"/>
            <a:ext cx="3947008" cy="932688"/>
          </a:xfrm>
          <a:prstGeom prst="rect">
            <a:avLst/>
          </a:prstGeom>
          <a:noFill/>
        </p:spPr>
        <p:txBody>
          <a:bodyPr wrap="square" rtlCol="0" anchor="ctr"/>
          <a:lstStyle/>
          <a:p>
            <a:pPr marL="0" indent="0">
              <a:buNone/>
            </a:pPr>
            <a:r>
              <a:rPr lang="en-US" sz="1400" b="1" dirty="0">
                <a:solidFill>
                  <a:srgbClr val="1A2432"/>
                </a:solidFill>
                <a:latin typeface="Calibri" panose="020F0502020204030204" pitchFamily="34" charset="0"/>
                <a:ea typeface="Calibri" panose="020F0502020204030204" pitchFamily="34" charset="-122"/>
                <a:cs typeface="Calibri" panose="020F0502020204030204" pitchFamily="34" charset="-120"/>
              </a:rPr>
              <a:t>Predict product demand</a:t>
            </a:r>
            <a:endParaRPr lang="en-US" sz="1400" dirty="0"/>
          </a:p>
        </p:txBody>
      </p:sp>
      <p:sp>
        <p:nvSpPr>
          <p:cNvPr id="24" name="Shape 22"/>
          <p:cNvSpPr/>
          <p:nvPr/>
        </p:nvSpPr>
        <p:spPr>
          <a:xfrm>
            <a:off x="6278728" y="3840480"/>
            <a:ext cx="5364328" cy="932688"/>
          </a:xfrm>
          <a:prstGeom prst="roundRect">
            <a:avLst>
              <a:gd name="adj" fmla="val 8824"/>
            </a:avLst>
          </a:prstGeom>
          <a:solidFill>
            <a:srgbClr val="FFFFFF"/>
          </a:solidFill>
          <a:ln w="12700">
            <a:solidFill>
              <a:srgbClr val="E2E8EF"/>
            </a:solidFill>
            <a:prstDash val="solid"/>
          </a:ln>
        </p:spPr>
      </p:sp>
      <p:sp>
        <p:nvSpPr>
          <p:cNvPr id="25" name="Text 23"/>
          <p:cNvSpPr/>
          <p:nvPr/>
        </p:nvSpPr>
        <p:spPr>
          <a:xfrm>
            <a:off x="6415888" y="3840480"/>
            <a:ext cx="914400" cy="932688"/>
          </a:xfrm>
          <a:prstGeom prst="rect">
            <a:avLst/>
          </a:prstGeom>
          <a:noFill/>
        </p:spPr>
        <p:txBody>
          <a:bodyPr wrap="square" rtlCol="0" anchor="ctr"/>
          <a:lstStyle/>
          <a:p>
            <a:pPr marL="0" indent="0" algn="l">
              <a:buNone/>
            </a:pPr>
            <a:r>
              <a:rPr lang="en-US" sz="2800" b="1" dirty="0">
                <a:solidFill>
                  <a:srgbClr val="D7E7EA"/>
                </a:solidFill>
                <a:latin typeface="Cambria" panose="02040503050406030204" pitchFamily="34" charset="0"/>
                <a:ea typeface="Cambria" panose="02040503050406030204" pitchFamily="34" charset="-122"/>
                <a:cs typeface="Cambria" panose="02040503050406030204" pitchFamily="34" charset="-120"/>
              </a:rPr>
              <a:t>06</a:t>
            </a:r>
            <a:endParaRPr lang="en-US" sz="2800" dirty="0"/>
          </a:p>
        </p:txBody>
      </p:sp>
      <p:sp>
        <p:nvSpPr>
          <p:cNvPr id="26" name="Shape 24"/>
          <p:cNvSpPr/>
          <p:nvPr/>
        </p:nvSpPr>
        <p:spPr>
          <a:xfrm>
            <a:off x="7330288" y="3977640"/>
            <a:ext cx="18288" cy="658368"/>
          </a:xfrm>
          <a:prstGeom prst="rect">
            <a:avLst/>
          </a:prstGeom>
          <a:solidFill>
            <a:srgbClr val="E9EEF3"/>
          </a:solidFill>
        </p:spPr>
      </p:sp>
      <p:sp>
        <p:nvSpPr>
          <p:cNvPr id="27" name="Text 25"/>
          <p:cNvSpPr/>
          <p:nvPr/>
        </p:nvSpPr>
        <p:spPr>
          <a:xfrm>
            <a:off x="7513168" y="3840480"/>
            <a:ext cx="3947008" cy="932688"/>
          </a:xfrm>
          <a:prstGeom prst="rect">
            <a:avLst/>
          </a:prstGeom>
          <a:noFill/>
        </p:spPr>
        <p:txBody>
          <a:bodyPr wrap="square" rtlCol="0" anchor="ctr"/>
          <a:lstStyle/>
          <a:p>
            <a:pPr marL="0" indent="0">
              <a:buNone/>
            </a:pPr>
            <a:r>
              <a:rPr lang="en-US" sz="1400" b="1" dirty="0">
                <a:solidFill>
                  <a:srgbClr val="1A2432"/>
                </a:solidFill>
                <a:latin typeface="Calibri" panose="020F0502020204030204" pitchFamily="34" charset="0"/>
                <a:ea typeface="Calibri" panose="020F0502020204030204" pitchFamily="34" charset="-122"/>
                <a:cs typeface="Calibri" panose="020F0502020204030204" pitchFamily="34" charset="-120"/>
              </a:rPr>
              <a:t>Evaluate model performance</a:t>
            </a:r>
            <a:endParaRPr lang="en-US" sz="1400" dirty="0"/>
          </a:p>
        </p:txBody>
      </p:sp>
      <p:sp>
        <p:nvSpPr>
          <p:cNvPr id="28" name="Shape 26"/>
          <p:cNvSpPr/>
          <p:nvPr/>
        </p:nvSpPr>
        <p:spPr>
          <a:xfrm>
            <a:off x="548640" y="4937760"/>
            <a:ext cx="5364328" cy="932688"/>
          </a:xfrm>
          <a:prstGeom prst="roundRect">
            <a:avLst>
              <a:gd name="adj" fmla="val 8824"/>
            </a:avLst>
          </a:prstGeom>
          <a:solidFill>
            <a:srgbClr val="FFFFFF"/>
          </a:solidFill>
          <a:ln w="12700">
            <a:solidFill>
              <a:srgbClr val="E2E8EF"/>
            </a:solidFill>
            <a:prstDash val="solid"/>
          </a:ln>
        </p:spPr>
      </p:sp>
      <p:sp>
        <p:nvSpPr>
          <p:cNvPr id="29" name="Text 27"/>
          <p:cNvSpPr/>
          <p:nvPr/>
        </p:nvSpPr>
        <p:spPr>
          <a:xfrm>
            <a:off x="685800" y="4937760"/>
            <a:ext cx="914400" cy="932688"/>
          </a:xfrm>
          <a:prstGeom prst="rect">
            <a:avLst/>
          </a:prstGeom>
          <a:noFill/>
        </p:spPr>
        <p:txBody>
          <a:bodyPr wrap="square" rtlCol="0" anchor="ctr"/>
          <a:lstStyle/>
          <a:p>
            <a:pPr marL="0" indent="0" algn="l">
              <a:buNone/>
            </a:pPr>
            <a:r>
              <a:rPr lang="en-US" sz="2800" b="1" dirty="0">
                <a:solidFill>
                  <a:srgbClr val="D7E7EA"/>
                </a:solidFill>
                <a:latin typeface="Cambria" panose="02040503050406030204" pitchFamily="34" charset="0"/>
                <a:ea typeface="Cambria" panose="02040503050406030204" pitchFamily="34" charset="-122"/>
                <a:cs typeface="Cambria" panose="02040503050406030204" pitchFamily="34" charset="-120"/>
              </a:rPr>
              <a:t>07</a:t>
            </a:r>
            <a:endParaRPr lang="en-US" sz="2800" dirty="0"/>
          </a:p>
        </p:txBody>
      </p:sp>
      <p:sp>
        <p:nvSpPr>
          <p:cNvPr id="30" name="Shape 28"/>
          <p:cNvSpPr/>
          <p:nvPr/>
        </p:nvSpPr>
        <p:spPr>
          <a:xfrm>
            <a:off x="1600200" y="5074920"/>
            <a:ext cx="18288" cy="658368"/>
          </a:xfrm>
          <a:prstGeom prst="rect">
            <a:avLst/>
          </a:prstGeom>
          <a:solidFill>
            <a:srgbClr val="E9EEF3"/>
          </a:solidFill>
        </p:spPr>
      </p:sp>
      <p:sp>
        <p:nvSpPr>
          <p:cNvPr id="31" name="Text 29"/>
          <p:cNvSpPr/>
          <p:nvPr/>
        </p:nvSpPr>
        <p:spPr>
          <a:xfrm>
            <a:off x="1783080" y="4937760"/>
            <a:ext cx="3947008" cy="932688"/>
          </a:xfrm>
          <a:prstGeom prst="rect">
            <a:avLst/>
          </a:prstGeom>
          <a:noFill/>
        </p:spPr>
        <p:txBody>
          <a:bodyPr wrap="square" rtlCol="0" anchor="ctr"/>
          <a:lstStyle/>
          <a:p>
            <a:pPr marL="0" indent="0">
              <a:buNone/>
            </a:pPr>
            <a:r>
              <a:rPr lang="en-US" sz="1400" b="1" dirty="0">
                <a:solidFill>
                  <a:srgbClr val="1A2432"/>
                </a:solidFill>
                <a:latin typeface="Calibri" panose="020F0502020204030204" pitchFamily="34" charset="0"/>
                <a:ea typeface="Calibri" panose="020F0502020204030204" pitchFamily="34" charset="-122"/>
                <a:cs typeface="Calibri" panose="020F0502020204030204" pitchFamily="34" charset="-120"/>
              </a:rPr>
              <a:t>Provide an interactive Streamlit interface</a:t>
            </a:r>
            <a:endParaRPr lang="en-US" sz="1400" dirty="0"/>
          </a:p>
        </p:txBody>
      </p:sp>
      <p:sp>
        <p:nvSpPr>
          <p:cNvPr id="32" name="Text 30"/>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33" name="Text 31"/>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04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EXISTING SYSTEM</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Traditional Approaches to Demand Estimation</a:t>
            </a:r>
            <a:endParaRPr lang="en-US" sz="3000" dirty="0"/>
          </a:p>
        </p:txBody>
      </p:sp>
      <p:sp>
        <p:nvSpPr>
          <p:cNvPr id="4" name="Text 2"/>
          <p:cNvSpPr/>
          <p:nvPr/>
        </p:nvSpPr>
        <p:spPr>
          <a:xfrm>
            <a:off x="548640" y="1554480"/>
            <a:ext cx="11094415" cy="457200"/>
          </a:xfrm>
          <a:prstGeom prst="rect">
            <a:avLst/>
          </a:prstGeom>
          <a:noFill/>
        </p:spPr>
        <p:txBody>
          <a:bodyPr wrap="square" rtlCol="0" anchor="ctr"/>
          <a:lstStyle/>
          <a:p>
            <a:pPr marL="0" indent="0">
              <a:buNone/>
            </a:pPr>
            <a:r>
              <a:rPr lang="en-US" sz="1300" i="1" dirty="0">
                <a:solidFill>
                  <a:srgbClr val="64758B"/>
                </a:solidFill>
                <a:latin typeface="Calibri" panose="020F0502020204030204" pitchFamily="34" charset="0"/>
                <a:ea typeface="Calibri" panose="020F0502020204030204" pitchFamily="34" charset="-122"/>
                <a:cs typeface="Calibri" panose="020F0502020204030204" pitchFamily="34" charset="-120"/>
              </a:rPr>
              <a:t>Retailers have long relied on manual and semi-manual methods to plan stock. These approaches are workable at small scale but face real limits as data volume grows.</a:t>
            </a:r>
            <a:endParaRPr lang="en-US" sz="1300" dirty="0"/>
          </a:p>
        </p:txBody>
      </p:sp>
      <p:sp>
        <p:nvSpPr>
          <p:cNvPr id="5" name="Shape 3"/>
          <p:cNvSpPr/>
          <p:nvPr/>
        </p:nvSpPr>
        <p:spPr>
          <a:xfrm>
            <a:off x="548640" y="2240280"/>
            <a:ext cx="11094415" cy="694944"/>
          </a:xfrm>
          <a:prstGeom prst="roundRect">
            <a:avLst>
              <a:gd name="adj" fmla="val 10526"/>
            </a:avLst>
          </a:prstGeom>
          <a:solidFill>
            <a:srgbClr val="FFFFFF"/>
          </a:solidFill>
          <a:ln w="9525">
            <a:solidFill>
              <a:srgbClr val="E2E8EF"/>
            </a:solidFill>
            <a:prstDash val="solid"/>
          </a:ln>
        </p:spPr>
      </p:sp>
      <p:sp>
        <p:nvSpPr>
          <p:cNvPr id="6" name="Text 4"/>
          <p:cNvSpPr/>
          <p:nvPr/>
        </p:nvSpPr>
        <p:spPr>
          <a:xfrm>
            <a:off x="731520" y="2359152"/>
            <a:ext cx="457200" cy="457200"/>
          </a:xfrm>
          <a:prstGeom prst="ellipse">
            <a:avLst/>
          </a:prstGeom>
          <a:solidFill>
            <a:srgbClr val="1F7A8C"/>
          </a:solid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7" name="Text 5"/>
          <p:cNvSpPr/>
          <p:nvPr/>
        </p:nvSpPr>
        <p:spPr>
          <a:xfrm>
            <a:off x="1371600" y="2295144"/>
            <a:ext cx="2834640" cy="585216"/>
          </a:xfrm>
          <a:prstGeom prst="rect">
            <a:avLst/>
          </a:prstGeom>
          <a:noFill/>
        </p:spPr>
        <p:txBody>
          <a:bodyPr wrap="square" rtlCol="0" anchor="ctr"/>
          <a:lstStyle/>
          <a:p>
            <a:pPr marL="0" indent="0">
              <a:buNone/>
            </a:pPr>
            <a:r>
              <a:rPr lang="en-US" sz="1300" b="1" dirty="0">
                <a:solidFill>
                  <a:srgbClr val="12395B"/>
                </a:solidFill>
                <a:latin typeface="Cambria" panose="02040503050406030204" pitchFamily="34" charset="0"/>
                <a:ea typeface="Cambria" panose="02040503050406030204" pitchFamily="34" charset="-122"/>
                <a:cs typeface="Cambria" panose="02040503050406030204" pitchFamily="34" charset="-120"/>
              </a:rPr>
              <a:t>Manual Estimation</a:t>
            </a:r>
            <a:endParaRPr lang="en-US" sz="1300" dirty="0"/>
          </a:p>
        </p:txBody>
      </p:sp>
      <p:sp>
        <p:nvSpPr>
          <p:cNvPr id="8" name="Text 6"/>
          <p:cNvSpPr/>
          <p:nvPr/>
        </p:nvSpPr>
        <p:spPr>
          <a:xfrm>
            <a:off x="4297680" y="2295144"/>
            <a:ext cx="7162495" cy="585216"/>
          </a:xfrm>
          <a:prstGeom prst="rect">
            <a:avLst/>
          </a:prstGeom>
          <a:noFill/>
        </p:spPr>
        <p:txBody>
          <a:bodyPr wrap="square" rtlCol="0" anchor="ctr"/>
          <a:lstStyle/>
          <a:p>
            <a:pPr marL="0" indent="0">
              <a:lnSpc>
                <a:spcPts val="1300"/>
              </a:lnSpc>
              <a:buNone/>
            </a:pPr>
            <a:r>
              <a:rPr lang="en-US" sz="1150" dirty="0">
                <a:solidFill>
                  <a:srgbClr val="64758B"/>
                </a:solidFill>
                <a:latin typeface="Calibri" panose="020F0502020204030204" pitchFamily="34" charset="0"/>
                <a:ea typeface="Calibri" panose="020F0502020204030204" pitchFamily="34" charset="-122"/>
                <a:cs typeface="Calibri" panose="020F0502020204030204" pitchFamily="34" charset="-120"/>
              </a:rPr>
              <a:t>Staff estimate future orders using experience and intuition rather than systematic analysis.</a:t>
            </a:r>
            <a:endParaRPr lang="en-US" sz="1150" dirty="0"/>
          </a:p>
        </p:txBody>
      </p:sp>
      <p:sp>
        <p:nvSpPr>
          <p:cNvPr id="9" name="Shape 7"/>
          <p:cNvSpPr/>
          <p:nvPr/>
        </p:nvSpPr>
        <p:spPr>
          <a:xfrm>
            <a:off x="548640" y="3026664"/>
            <a:ext cx="11094415" cy="694944"/>
          </a:xfrm>
          <a:prstGeom prst="roundRect">
            <a:avLst>
              <a:gd name="adj" fmla="val 10526"/>
            </a:avLst>
          </a:prstGeom>
          <a:solidFill>
            <a:srgbClr val="EFF3F7"/>
          </a:solidFill>
          <a:ln w="9525">
            <a:solidFill>
              <a:srgbClr val="E2E8EF"/>
            </a:solidFill>
            <a:prstDash val="solid"/>
          </a:ln>
        </p:spPr>
      </p:sp>
      <p:sp>
        <p:nvSpPr>
          <p:cNvPr id="10" name="Text 8"/>
          <p:cNvSpPr/>
          <p:nvPr/>
        </p:nvSpPr>
        <p:spPr>
          <a:xfrm>
            <a:off x="731520" y="3145536"/>
            <a:ext cx="457200" cy="457200"/>
          </a:xfrm>
          <a:prstGeom prst="ellipse">
            <a:avLst/>
          </a:prstGeom>
          <a:solidFill>
            <a:srgbClr val="1F7A8C"/>
          </a:solid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1" name="Text 9"/>
          <p:cNvSpPr/>
          <p:nvPr/>
        </p:nvSpPr>
        <p:spPr>
          <a:xfrm>
            <a:off x="1371600" y="3081528"/>
            <a:ext cx="2834640" cy="585216"/>
          </a:xfrm>
          <a:prstGeom prst="rect">
            <a:avLst/>
          </a:prstGeom>
          <a:noFill/>
        </p:spPr>
        <p:txBody>
          <a:bodyPr wrap="square" rtlCol="0" anchor="ctr"/>
          <a:lstStyle/>
          <a:p>
            <a:pPr marL="0" indent="0">
              <a:buNone/>
            </a:pPr>
            <a:r>
              <a:rPr lang="en-US" sz="1300" b="1" dirty="0">
                <a:solidFill>
                  <a:srgbClr val="12395B"/>
                </a:solidFill>
                <a:latin typeface="Cambria" panose="02040503050406030204" pitchFamily="34" charset="0"/>
                <a:ea typeface="Cambria" panose="02040503050406030204" pitchFamily="34" charset="-122"/>
                <a:cs typeface="Cambria" panose="02040503050406030204" pitchFamily="34" charset="-120"/>
              </a:rPr>
              <a:t>Historical Averages</a:t>
            </a:r>
            <a:endParaRPr lang="en-US" sz="1300" dirty="0"/>
          </a:p>
        </p:txBody>
      </p:sp>
      <p:sp>
        <p:nvSpPr>
          <p:cNvPr id="12" name="Text 10"/>
          <p:cNvSpPr/>
          <p:nvPr/>
        </p:nvSpPr>
        <p:spPr>
          <a:xfrm>
            <a:off x="4297680" y="3081528"/>
            <a:ext cx="7162495" cy="585216"/>
          </a:xfrm>
          <a:prstGeom prst="rect">
            <a:avLst/>
          </a:prstGeom>
          <a:noFill/>
        </p:spPr>
        <p:txBody>
          <a:bodyPr wrap="square" rtlCol="0" anchor="ctr"/>
          <a:lstStyle/>
          <a:p>
            <a:pPr marL="0" indent="0">
              <a:lnSpc>
                <a:spcPts val="1300"/>
              </a:lnSpc>
              <a:buNone/>
            </a:pPr>
            <a:r>
              <a:rPr lang="en-US" sz="1150" dirty="0">
                <a:solidFill>
                  <a:srgbClr val="64758B"/>
                </a:solidFill>
                <a:latin typeface="Calibri" panose="020F0502020204030204" pitchFamily="34" charset="0"/>
                <a:ea typeface="Calibri" panose="020F0502020204030204" pitchFamily="34" charset="-122"/>
                <a:cs typeface="Calibri" panose="020F0502020204030204" pitchFamily="34" charset="-120"/>
              </a:rPr>
              <a:t>Simple averages of past sales are used as a rough guide for future stocking.</a:t>
            </a:r>
            <a:endParaRPr lang="en-US" sz="1150" dirty="0"/>
          </a:p>
        </p:txBody>
      </p:sp>
      <p:sp>
        <p:nvSpPr>
          <p:cNvPr id="13" name="Shape 11"/>
          <p:cNvSpPr/>
          <p:nvPr/>
        </p:nvSpPr>
        <p:spPr>
          <a:xfrm>
            <a:off x="548640" y="3813048"/>
            <a:ext cx="11094415" cy="694944"/>
          </a:xfrm>
          <a:prstGeom prst="roundRect">
            <a:avLst>
              <a:gd name="adj" fmla="val 10526"/>
            </a:avLst>
          </a:prstGeom>
          <a:solidFill>
            <a:srgbClr val="FFFFFF"/>
          </a:solidFill>
          <a:ln w="9525">
            <a:solidFill>
              <a:srgbClr val="E2E8EF"/>
            </a:solidFill>
            <a:prstDash val="solid"/>
          </a:ln>
        </p:spPr>
      </p:sp>
      <p:sp>
        <p:nvSpPr>
          <p:cNvPr id="14" name="Text 12"/>
          <p:cNvSpPr/>
          <p:nvPr/>
        </p:nvSpPr>
        <p:spPr>
          <a:xfrm>
            <a:off x="731520" y="3931920"/>
            <a:ext cx="457200" cy="457200"/>
          </a:xfrm>
          <a:prstGeom prst="ellipse">
            <a:avLst/>
          </a:prstGeom>
          <a:solidFill>
            <a:srgbClr val="1F7A8C"/>
          </a:solid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15" name="Text 13"/>
          <p:cNvSpPr/>
          <p:nvPr/>
        </p:nvSpPr>
        <p:spPr>
          <a:xfrm>
            <a:off x="1371600" y="3867912"/>
            <a:ext cx="2834640" cy="585216"/>
          </a:xfrm>
          <a:prstGeom prst="rect">
            <a:avLst/>
          </a:prstGeom>
          <a:noFill/>
        </p:spPr>
        <p:txBody>
          <a:bodyPr wrap="square" rtlCol="0" anchor="ctr"/>
          <a:lstStyle/>
          <a:p>
            <a:pPr marL="0" indent="0">
              <a:buNone/>
            </a:pPr>
            <a:r>
              <a:rPr lang="en-US" sz="1300" b="1" dirty="0">
                <a:solidFill>
                  <a:srgbClr val="12395B"/>
                </a:solidFill>
                <a:latin typeface="Cambria" panose="02040503050406030204" pitchFamily="34" charset="0"/>
                <a:ea typeface="Cambria" panose="02040503050406030204" pitchFamily="34" charset="-122"/>
                <a:cs typeface="Cambria" panose="02040503050406030204" pitchFamily="34" charset="-120"/>
              </a:rPr>
              <a:t>Spreadsheet-Based Analysis</a:t>
            </a:r>
            <a:endParaRPr lang="en-US" sz="1300" dirty="0"/>
          </a:p>
        </p:txBody>
      </p:sp>
      <p:sp>
        <p:nvSpPr>
          <p:cNvPr id="16" name="Text 14"/>
          <p:cNvSpPr/>
          <p:nvPr/>
        </p:nvSpPr>
        <p:spPr>
          <a:xfrm>
            <a:off x="4297680" y="3867912"/>
            <a:ext cx="7162495" cy="585216"/>
          </a:xfrm>
          <a:prstGeom prst="rect">
            <a:avLst/>
          </a:prstGeom>
          <a:noFill/>
        </p:spPr>
        <p:txBody>
          <a:bodyPr wrap="square" rtlCol="0" anchor="ctr"/>
          <a:lstStyle/>
          <a:p>
            <a:pPr marL="0" indent="0">
              <a:lnSpc>
                <a:spcPts val="1300"/>
              </a:lnSpc>
              <a:buNone/>
            </a:pPr>
            <a:r>
              <a:rPr lang="en-US" sz="1150" dirty="0">
                <a:solidFill>
                  <a:srgbClr val="64758B"/>
                </a:solidFill>
                <a:latin typeface="Calibri" panose="020F0502020204030204" pitchFamily="34" charset="0"/>
                <a:ea typeface="Calibri" panose="020F0502020204030204" pitchFamily="34" charset="-122"/>
                <a:cs typeface="Calibri" panose="020F0502020204030204" pitchFamily="34" charset="-120"/>
              </a:rPr>
              <a:t>Data is tracked and analyzed in spreadsheets with manual formulas and charts.</a:t>
            </a:r>
            <a:endParaRPr lang="en-US" sz="1150" dirty="0"/>
          </a:p>
        </p:txBody>
      </p:sp>
      <p:sp>
        <p:nvSpPr>
          <p:cNvPr id="17" name="Shape 15"/>
          <p:cNvSpPr/>
          <p:nvPr/>
        </p:nvSpPr>
        <p:spPr>
          <a:xfrm>
            <a:off x="548640" y="4599432"/>
            <a:ext cx="11094415" cy="694944"/>
          </a:xfrm>
          <a:prstGeom prst="roundRect">
            <a:avLst>
              <a:gd name="adj" fmla="val 10526"/>
            </a:avLst>
          </a:prstGeom>
          <a:solidFill>
            <a:srgbClr val="EFF3F7"/>
          </a:solidFill>
          <a:ln w="9525">
            <a:solidFill>
              <a:srgbClr val="E2E8EF"/>
            </a:solidFill>
            <a:prstDash val="solid"/>
          </a:ln>
        </p:spPr>
      </p:sp>
      <p:sp>
        <p:nvSpPr>
          <p:cNvPr id="18" name="Text 16"/>
          <p:cNvSpPr/>
          <p:nvPr/>
        </p:nvSpPr>
        <p:spPr>
          <a:xfrm>
            <a:off x="731520" y="4718304"/>
            <a:ext cx="457200" cy="457200"/>
          </a:xfrm>
          <a:prstGeom prst="ellipse">
            <a:avLst/>
          </a:prstGeom>
          <a:solidFill>
            <a:srgbClr val="1F7A8C"/>
          </a:solid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19" name="Text 17"/>
          <p:cNvSpPr/>
          <p:nvPr/>
        </p:nvSpPr>
        <p:spPr>
          <a:xfrm>
            <a:off x="1371600" y="4654296"/>
            <a:ext cx="2834640" cy="585216"/>
          </a:xfrm>
          <a:prstGeom prst="rect">
            <a:avLst/>
          </a:prstGeom>
          <a:noFill/>
        </p:spPr>
        <p:txBody>
          <a:bodyPr wrap="square" rtlCol="0" anchor="ctr"/>
          <a:lstStyle/>
          <a:p>
            <a:pPr marL="0" indent="0">
              <a:buNone/>
            </a:pPr>
            <a:r>
              <a:rPr lang="en-US" sz="1300" b="1" dirty="0">
                <a:solidFill>
                  <a:srgbClr val="12395B"/>
                </a:solidFill>
                <a:latin typeface="Cambria" panose="02040503050406030204" pitchFamily="34" charset="0"/>
                <a:ea typeface="Cambria" panose="02040503050406030204" pitchFamily="34" charset="-122"/>
                <a:cs typeface="Cambria" panose="02040503050406030204" pitchFamily="34" charset="-120"/>
              </a:rPr>
              <a:t>Limited Automation</a:t>
            </a:r>
            <a:endParaRPr lang="en-US" sz="1300" dirty="0"/>
          </a:p>
        </p:txBody>
      </p:sp>
      <p:sp>
        <p:nvSpPr>
          <p:cNvPr id="20" name="Text 18"/>
          <p:cNvSpPr/>
          <p:nvPr/>
        </p:nvSpPr>
        <p:spPr>
          <a:xfrm>
            <a:off x="4297680" y="4654296"/>
            <a:ext cx="7162495" cy="585216"/>
          </a:xfrm>
          <a:prstGeom prst="rect">
            <a:avLst/>
          </a:prstGeom>
          <a:noFill/>
        </p:spPr>
        <p:txBody>
          <a:bodyPr wrap="square" rtlCol="0" anchor="ctr"/>
          <a:lstStyle/>
          <a:p>
            <a:pPr marL="0" indent="0">
              <a:lnSpc>
                <a:spcPts val="1300"/>
              </a:lnSpc>
              <a:buNone/>
            </a:pPr>
            <a:r>
              <a:rPr lang="en-US" sz="1150" dirty="0">
                <a:solidFill>
                  <a:srgbClr val="64758B"/>
                </a:solidFill>
                <a:latin typeface="Calibri" panose="020F0502020204030204" pitchFamily="34" charset="0"/>
                <a:ea typeface="Calibri" panose="020F0502020204030204" pitchFamily="34" charset="-122"/>
                <a:cs typeface="Calibri" panose="020F0502020204030204" pitchFamily="34" charset="-120"/>
              </a:rPr>
              <a:t>Most of the estimation workflow needs to be repeated by hand for every product.</a:t>
            </a:r>
            <a:endParaRPr lang="en-US" sz="1150" dirty="0"/>
          </a:p>
        </p:txBody>
      </p:sp>
      <p:sp>
        <p:nvSpPr>
          <p:cNvPr id="21" name="Shape 19"/>
          <p:cNvSpPr/>
          <p:nvPr/>
        </p:nvSpPr>
        <p:spPr>
          <a:xfrm>
            <a:off x="548640" y="5385816"/>
            <a:ext cx="11094415" cy="694944"/>
          </a:xfrm>
          <a:prstGeom prst="roundRect">
            <a:avLst>
              <a:gd name="adj" fmla="val 10526"/>
            </a:avLst>
          </a:prstGeom>
          <a:solidFill>
            <a:srgbClr val="FFFFFF"/>
          </a:solidFill>
          <a:ln w="9525">
            <a:solidFill>
              <a:srgbClr val="E2E8EF"/>
            </a:solidFill>
            <a:prstDash val="solid"/>
          </a:ln>
        </p:spPr>
      </p:sp>
      <p:sp>
        <p:nvSpPr>
          <p:cNvPr id="22" name="Text 20"/>
          <p:cNvSpPr/>
          <p:nvPr/>
        </p:nvSpPr>
        <p:spPr>
          <a:xfrm>
            <a:off x="731520" y="5504688"/>
            <a:ext cx="457200" cy="457200"/>
          </a:xfrm>
          <a:prstGeom prst="ellipse">
            <a:avLst/>
          </a:prstGeom>
          <a:solidFill>
            <a:srgbClr val="1F7A8C"/>
          </a:solid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
        <p:nvSpPr>
          <p:cNvPr id="23" name="Text 21"/>
          <p:cNvSpPr/>
          <p:nvPr/>
        </p:nvSpPr>
        <p:spPr>
          <a:xfrm>
            <a:off x="1371600" y="5440680"/>
            <a:ext cx="2834640" cy="585216"/>
          </a:xfrm>
          <a:prstGeom prst="rect">
            <a:avLst/>
          </a:prstGeom>
          <a:noFill/>
        </p:spPr>
        <p:txBody>
          <a:bodyPr wrap="square" rtlCol="0" anchor="ctr"/>
          <a:lstStyle/>
          <a:p>
            <a:pPr marL="0" indent="0">
              <a:buNone/>
            </a:pPr>
            <a:r>
              <a:rPr lang="en-US" sz="1300" b="1" dirty="0">
                <a:solidFill>
                  <a:srgbClr val="12395B"/>
                </a:solidFill>
                <a:latin typeface="Cambria" panose="02040503050406030204" pitchFamily="34" charset="0"/>
                <a:ea typeface="Cambria" panose="02040503050406030204" pitchFamily="34" charset="-122"/>
                <a:cs typeface="Cambria" panose="02040503050406030204" pitchFamily="34" charset="-120"/>
              </a:rPr>
              <a:t>Difficulty With Large Datasets</a:t>
            </a:r>
            <a:endParaRPr lang="en-US" sz="1300" dirty="0"/>
          </a:p>
        </p:txBody>
      </p:sp>
      <p:sp>
        <p:nvSpPr>
          <p:cNvPr id="24" name="Text 22"/>
          <p:cNvSpPr/>
          <p:nvPr/>
        </p:nvSpPr>
        <p:spPr>
          <a:xfrm>
            <a:off x="4297680" y="5440680"/>
            <a:ext cx="7162495" cy="585216"/>
          </a:xfrm>
          <a:prstGeom prst="rect">
            <a:avLst/>
          </a:prstGeom>
          <a:noFill/>
        </p:spPr>
        <p:txBody>
          <a:bodyPr wrap="square" rtlCol="0" anchor="ctr"/>
          <a:lstStyle/>
          <a:p>
            <a:pPr marL="0" indent="0">
              <a:lnSpc>
                <a:spcPts val="1300"/>
              </a:lnSpc>
              <a:buNone/>
            </a:pPr>
            <a:r>
              <a:rPr lang="en-US" sz="1150" dirty="0">
                <a:solidFill>
                  <a:srgbClr val="64758B"/>
                </a:solidFill>
                <a:latin typeface="Calibri" panose="020F0502020204030204" pitchFamily="34" charset="0"/>
                <a:ea typeface="Calibri" panose="020F0502020204030204" pitchFamily="34" charset="-122"/>
                <a:cs typeface="Calibri" panose="020F0502020204030204" pitchFamily="34" charset="-120"/>
              </a:rPr>
              <a:t>These methods become slow and error-prone once transaction volumes grow large.</a:t>
            </a:r>
            <a:endParaRPr lang="en-US" sz="1150" dirty="0"/>
          </a:p>
        </p:txBody>
      </p:sp>
      <p:sp>
        <p:nvSpPr>
          <p:cNvPr id="25" name="Text 23"/>
          <p:cNvSpPr/>
          <p:nvPr/>
        </p:nvSpPr>
        <p:spPr>
          <a:xfrm>
            <a:off x="548640" y="6217920"/>
            <a:ext cx="11094415" cy="365760"/>
          </a:xfrm>
          <a:prstGeom prst="rect">
            <a:avLst/>
          </a:prstGeom>
          <a:noFill/>
        </p:spPr>
        <p:txBody>
          <a:bodyPr wrap="square" rtlCol="0" anchor="ctr"/>
          <a:lstStyle/>
          <a:p>
            <a:pPr marL="0" indent="0">
              <a:buNone/>
            </a:pPr>
            <a:r>
              <a:rPr lang="en-US" sz="1150" i="1" dirty="0">
                <a:solidFill>
                  <a:srgbClr val="12395B"/>
                </a:solidFill>
                <a:latin typeface="Calibri" panose="020F0502020204030204" pitchFamily="34" charset="0"/>
                <a:ea typeface="Calibri" panose="020F0502020204030204" pitchFamily="34" charset="-122"/>
                <a:cs typeface="Calibri" panose="020F0502020204030204" pitchFamily="34" charset="-120"/>
              </a:rPr>
              <a:t>These methods are not useless — they still work for small, simple operations. The limitation is scale, consistency and speed with large transaction datasets.</a:t>
            </a:r>
            <a:endParaRPr lang="en-US" sz="1150" dirty="0"/>
          </a:p>
        </p:txBody>
      </p:sp>
      <p:sp>
        <p:nvSpPr>
          <p:cNvPr id="26" name="Text 24"/>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27" name="Text 25"/>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05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PROPOSED SYSTEM</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End-to-End Automated Prediction Workflow</a:t>
            </a:r>
            <a:endParaRPr lang="en-US" sz="3000" dirty="0"/>
          </a:p>
        </p:txBody>
      </p:sp>
      <p:sp>
        <p:nvSpPr>
          <p:cNvPr id="4" name="Text 2"/>
          <p:cNvSpPr/>
          <p:nvPr/>
        </p:nvSpPr>
        <p:spPr>
          <a:xfrm>
            <a:off x="822960" y="1691640"/>
            <a:ext cx="4572000" cy="621792"/>
          </a:xfrm>
          <a:prstGeom prst="roundRect">
            <a:avLst>
              <a:gd name="adj" fmla="val 11765"/>
            </a:avLst>
          </a:prstGeom>
          <a:solidFill>
            <a:srgbClr val="12395B"/>
          </a:solidFill>
        </p:spPr>
        <p:txBody>
          <a:bodyPr wrap="square" lIns="635" tIns="635" rIns="635" bIns="635" rtlCol="0" anchor="ctr"/>
          <a:lstStyle/>
          <a:p>
            <a:pPr marL="0" indent="0" algn="ctr">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Raw Retail Data</a:t>
            </a:r>
            <a:endParaRPr lang="en-US" sz="1350" dirty="0"/>
          </a:p>
        </p:txBody>
      </p:sp>
      <p:sp>
        <p:nvSpPr>
          <p:cNvPr id="5" name="Shape 3"/>
          <p:cNvSpPr/>
          <p:nvPr/>
        </p:nvSpPr>
        <p:spPr>
          <a:xfrm>
            <a:off x="2990088" y="2340864"/>
            <a:ext cx="237744" cy="201168"/>
          </a:xfrm>
          <a:prstGeom prst="downArrow">
            <a:avLst/>
          </a:prstGeom>
          <a:solidFill>
            <a:srgbClr val="64758B"/>
          </a:solidFill>
        </p:spPr>
      </p:sp>
      <p:sp>
        <p:nvSpPr>
          <p:cNvPr id="6" name="Text 4"/>
          <p:cNvSpPr/>
          <p:nvPr/>
        </p:nvSpPr>
        <p:spPr>
          <a:xfrm>
            <a:off x="822960" y="2569464"/>
            <a:ext cx="4572000" cy="621792"/>
          </a:xfrm>
          <a:prstGeom prst="roundRect">
            <a:avLst>
              <a:gd name="adj" fmla="val 11765"/>
            </a:avLst>
          </a:prstGeom>
          <a:solidFill>
            <a:srgbClr val="12395B"/>
          </a:solidFill>
        </p:spPr>
        <p:txBody>
          <a:bodyPr wrap="square" lIns="635" tIns="635" rIns="635" bIns="635" rtlCol="0" anchor="ctr"/>
          <a:lstStyle/>
          <a:p>
            <a:pPr marL="0" indent="0" algn="ctr">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Preprocessing</a:t>
            </a:r>
            <a:endParaRPr lang="en-US" sz="1350" dirty="0"/>
          </a:p>
        </p:txBody>
      </p:sp>
      <p:sp>
        <p:nvSpPr>
          <p:cNvPr id="7" name="Shape 5"/>
          <p:cNvSpPr/>
          <p:nvPr/>
        </p:nvSpPr>
        <p:spPr>
          <a:xfrm>
            <a:off x="2990088" y="3218688"/>
            <a:ext cx="237744" cy="201168"/>
          </a:xfrm>
          <a:prstGeom prst="downArrow">
            <a:avLst/>
          </a:prstGeom>
          <a:solidFill>
            <a:srgbClr val="64758B"/>
          </a:solidFill>
        </p:spPr>
      </p:sp>
      <p:sp>
        <p:nvSpPr>
          <p:cNvPr id="8" name="Text 6"/>
          <p:cNvSpPr/>
          <p:nvPr/>
        </p:nvSpPr>
        <p:spPr>
          <a:xfrm>
            <a:off x="822960" y="3447288"/>
            <a:ext cx="4572000" cy="621792"/>
          </a:xfrm>
          <a:prstGeom prst="roundRect">
            <a:avLst>
              <a:gd name="adj" fmla="val 11765"/>
            </a:avLst>
          </a:prstGeom>
          <a:solidFill>
            <a:srgbClr val="12395B"/>
          </a:solidFill>
        </p:spPr>
        <p:txBody>
          <a:bodyPr wrap="square" lIns="635" tIns="635" rIns="635" bIns="635" rtlCol="0" anchor="ctr"/>
          <a:lstStyle/>
          <a:p>
            <a:pPr marL="0" indent="0" algn="ctr">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Daily Demand Aggregation</a:t>
            </a:r>
            <a:endParaRPr lang="en-US" sz="1350" dirty="0"/>
          </a:p>
        </p:txBody>
      </p:sp>
      <p:sp>
        <p:nvSpPr>
          <p:cNvPr id="9" name="Shape 7"/>
          <p:cNvSpPr/>
          <p:nvPr/>
        </p:nvSpPr>
        <p:spPr>
          <a:xfrm>
            <a:off x="2990088" y="4096512"/>
            <a:ext cx="237744" cy="201168"/>
          </a:xfrm>
          <a:prstGeom prst="downArrow">
            <a:avLst/>
          </a:prstGeom>
          <a:solidFill>
            <a:srgbClr val="64758B"/>
          </a:solidFill>
        </p:spPr>
      </p:sp>
      <p:sp>
        <p:nvSpPr>
          <p:cNvPr id="10" name="Text 8"/>
          <p:cNvSpPr/>
          <p:nvPr/>
        </p:nvSpPr>
        <p:spPr>
          <a:xfrm>
            <a:off x="822960" y="4325112"/>
            <a:ext cx="4572000" cy="621792"/>
          </a:xfrm>
          <a:prstGeom prst="roundRect">
            <a:avLst>
              <a:gd name="adj" fmla="val 11765"/>
            </a:avLst>
          </a:prstGeom>
          <a:solidFill>
            <a:srgbClr val="12395B"/>
          </a:solidFill>
        </p:spPr>
        <p:txBody>
          <a:bodyPr wrap="square" lIns="635" tIns="635" rIns="635" bIns="635" rtlCol="0" anchor="ctr"/>
          <a:lstStyle/>
          <a:p>
            <a:pPr marL="0" indent="0" algn="ctr">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 Engineering</a:t>
            </a:r>
            <a:endParaRPr lang="en-US" sz="1350" dirty="0"/>
          </a:p>
        </p:txBody>
      </p:sp>
      <p:sp>
        <p:nvSpPr>
          <p:cNvPr id="11" name="Text 9"/>
          <p:cNvSpPr/>
          <p:nvPr/>
        </p:nvSpPr>
        <p:spPr>
          <a:xfrm>
            <a:off x="6858000" y="1691640"/>
            <a:ext cx="4572000" cy="621792"/>
          </a:xfrm>
          <a:prstGeom prst="roundRect">
            <a:avLst>
              <a:gd name="adj" fmla="val 11765"/>
            </a:avLst>
          </a:prstGeom>
          <a:solidFill>
            <a:srgbClr val="1F7A8C"/>
          </a:solidFill>
        </p:spPr>
        <p:txBody>
          <a:bodyPr wrap="square" lIns="635" tIns="635" rIns="635" bIns="635" rtlCol="0" anchor="ctr"/>
          <a:lstStyle/>
          <a:p>
            <a:pPr marL="0" indent="0" algn="ctr">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Random Forest Model</a:t>
            </a:r>
            <a:endParaRPr lang="en-US" sz="1350" dirty="0"/>
          </a:p>
        </p:txBody>
      </p:sp>
      <p:sp>
        <p:nvSpPr>
          <p:cNvPr id="12" name="Shape 10"/>
          <p:cNvSpPr/>
          <p:nvPr/>
        </p:nvSpPr>
        <p:spPr>
          <a:xfrm>
            <a:off x="9025128" y="2340864"/>
            <a:ext cx="237744" cy="201168"/>
          </a:xfrm>
          <a:prstGeom prst="downArrow">
            <a:avLst/>
          </a:prstGeom>
          <a:solidFill>
            <a:srgbClr val="64758B"/>
          </a:solidFill>
        </p:spPr>
      </p:sp>
      <p:sp>
        <p:nvSpPr>
          <p:cNvPr id="13" name="Text 11"/>
          <p:cNvSpPr/>
          <p:nvPr/>
        </p:nvSpPr>
        <p:spPr>
          <a:xfrm>
            <a:off x="6858000" y="2569464"/>
            <a:ext cx="4572000" cy="621792"/>
          </a:xfrm>
          <a:prstGeom prst="roundRect">
            <a:avLst>
              <a:gd name="adj" fmla="val 11765"/>
            </a:avLst>
          </a:prstGeom>
          <a:solidFill>
            <a:srgbClr val="1F7A8C"/>
          </a:solidFill>
        </p:spPr>
        <p:txBody>
          <a:bodyPr wrap="square" lIns="635" tIns="635" rIns="635" bIns="635" rtlCol="0" anchor="ctr"/>
          <a:lstStyle/>
          <a:p>
            <a:pPr marL="0" indent="0" algn="ctr">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 Evaluation</a:t>
            </a:r>
            <a:endParaRPr lang="en-US" sz="1350" dirty="0"/>
          </a:p>
        </p:txBody>
      </p:sp>
      <p:sp>
        <p:nvSpPr>
          <p:cNvPr id="14" name="Shape 12"/>
          <p:cNvSpPr/>
          <p:nvPr/>
        </p:nvSpPr>
        <p:spPr>
          <a:xfrm>
            <a:off x="9025128" y="3218688"/>
            <a:ext cx="237744" cy="201168"/>
          </a:xfrm>
          <a:prstGeom prst="downArrow">
            <a:avLst/>
          </a:prstGeom>
          <a:solidFill>
            <a:srgbClr val="64758B"/>
          </a:solidFill>
        </p:spPr>
      </p:sp>
      <p:sp>
        <p:nvSpPr>
          <p:cNvPr id="15" name="Text 13"/>
          <p:cNvSpPr/>
          <p:nvPr/>
        </p:nvSpPr>
        <p:spPr>
          <a:xfrm>
            <a:off x="6858000" y="3447288"/>
            <a:ext cx="4572000" cy="621792"/>
          </a:xfrm>
          <a:prstGeom prst="roundRect">
            <a:avLst>
              <a:gd name="adj" fmla="val 11765"/>
            </a:avLst>
          </a:prstGeom>
          <a:solidFill>
            <a:srgbClr val="1F7A8C"/>
          </a:solidFill>
        </p:spPr>
        <p:txBody>
          <a:bodyPr wrap="square" lIns="635" tIns="635" rIns="635" bIns="635" rtlCol="0" anchor="ctr"/>
          <a:lstStyle/>
          <a:p>
            <a:pPr marL="0" indent="0" algn="ctr">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Demand Prediction</a:t>
            </a:r>
            <a:endParaRPr lang="en-US" sz="1350" dirty="0"/>
          </a:p>
        </p:txBody>
      </p:sp>
      <p:sp>
        <p:nvSpPr>
          <p:cNvPr id="16" name="Shape 14"/>
          <p:cNvSpPr/>
          <p:nvPr/>
        </p:nvSpPr>
        <p:spPr>
          <a:xfrm>
            <a:off x="9025128" y="4096512"/>
            <a:ext cx="237744" cy="201168"/>
          </a:xfrm>
          <a:prstGeom prst="downArrow">
            <a:avLst/>
          </a:prstGeom>
          <a:solidFill>
            <a:srgbClr val="64758B"/>
          </a:solidFill>
        </p:spPr>
      </p:sp>
      <p:sp>
        <p:nvSpPr>
          <p:cNvPr id="17" name="Text 15"/>
          <p:cNvSpPr/>
          <p:nvPr/>
        </p:nvSpPr>
        <p:spPr>
          <a:xfrm>
            <a:off x="6858000" y="4325112"/>
            <a:ext cx="4572000" cy="621792"/>
          </a:xfrm>
          <a:prstGeom prst="roundRect">
            <a:avLst>
              <a:gd name="adj" fmla="val 11765"/>
            </a:avLst>
          </a:prstGeom>
          <a:solidFill>
            <a:srgbClr val="E0982E"/>
          </a:solidFill>
        </p:spPr>
        <p:txBody>
          <a:bodyPr wrap="square" lIns="635" tIns="635" rIns="635" bIns="635" rtlCol="0" anchor="ctr"/>
          <a:lstStyle/>
          <a:p>
            <a:pPr marL="0" indent="0" algn="ctr">
              <a:buNone/>
            </a:pPr>
            <a:r>
              <a:rPr lang="en-US" sz="1350" b="1" dirty="0">
                <a:solidFill>
                  <a:srgbClr val="0A2038"/>
                </a:solidFill>
                <a:latin typeface="Calibri" panose="020F0502020204030204" pitchFamily="34" charset="0"/>
                <a:ea typeface="Calibri" panose="020F0502020204030204" pitchFamily="34" charset="-122"/>
                <a:cs typeface="Calibri" panose="020F0502020204030204" pitchFamily="34" charset="-120"/>
              </a:rPr>
              <a:t>Streamlit Web Application</a:t>
            </a:r>
            <a:endParaRPr lang="en-US" sz="1350" dirty="0"/>
          </a:p>
        </p:txBody>
      </p:sp>
      <p:sp>
        <p:nvSpPr>
          <p:cNvPr id="18" name="Shape 16"/>
          <p:cNvSpPr/>
          <p:nvPr/>
        </p:nvSpPr>
        <p:spPr>
          <a:xfrm>
            <a:off x="5440680" y="4535424"/>
            <a:ext cx="237744" cy="201168"/>
          </a:xfrm>
          <a:prstGeom prst="rightArrow">
            <a:avLst/>
          </a:prstGeom>
          <a:solidFill>
            <a:srgbClr val="E0982E"/>
          </a:solidFill>
        </p:spPr>
      </p:sp>
      <p:sp>
        <p:nvSpPr>
          <p:cNvPr id="19" name="Shape 17"/>
          <p:cNvSpPr/>
          <p:nvPr/>
        </p:nvSpPr>
        <p:spPr>
          <a:xfrm>
            <a:off x="5532120" y="2002536"/>
            <a:ext cx="0" cy="2633472"/>
          </a:xfrm>
          <a:prstGeom prst="line">
            <a:avLst/>
          </a:prstGeom>
          <a:noFill/>
          <a:ln w="19050">
            <a:solidFill>
              <a:srgbClr val="C7D2DC"/>
            </a:solidFill>
            <a:prstDash val="dash"/>
          </a:ln>
        </p:spPr>
      </p:sp>
      <p:sp>
        <p:nvSpPr>
          <p:cNvPr id="20" name="Text 18"/>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21" name="Text 19"/>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06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DATASET</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UCI Online Retail Dataset</a:t>
            </a:r>
            <a:endParaRPr lang="en-US" sz="3000" dirty="0"/>
          </a:p>
        </p:txBody>
      </p:sp>
      <p:sp>
        <p:nvSpPr>
          <p:cNvPr id="4" name="Shape 2"/>
          <p:cNvSpPr/>
          <p:nvPr/>
        </p:nvSpPr>
        <p:spPr>
          <a:xfrm>
            <a:off x="548640" y="1645920"/>
            <a:ext cx="3840480" cy="4114800"/>
          </a:xfrm>
          <a:prstGeom prst="roundRect">
            <a:avLst>
              <a:gd name="adj" fmla="val 2857"/>
            </a:avLst>
          </a:prstGeom>
          <a:solidFill>
            <a:srgbClr val="12395B"/>
          </a:solidFill>
        </p:spPr>
      </p:sp>
      <p:sp>
        <p:nvSpPr>
          <p:cNvPr id="5" name="Text 3"/>
          <p:cNvSpPr/>
          <p:nvPr/>
        </p:nvSpPr>
        <p:spPr>
          <a:xfrm>
            <a:off x="822960" y="1965960"/>
            <a:ext cx="3291840" cy="274320"/>
          </a:xfrm>
          <a:prstGeom prst="rect">
            <a:avLst/>
          </a:prstGeom>
          <a:noFill/>
        </p:spPr>
        <p:txBody>
          <a:bodyPr wrap="square" rtlCol="0" anchor="ctr"/>
          <a:lstStyle/>
          <a:p>
            <a:pPr marL="0" indent="0">
              <a:buNone/>
            </a:pPr>
            <a:r>
              <a:rPr lang="en-US" sz="1100" b="1" kern="0" spc="150" dirty="0">
                <a:solidFill>
                  <a:srgbClr val="E0982E"/>
                </a:solidFill>
                <a:latin typeface="Calibri" panose="020F0502020204030204" pitchFamily="34" charset="0"/>
                <a:ea typeface="Calibri" panose="020F0502020204030204" pitchFamily="34" charset="-122"/>
                <a:cs typeface="Calibri" panose="020F0502020204030204" pitchFamily="34" charset="-120"/>
              </a:rPr>
              <a:t>ORIGINAL RECORDS</a:t>
            </a:r>
            <a:endParaRPr lang="en-US" sz="1100" dirty="0"/>
          </a:p>
        </p:txBody>
      </p:sp>
      <p:sp>
        <p:nvSpPr>
          <p:cNvPr id="6" name="Text 4"/>
          <p:cNvSpPr/>
          <p:nvPr/>
        </p:nvSpPr>
        <p:spPr>
          <a:xfrm>
            <a:off x="822960" y="2286000"/>
            <a:ext cx="3291840" cy="914400"/>
          </a:xfrm>
          <a:prstGeom prst="rect">
            <a:avLst/>
          </a:prstGeom>
          <a:noFill/>
        </p:spPr>
        <p:txBody>
          <a:bodyPr wrap="square" rtlCol="0" anchor="ctr"/>
          <a:lstStyle/>
          <a:p>
            <a:pPr marL="0" indent="0">
              <a:buNone/>
            </a:pPr>
            <a:r>
              <a:rPr lang="en-US" sz="4600" b="1" dirty="0">
                <a:solidFill>
                  <a:srgbClr val="FFFFFF"/>
                </a:solidFill>
                <a:latin typeface="Cambria" panose="02040503050406030204" pitchFamily="34" charset="0"/>
                <a:ea typeface="Cambria" panose="02040503050406030204" pitchFamily="34" charset="-122"/>
                <a:cs typeface="Cambria" panose="02040503050406030204" pitchFamily="34" charset="-120"/>
              </a:rPr>
              <a:t>541,909</a:t>
            </a:r>
            <a:endParaRPr lang="en-US" sz="4600" dirty="0"/>
          </a:p>
        </p:txBody>
      </p:sp>
      <p:sp>
        <p:nvSpPr>
          <p:cNvPr id="7" name="Text 5"/>
          <p:cNvSpPr/>
          <p:nvPr/>
        </p:nvSpPr>
        <p:spPr>
          <a:xfrm>
            <a:off x="822960" y="3200400"/>
            <a:ext cx="3291840" cy="365760"/>
          </a:xfrm>
          <a:prstGeom prst="rect">
            <a:avLst/>
          </a:prstGeom>
          <a:noFill/>
        </p:spPr>
        <p:txBody>
          <a:bodyPr wrap="square" rtlCol="0" anchor="ctr"/>
          <a:lstStyle/>
          <a:p>
            <a:pPr marL="0" indent="0">
              <a:buNone/>
            </a:pPr>
            <a:r>
              <a:rPr lang="en-US" sz="1250" dirty="0">
                <a:solidFill>
                  <a:srgbClr val="C8D6E5"/>
                </a:solidFill>
                <a:latin typeface="Calibri" panose="020F0502020204030204" pitchFamily="34" charset="0"/>
                <a:ea typeface="Calibri" panose="020F0502020204030204" pitchFamily="34" charset="-122"/>
                <a:cs typeface="Calibri" panose="020F0502020204030204" pitchFamily="34" charset="-120"/>
              </a:rPr>
              <a:t>real retail transaction records</a:t>
            </a:r>
            <a:endParaRPr lang="en-US" sz="1250" dirty="0"/>
          </a:p>
        </p:txBody>
      </p:sp>
      <p:sp>
        <p:nvSpPr>
          <p:cNvPr id="8" name="Shape 6"/>
          <p:cNvSpPr/>
          <p:nvPr/>
        </p:nvSpPr>
        <p:spPr>
          <a:xfrm>
            <a:off x="822960" y="3703320"/>
            <a:ext cx="3291840" cy="18288"/>
          </a:xfrm>
          <a:prstGeom prst="rect">
            <a:avLst/>
          </a:prstGeom>
          <a:solidFill>
            <a:srgbClr val="27507A"/>
          </a:solidFill>
        </p:spPr>
      </p:sp>
      <p:sp>
        <p:nvSpPr>
          <p:cNvPr id="9" name="Text 7"/>
          <p:cNvSpPr/>
          <p:nvPr/>
        </p:nvSpPr>
        <p:spPr>
          <a:xfrm>
            <a:off x="822960" y="3886200"/>
            <a:ext cx="3291840" cy="274320"/>
          </a:xfrm>
          <a:prstGeom prst="rect">
            <a:avLst/>
          </a:prstGeom>
          <a:noFill/>
        </p:spPr>
        <p:txBody>
          <a:bodyPr wrap="square" rtlCol="0" anchor="ctr"/>
          <a:lstStyle/>
          <a:p>
            <a:pPr marL="0" indent="0">
              <a:buNone/>
            </a:pPr>
            <a:r>
              <a:rPr lang="en-US" sz="1100" b="1" kern="0" spc="150" dirty="0">
                <a:solidFill>
                  <a:srgbClr val="E0982E"/>
                </a:solidFill>
                <a:latin typeface="Calibri" panose="020F0502020204030204" pitchFamily="34" charset="0"/>
                <a:ea typeface="Calibri" panose="020F0502020204030204" pitchFamily="34" charset="-122"/>
                <a:cs typeface="Calibri" panose="020F0502020204030204" pitchFamily="34" charset="-120"/>
              </a:rPr>
              <a:t>SOURCE</a:t>
            </a:r>
            <a:endParaRPr lang="en-US" sz="1100" dirty="0"/>
          </a:p>
        </p:txBody>
      </p:sp>
      <p:sp>
        <p:nvSpPr>
          <p:cNvPr id="10" name="Text 8"/>
          <p:cNvSpPr/>
          <p:nvPr/>
        </p:nvSpPr>
        <p:spPr>
          <a:xfrm>
            <a:off x="822960" y="4187952"/>
            <a:ext cx="3291840" cy="1371600"/>
          </a:xfrm>
          <a:prstGeom prst="rect">
            <a:avLst/>
          </a:prstGeom>
          <a:noFill/>
        </p:spPr>
        <p:txBody>
          <a:bodyPr wrap="square" rtlCol="0" anchor="ctr"/>
          <a:lstStyle/>
          <a:p>
            <a:pPr marL="0" indent="0">
              <a:lnSpc>
                <a:spcPts val="1600"/>
              </a:lnSpc>
              <a:buNone/>
            </a:pPr>
            <a:r>
              <a:rPr lang="en-US" sz="1200" dirty="0">
                <a:solidFill>
                  <a:srgbClr val="D7E3EF"/>
                </a:solidFill>
                <a:latin typeface="Calibri" panose="020F0502020204030204" pitchFamily="34" charset="0"/>
                <a:ea typeface="Calibri" panose="020F0502020204030204" pitchFamily="34" charset="-122"/>
                <a:cs typeface="Calibri" panose="020F0502020204030204" pitchFamily="34" charset="-120"/>
              </a:rPr>
              <a:t>UCI Machine Learning Repository — Online Retail Dataset, containing genuine e-commerce transaction records from a UK-based online retailer.</a:t>
            </a:r>
            <a:endParaRPr lang="en-US" sz="1200" dirty="0"/>
          </a:p>
        </p:txBody>
      </p:sp>
      <p:sp>
        <p:nvSpPr>
          <p:cNvPr id="11" name="Text 9"/>
          <p:cNvSpPr/>
          <p:nvPr/>
        </p:nvSpPr>
        <p:spPr>
          <a:xfrm>
            <a:off x="4846320" y="1645920"/>
            <a:ext cx="6400800" cy="274320"/>
          </a:xfrm>
          <a:prstGeom prst="rect">
            <a:avLst/>
          </a:prstGeom>
          <a:noFill/>
        </p:spPr>
        <p:txBody>
          <a:bodyPr wrap="square" rtlCol="0" anchor="ctr"/>
          <a:lstStyle/>
          <a:p>
            <a:pPr marL="0" indent="0">
              <a:buNone/>
            </a:pPr>
            <a:r>
              <a:rPr lang="en-US" sz="1200" b="1" kern="0" spc="150" dirty="0">
                <a:solidFill>
                  <a:srgbClr val="12395B"/>
                </a:solidFill>
                <a:latin typeface="Calibri" panose="020F0502020204030204" pitchFamily="34" charset="0"/>
                <a:ea typeface="Calibri" panose="020F0502020204030204" pitchFamily="34" charset="-122"/>
                <a:cs typeface="Calibri" panose="020F0502020204030204" pitchFamily="34" charset="-120"/>
              </a:rPr>
              <a:t>DATASET COLUMNS</a:t>
            </a:r>
            <a:endParaRPr lang="en-US" sz="1200" dirty="0"/>
          </a:p>
        </p:txBody>
      </p:sp>
      <p:sp>
        <p:nvSpPr>
          <p:cNvPr id="12" name="Shape 10"/>
          <p:cNvSpPr/>
          <p:nvPr/>
        </p:nvSpPr>
        <p:spPr>
          <a:xfrm>
            <a:off x="4846320" y="2057400"/>
            <a:ext cx="1536192" cy="566928"/>
          </a:xfrm>
          <a:prstGeom prst="roundRect">
            <a:avLst>
              <a:gd name="adj" fmla="val 14516"/>
            </a:avLst>
          </a:prstGeom>
          <a:solidFill>
            <a:srgbClr val="E7F1F3"/>
          </a:solidFill>
          <a:ln w="12700">
            <a:solidFill>
              <a:srgbClr val="CFE3E7"/>
            </a:solidFill>
            <a:prstDash val="solid"/>
          </a:ln>
        </p:spPr>
      </p:sp>
      <p:sp>
        <p:nvSpPr>
          <p:cNvPr id="13" name="Text 11"/>
          <p:cNvSpPr/>
          <p:nvPr/>
        </p:nvSpPr>
        <p:spPr>
          <a:xfrm>
            <a:off x="4846320" y="2057400"/>
            <a:ext cx="1536192" cy="566928"/>
          </a:xfrm>
          <a:prstGeom prst="rect">
            <a:avLst/>
          </a:prstGeom>
          <a:noFill/>
        </p:spPr>
        <p:txBody>
          <a:bodyPr wrap="square" rtlCol="0" anchor="ctr"/>
          <a:lstStyle/>
          <a:p>
            <a:pPr marL="0" indent="0" algn="ctr">
              <a:buNone/>
            </a:pPr>
            <a:r>
              <a:rPr lang="en-US" sz="1200" b="1" dirty="0">
                <a:solidFill>
                  <a:srgbClr val="1F7A8C"/>
                </a:solidFill>
                <a:latin typeface="Calibri" panose="020F0502020204030204" pitchFamily="34" charset="0"/>
                <a:ea typeface="Calibri" panose="020F0502020204030204" pitchFamily="34" charset="-122"/>
                <a:cs typeface="Calibri" panose="020F0502020204030204" pitchFamily="34" charset="-120"/>
              </a:rPr>
              <a:t>InvoiceNo</a:t>
            </a:r>
            <a:endParaRPr lang="en-US" sz="1200" dirty="0"/>
          </a:p>
        </p:txBody>
      </p:sp>
      <p:sp>
        <p:nvSpPr>
          <p:cNvPr id="14" name="Shape 12"/>
          <p:cNvSpPr/>
          <p:nvPr/>
        </p:nvSpPr>
        <p:spPr>
          <a:xfrm>
            <a:off x="6510528" y="2057400"/>
            <a:ext cx="1536192" cy="566928"/>
          </a:xfrm>
          <a:prstGeom prst="roundRect">
            <a:avLst>
              <a:gd name="adj" fmla="val 14516"/>
            </a:avLst>
          </a:prstGeom>
          <a:solidFill>
            <a:srgbClr val="E7F1F3"/>
          </a:solidFill>
          <a:ln w="12700">
            <a:solidFill>
              <a:srgbClr val="CFE3E7"/>
            </a:solidFill>
            <a:prstDash val="solid"/>
          </a:ln>
        </p:spPr>
      </p:sp>
      <p:sp>
        <p:nvSpPr>
          <p:cNvPr id="15" name="Text 13"/>
          <p:cNvSpPr/>
          <p:nvPr/>
        </p:nvSpPr>
        <p:spPr>
          <a:xfrm>
            <a:off x="6510528" y="2057400"/>
            <a:ext cx="1536192" cy="566928"/>
          </a:xfrm>
          <a:prstGeom prst="rect">
            <a:avLst/>
          </a:prstGeom>
          <a:noFill/>
        </p:spPr>
        <p:txBody>
          <a:bodyPr wrap="square" rtlCol="0" anchor="ctr"/>
          <a:lstStyle/>
          <a:p>
            <a:pPr marL="0" indent="0" algn="ctr">
              <a:buNone/>
            </a:pPr>
            <a:r>
              <a:rPr lang="en-US" sz="1200" b="1" dirty="0">
                <a:solidFill>
                  <a:srgbClr val="1F7A8C"/>
                </a:solidFill>
                <a:latin typeface="Calibri" panose="020F0502020204030204" pitchFamily="34" charset="0"/>
                <a:ea typeface="Calibri" panose="020F0502020204030204" pitchFamily="34" charset="-122"/>
                <a:cs typeface="Calibri" panose="020F0502020204030204" pitchFamily="34" charset="-120"/>
              </a:rPr>
              <a:t>StockCode</a:t>
            </a:r>
            <a:endParaRPr lang="en-US" sz="1200" dirty="0"/>
          </a:p>
        </p:txBody>
      </p:sp>
      <p:sp>
        <p:nvSpPr>
          <p:cNvPr id="16" name="Shape 14"/>
          <p:cNvSpPr/>
          <p:nvPr/>
        </p:nvSpPr>
        <p:spPr>
          <a:xfrm>
            <a:off x="8174736" y="2057400"/>
            <a:ext cx="1536192" cy="566928"/>
          </a:xfrm>
          <a:prstGeom prst="roundRect">
            <a:avLst>
              <a:gd name="adj" fmla="val 14516"/>
            </a:avLst>
          </a:prstGeom>
          <a:solidFill>
            <a:srgbClr val="E7F1F3"/>
          </a:solidFill>
          <a:ln w="12700">
            <a:solidFill>
              <a:srgbClr val="CFE3E7"/>
            </a:solidFill>
            <a:prstDash val="solid"/>
          </a:ln>
        </p:spPr>
      </p:sp>
      <p:sp>
        <p:nvSpPr>
          <p:cNvPr id="17" name="Text 15"/>
          <p:cNvSpPr/>
          <p:nvPr/>
        </p:nvSpPr>
        <p:spPr>
          <a:xfrm>
            <a:off x="8174736" y="2057400"/>
            <a:ext cx="1536192" cy="566928"/>
          </a:xfrm>
          <a:prstGeom prst="rect">
            <a:avLst/>
          </a:prstGeom>
          <a:noFill/>
        </p:spPr>
        <p:txBody>
          <a:bodyPr wrap="square" rtlCol="0" anchor="ctr"/>
          <a:lstStyle/>
          <a:p>
            <a:pPr marL="0" indent="0" algn="ctr">
              <a:buNone/>
            </a:pPr>
            <a:r>
              <a:rPr lang="en-US" sz="1200" b="1" dirty="0">
                <a:solidFill>
                  <a:srgbClr val="1F7A8C"/>
                </a:solidFill>
                <a:latin typeface="Calibri" panose="020F0502020204030204" pitchFamily="34" charset="0"/>
                <a:ea typeface="Calibri" panose="020F0502020204030204" pitchFamily="34" charset="-122"/>
                <a:cs typeface="Calibri" panose="020F0502020204030204" pitchFamily="34" charset="-120"/>
              </a:rPr>
              <a:t>Description</a:t>
            </a:r>
            <a:endParaRPr lang="en-US" sz="1200" dirty="0"/>
          </a:p>
        </p:txBody>
      </p:sp>
      <p:sp>
        <p:nvSpPr>
          <p:cNvPr id="18" name="Shape 16"/>
          <p:cNvSpPr/>
          <p:nvPr/>
        </p:nvSpPr>
        <p:spPr>
          <a:xfrm>
            <a:off x="9838944" y="2057400"/>
            <a:ext cx="1536192" cy="566928"/>
          </a:xfrm>
          <a:prstGeom prst="roundRect">
            <a:avLst>
              <a:gd name="adj" fmla="val 14516"/>
            </a:avLst>
          </a:prstGeom>
          <a:solidFill>
            <a:srgbClr val="E7F1F3"/>
          </a:solidFill>
          <a:ln w="12700">
            <a:solidFill>
              <a:srgbClr val="CFE3E7"/>
            </a:solidFill>
            <a:prstDash val="solid"/>
          </a:ln>
        </p:spPr>
      </p:sp>
      <p:sp>
        <p:nvSpPr>
          <p:cNvPr id="19" name="Text 17"/>
          <p:cNvSpPr/>
          <p:nvPr/>
        </p:nvSpPr>
        <p:spPr>
          <a:xfrm>
            <a:off x="9838944" y="2057400"/>
            <a:ext cx="1536192" cy="566928"/>
          </a:xfrm>
          <a:prstGeom prst="rect">
            <a:avLst/>
          </a:prstGeom>
          <a:noFill/>
        </p:spPr>
        <p:txBody>
          <a:bodyPr wrap="square" rtlCol="0" anchor="ctr"/>
          <a:lstStyle/>
          <a:p>
            <a:pPr marL="0" indent="0" algn="ctr">
              <a:buNone/>
            </a:pPr>
            <a:r>
              <a:rPr lang="en-US" sz="1200" b="1" dirty="0">
                <a:solidFill>
                  <a:srgbClr val="1F7A8C"/>
                </a:solidFill>
                <a:latin typeface="Calibri" panose="020F0502020204030204" pitchFamily="34" charset="0"/>
                <a:ea typeface="Calibri" panose="020F0502020204030204" pitchFamily="34" charset="-122"/>
                <a:cs typeface="Calibri" panose="020F0502020204030204" pitchFamily="34" charset="-120"/>
              </a:rPr>
              <a:t>Quantity</a:t>
            </a:r>
            <a:endParaRPr lang="en-US" sz="1200" dirty="0"/>
          </a:p>
        </p:txBody>
      </p:sp>
      <p:sp>
        <p:nvSpPr>
          <p:cNvPr id="20" name="Shape 18"/>
          <p:cNvSpPr/>
          <p:nvPr/>
        </p:nvSpPr>
        <p:spPr>
          <a:xfrm>
            <a:off x="4846320" y="2770632"/>
            <a:ext cx="1536192" cy="566928"/>
          </a:xfrm>
          <a:prstGeom prst="roundRect">
            <a:avLst>
              <a:gd name="adj" fmla="val 14516"/>
            </a:avLst>
          </a:prstGeom>
          <a:solidFill>
            <a:srgbClr val="E7F1F3"/>
          </a:solidFill>
          <a:ln w="12700">
            <a:solidFill>
              <a:srgbClr val="CFE3E7"/>
            </a:solidFill>
            <a:prstDash val="solid"/>
          </a:ln>
        </p:spPr>
      </p:sp>
      <p:sp>
        <p:nvSpPr>
          <p:cNvPr id="21" name="Text 19"/>
          <p:cNvSpPr/>
          <p:nvPr/>
        </p:nvSpPr>
        <p:spPr>
          <a:xfrm>
            <a:off x="4846320" y="2770632"/>
            <a:ext cx="1536192" cy="566928"/>
          </a:xfrm>
          <a:prstGeom prst="rect">
            <a:avLst/>
          </a:prstGeom>
          <a:noFill/>
        </p:spPr>
        <p:txBody>
          <a:bodyPr wrap="square" rtlCol="0" anchor="ctr"/>
          <a:lstStyle/>
          <a:p>
            <a:pPr marL="0" indent="0" algn="ctr">
              <a:buNone/>
            </a:pPr>
            <a:r>
              <a:rPr lang="en-US" sz="1200" b="1" dirty="0">
                <a:solidFill>
                  <a:srgbClr val="1F7A8C"/>
                </a:solidFill>
                <a:latin typeface="Calibri" panose="020F0502020204030204" pitchFamily="34" charset="0"/>
                <a:ea typeface="Calibri" panose="020F0502020204030204" pitchFamily="34" charset="-122"/>
                <a:cs typeface="Calibri" panose="020F0502020204030204" pitchFamily="34" charset="-120"/>
              </a:rPr>
              <a:t>InvoiceDate</a:t>
            </a:r>
            <a:endParaRPr lang="en-US" sz="1200" dirty="0"/>
          </a:p>
        </p:txBody>
      </p:sp>
      <p:sp>
        <p:nvSpPr>
          <p:cNvPr id="22" name="Shape 20"/>
          <p:cNvSpPr/>
          <p:nvPr/>
        </p:nvSpPr>
        <p:spPr>
          <a:xfrm>
            <a:off x="6510528" y="2770632"/>
            <a:ext cx="1536192" cy="566928"/>
          </a:xfrm>
          <a:prstGeom prst="roundRect">
            <a:avLst>
              <a:gd name="adj" fmla="val 14516"/>
            </a:avLst>
          </a:prstGeom>
          <a:solidFill>
            <a:srgbClr val="E7F1F3"/>
          </a:solidFill>
          <a:ln w="12700">
            <a:solidFill>
              <a:srgbClr val="CFE3E7"/>
            </a:solidFill>
            <a:prstDash val="solid"/>
          </a:ln>
        </p:spPr>
      </p:sp>
      <p:sp>
        <p:nvSpPr>
          <p:cNvPr id="23" name="Text 21"/>
          <p:cNvSpPr/>
          <p:nvPr/>
        </p:nvSpPr>
        <p:spPr>
          <a:xfrm>
            <a:off x="6510528" y="2770632"/>
            <a:ext cx="1536192" cy="566928"/>
          </a:xfrm>
          <a:prstGeom prst="rect">
            <a:avLst/>
          </a:prstGeom>
          <a:noFill/>
        </p:spPr>
        <p:txBody>
          <a:bodyPr wrap="square" rtlCol="0" anchor="ctr"/>
          <a:lstStyle/>
          <a:p>
            <a:pPr marL="0" indent="0" algn="ctr">
              <a:buNone/>
            </a:pPr>
            <a:r>
              <a:rPr lang="en-US" sz="1200" b="1" dirty="0">
                <a:solidFill>
                  <a:srgbClr val="1F7A8C"/>
                </a:solidFill>
                <a:latin typeface="Calibri" panose="020F0502020204030204" pitchFamily="34" charset="0"/>
                <a:ea typeface="Calibri" panose="020F0502020204030204" pitchFamily="34" charset="-122"/>
                <a:cs typeface="Calibri" panose="020F0502020204030204" pitchFamily="34" charset="-120"/>
              </a:rPr>
              <a:t>UnitPrice</a:t>
            </a:r>
            <a:endParaRPr lang="en-US" sz="1200" dirty="0"/>
          </a:p>
        </p:txBody>
      </p:sp>
      <p:sp>
        <p:nvSpPr>
          <p:cNvPr id="24" name="Shape 22"/>
          <p:cNvSpPr/>
          <p:nvPr/>
        </p:nvSpPr>
        <p:spPr>
          <a:xfrm>
            <a:off x="8174736" y="2770632"/>
            <a:ext cx="1536192" cy="566928"/>
          </a:xfrm>
          <a:prstGeom prst="roundRect">
            <a:avLst>
              <a:gd name="adj" fmla="val 14516"/>
            </a:avLst>
          </a:prstGeom>
          <a:solidFill>
            <a:srgbClr val="E7F1F3"/>
          </a:solidFill>
          <a:ln w="12700">
            <a:solidFill>
              <a:srgbClr val="CFE3E7"/>
            </a:solidFill>
            <a:prstDash val="solid"/>
          </a:ln>
        </p:spPr>
      </p:sp>
      <p:sp>
        <p:nvSpPr>
          <p:cNvPr id="25" name="Text 23"/>
          <p:cNvSpPr/>
          <p:nvPr/>
        </p:nvSpPr>
        <p:spPr>
          <a:xfrm>
            <a:off x="8174736" y="2770632"/>
            <a:ext cx="1536192" cy="566928"/>
          </a:xfrm>
          <a:prstGeom prst="rect">
            <a:avLst/>
          </a:prstGeom>
          <a:noFill/>
        </p:spPr>
        <p:txBody>
          <a:bodyPr wrap="square" rtlCol="0" anchor="ctr"/>
          <a:lstStyle/>
          <a:p>
            <a:pPr marL="0" indent="0" algn="ctr">
              <a:buNone/>
            </a:pPr>
            <a:r>
              <a:rPr lang="en-US" sz="1200" b="1" dirty="0">
                <a:solidFill>
                  <a:srgbClr val="1F7A8C"/>
                </a:solidFill>
                <a:latin typeface="Calibri" panose="020F0502020204030204" pitchFamily="34" charset="0"/>
                <a:ea typeface="Calibri" panose="020F0502020204030204" pitchFamily="34" charset="-122"/>
                <a:cs typeface="Calibri" panose="020F0502020204030204" pitchFamily="34" charset="-120"/>
              </a:rPr>
              <a:t>CustomerID</a:t>
            </a:r>
            <a:endParaRPr lang="en-US" sz="1200" dirty="0"/>
          </a:p>
        </p:txBody>
      </p:sp>
      <p:sp>
        <p:nvSpPr>
          <p:cNvPr id="26" name="Shape 24"/>
          <p:cNvSpPr/>
          <p:nvPr/>
        </p:nvSpPr>
        <p:spPr>
          <a:xfrm>
            <a:off x="9838944" y="2770632"/>
            <a:ext cx="1536192" cy="566928"/>
          </a:xfrm>
          <a:prstGeom prst="roundRect">
            <a:avLst>
              <a:gd name="adj" fmla="val 14516"/>
            </a:avLst>
          </a:prstGeom>
          <a:solidFill>
            <a:srgbClr val="E7F1F3"/>
          </a:solidFill>
          <a:ln w="12700">
            <a:solidFill>
              <a:srgbClr val="CFE3E7"/>
            </a:solidFill>
            <a:prstDash val="solid"/>
          </a:ln>
        </p:spPr>
      </p:sp>
      <p:sp>
        <p:nvSpPr>
          <p:cNvPr id="27" name="Text 25"/>
          <p:cNvSpPr/>
          <p:nvPr/>
        </p:nvSpPr>
        <p:spPr>
          <a:xfrm>
            <a:off x="9838944" y="2770632"/>
            <a:ext cx="1536192" cy="566928"/>
          </a:xfrm>
          <a:prstGeom prst="rect">
            <a:avLst/>
          </a:prstGeom>
          <a:noFill/>
        </p:spPr>
        <p:txBody>
          <a:bodyPr wrap="square" rtlCol="0" anchor="ctr"/>
          <a:lstStyle/>
          <a:p>
            <a:pPr marL="0" indent="0" algn="ctr">
              <a:buNone/>
            </a:pPr>
            <a:r>
              <a:rPr lang="en-US" sz="1200" b="1" dirty="0">
                <a:solidFill>
                  <a:srgbClr val="1F7A8C"/>
                </a:solidFill>
                <a:latin typeface="Calibri" panose="020F0502020204030204" pitchFamily="34" charset="0"/>
                <a:ea typeface="Calibri" panose="020F0502020204030204" pitchFamily="34" charset="-122"/>
                <a:cs typeface="Calibri" panose="020F0502020204030204" pitchFamily="34" charset="-120"/>
              </a:rPr>
              <a:t>Country</a:t>
            </a:r>
            <a:endParaRPr lang="en-US" sz="1200" dirty="0"/>
          </a:p>
        </p:txBody>
      </p:sp>
      <p:sp>
        <p:nvSpPr>
          <p:cNvPr id="28" name="Shape 26"/>
          <p:cNvSpPr/>
          <p:nvPr/>
        </p:nvSpPr>
        <p:spPr>
          <a:xfrm>
            <a:off x="4846320" y="3611880"/>
            <a:ext cx="6428232" cy="2148840"/>
          </a:xfrm>
          <a:prstGeom prst="roundRect">
            <a:avLst>
              <a:gd name="adj" fmla="val 4255"/>
            </a:avLst>
          </a:prstGeom>
          <a:solidFill>
            <a:srgbClr val="FFFFFF"/>
          </a:solidFill>
          <a:ln w="12700">
            <a:solidFill>
              <a:srgbClr val="E2E8EF"/>
            </a:solidFill>
            <a:prstDash val="solid"/>
          </a:ln>
        </p:spPr>
      </p:sp>
      <p:sp>
        <p:nvSpPr>
          <p:cNvPr id="29" name="Text 27"/>
          <p:cNvSpPr/>
          <p:nvPr/>
        </p:nvSpPr>
        <p:spPr>
          <a:xfrm>
            <a:off x="5120640" y="3822192"/>
            <a:ext cx="5897880" cy="1737360"/>
          </a:xfrm>
          <a:prstGeom prst="rect">
            <a:avLst/>
          </a:prstGeom>
          <a:noFill/>
        </p:spPr>
        <p:txBody>
          <a:bodyPr wrap="square" rtlCol="0" anchor="t"/>
          <a:lstStyle/>
          <a:p>
            <a:pPr marL="0" indent="0">
              <a:lnSpc>
                <a:spcPts val="2000"/>
              </a:lnSpc>
              <a:buNone/>
            </a:pPr>
            <a:r>
              <a:rPr lang="en-US" sz="1300" dirty="0">
                <a:solidFill>
                  <a:srgbClr val="1A2432"/>
                </a:solidFill>
                <a:latin typeface="Calibri" panose="020F0502020204030204" pitchFamily="34" charset="0"/>
                <a:ea typeface="Calibri" panose="020F0502020204030204" pitchFamily="34" charset="-122"/>
                <a:cs typeface="Calibri" panose="020F0502020204030204" pitchFamily="34" charset="-120"/>
              </a:rPr>
              <a:t>Each row represents one product line within a customer invoice — capturing what was bought, how many units, at what price, on what date, by which customer, and from which country. This transaction-level granularity is what allows the project to reconstruct daily, product-level demand.</a:t>
            </a:r>
            <a:endParaRPr lang="en-US" sz="1300" dirty="0"/>
          </a:p>
        </p:txBody>
      </p:sp>
      <p:sp>
        <p:nvSpPr>
          <p:cNvPr id="30" name="Text 28"/>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31" name="Text 29"/>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07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DATA PREPROCESSING</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Cleaning the Raw Transaction Data</a:t>
            </a:r>
            <a:endParaRPr lang="en-US" sz="3000" dirty="0"/>
          </a:p>
        </p:txBody>
      </p:sp>
      <p:sp>
        <p:nvSpPr>
          <p:cNvPr id="4" name="Text 2"/>
          <p:cNvSpPr/>
          <p:nvPr/>
        </p:nvSpPr>
        <p:spPr>
          <a:xfrm>
            <a:off x="548640" y="1691640"/>
            <a:ext cx="6035040" cy="530352"/>
          </a:xfrm>
          <a:prstGeom prst="roundRect">
            <a:avLst>
              <a:gd name="adj" fmla="val 13793"/>
            </a:avLst>
          </a:prstGeom>
          <a:solidFill>
            <a:srgbClr val="12395B"/>
          </a:solidFill>
        </p:spPr>
        <p:txBody>
          <a:bodyPr wrap="square" lIns="2286" tIns="2286" rIns="2286" bIns="2286" rtlCol="0" anchor="ct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Raw Data (541,909 records)</a:t>
            </a:r>
            <a:endParaRPr lang="en-US" sz="1300" dirty="0"/>
          </a:p>
        </p:txBody>
      </p:sp>
      <p:sp>
        <p:nvSpPr>
          <p:cNvPr id="5" name="Shape 3"/>
          <p:cNvSpPr/>
          <p:nvPr/>
        </p:nvSpPr>
        <p:spPr>
          <a:xfrm>
            <a:off x="3447288" y="2231136"/>
            <a:ext cx="237744" cy="201168"/>
          </a:xfrm>
          <a:prstGeom prst="downArrow">
            <a:avLst/>
          </a:prstGeom>
          <a:solidFill>
            <a:srgbClr val="1F7A8C"/>
          </a:solidFill>
        </p:spPr>
      </p:sp>
      <p:sp>
        <p:nvSpPr>
          <p:cNvPr id="6" name="Text 4"/>
          <p:cNvSpPr/>
          <p:nvPr/>
        </p:nvSpPr>
        <p:spPr>
          <a:xfrm>
            <a:off x="548640" y="2404872"/>
            <a:ext cx="6035040" cy="530352"/>
          </a:xfrm>
          <a:prstGeom prst="roundRect">
            <a:avLst>
              <a:gd name="adj" fmla="val 13793"/>
            </a:avLst>
          </a:prstGeom>
          <a:solidFill>
            <a:srgbClr val="FFFFFF"/>
          </a:solidFill>
          <a:ln w="12700">
            <a:solidFill>
              <a:srgbClr val="E2E8EF"/>
            </a:solidFill>
          </a:ln>
        </p:spPr>
        <p:txBody>
          <a:bodyPr wrap="square" lIns="2286" tIns="2286" rIns="2286" bIns="2286" rtlCol="0" anchor="ctr"/>
          <a:lstStyle/>
          <a:p>
            <a:pPr marL="0" indent="0" algn="l">
              <a:buNone/>
            </a:pPr>
            <a:r>
              <a:rPr lang="en-US" sz="1300" dirty="0">
                <a:solidFill>
                  <a:srgbClr val="1A2432"/>
                </a:solidFill>
                <a:latin typeface="Calibri" panose="020F0502020204030204" pitchFamily="34" charset="0"/>
                <a:ea typeface="Calibri" panose="020F0502020204030204" pitchFamily="34" charset="-122"/>
                <a:cs typeface="Calibri" panose="020F0502020204030204" pitchFamily="34" charset="-120"/>
              </a:rPr>
              <a:t>Remove Missing Descriptions</a:t>
            </a:r>
            <a:endParaRPr lang="en-US" sz="1300" dirty="0"/>
          </a:p>
        </p:txBody>
      </p:sp>
      <p:sp>
        <p:nvSpPr>
          <p:cNvPr id="7" name="Text 5"/>
          <p:cNvSpPr/>
          <p:nvPr/>
        </p:nvSpPr>
        <p:spPr>
          <a:xfrm>
            <a:off x="6080760" y="2459736"/>
            <a:ext cx="420624" cy="420624"/>
          </a:xfrm>
          <a:prstGeom prst="ellipse">
            <a:avLst/>
          </a:prstGeom>
          <a:solidFill>
            <a:srgbClr val="B0503F"/>
          </a:solid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8" name="Shape 6"/>
          <p:cNvSpPr/>
          <p:nvPr/>
        </p:nvSpPr>
        <p:spPr>
          <a:xfrm>
            <a:off x="3447288" y="2944368"/>
            <a:ext cx="237744" cy="201168"/>
          </a:xfrm>
          <a:prstGeom prst="downArrow">
            <a:avLst/>
          </a:prstGeom>
          <a:solidFill>
            <a:srgbClr val="1F7A8C"/>
          </a:solidFill>
        </p:spPr>
      </p:sp>
      <p:sp>
        <p:nvSpPr>
          <p:cNvPr id="9" name="Text 7"/>
          <p:cNvSpPr/>
          <p:nvPr/>
        </p:nvSpPr>
        <p:spPr>
          <a:xfrm>
            <a:off x="548640" y="3118104"/>
            <a:ext cx="6035040" cy="530352"/>
          </a:xfrm>
          <a:prstGeom prst="roundRect">
            <a:avLst>
              <a:gd name="adj" fmla="val 13793"/>
            </a:avLst>
          </a:prstGeom>
          <a:solidFill>
            <a:srgbClr val="FFFFFF"/>
          </a:solidFill>
          <a:ln w="12700">
            <a:solidFill>
              <a:srgbClr val="E2E8EF"/>
            </a:solidFill>
          </a:ln>
        </p:spPr>
        <p:txBody>
          <a:bodyPr wrap="square" lIns="2286" tIns="2286" rIns="2286" bIns="2286" rtlCol="0" anchor="ctr"/>
          <a:lstStyle/>
          <a:p>
            <a:pPr marL="0" indent="0" algn="l">
              <a:buNone/>
            </a:pPr>
            <a:r>
              <a:rPr lang="en-US" sz="1300" dirty="0">
                <a:solidFill>
                  <a:srgbClr val="1A2432"/>
                </a:solidFill>
                <a:latin typeface="Calibri" panose="020F0502020204030204" pitchFamily="34" charset="0"/>
                <a:ea typeface="Calibri" panose="020F0502020204030204" pitchFamily="34" charset="-122"/>
                <a:cs typeface="Calibri" panose="020F0502020204030204" pitchFamily="34" charset="-120"/>
              </a:rPr>
              <a:t>Remove Cancelled Invoices</a:t>
            </a:r>
            <a:endParaRPr lang="en-US" sz="1300" dirty="0"/>
          </a:p>
        </p:txBody>
      </p:sp>
      <p:sp>
        <p:nvSpPr>
          <p:cNvPr id="10" name="Text 8"/>
          <p:cNvSpPr/>
          <p:nvPr/>
        </p:nvSpPr>
        <p:spPr>
          <a:xfrm>
            <a:off x="6080760" y="3172968"/>
            <a:ext cx="420624" cy="420624"/>
          </a:xfrm>
          <a:prstGeom prst="ellipse">
            <a:avLst/>
          </a:prstGeom>
          <a:solidFill>
            <a:srgbClr val="B0503F"/>
          </a:solid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1" name="Shape 9"/>
          <p:cNvSpPr/>
          <p:nvPr/>
        </p:nvSpPr>
        <p:spPr>
          <a:xfrm>
            <a:off x="3447288" y="3657600"/>
            <a:ext cx="237744" cy="201168"/>
          </a:xfrm>
          <a:prstGeom prst="downArrow">
            <a:avLst/>
          </a:prstGeom>
          <a:solidFill>
            <a:srgbClr val="1F7A8C"/>
          </a:solidFill>
        </p:spPr>
      </p:sp>
      <p:sp>
        <p:nvSpPr>
          <p:cNvPr id="12" name="Text 10"/>
          <p:cNvSpPr/>
          <p:nvPr/>
        </p:nvSpPr>
        <p:spPr>
          <a:xfrm>
            <a:off x="548640" y="3831336"/>
            <a:ext cx="6035040" cy="530352"/>
          </a:xfrm>
          <a:prstGeom prst="roundRect">
            <a:avLst>
              <a:gd name="adj" fmla="val 13793"/>
            </a:avLst>
          </a:prstGeom>
          <a:solidFill>
            <a:srgbClr val="FFFFFF"/>
          </a:solidFill>
          <a:ln w="12700">
            <a:solidFill>
              <a:srgbClr val="E2E8EF"/>
            </a:solidFill>
          </a:ln>
        </p:spPr>
        <p:txBody>
          <a:bodyPr wrap="square" lIns="2286" tIns="2286" rIns="2286" bIns="2286" rtlCol="0" anchor="ctr"/>
          <a:lstStyle/>
          <a:p>
            <a:pPr marL="0" indent="0" algn="l">
              <a:buNone/>
            </a:pPr>
            <a:r>
              <a:rPr lang="en-US" sz="1300" dirty="0">
                <a:solidFill>
                  <a:srgbClr val="1A2432"/>
                </a:solidFill>
                <a:latin typeface="Calibri" panose="020F0502020204030204" pitchFamily="34" charset="0"/>
                <a:ea typeface="Calibri" panose="020F0502020204030204" pitchFamily="34" charset="-122"/>
                <a:cs typeface="Calibri" panose="020F0502020204030204" pitchFamily="34" charset="-120"/>
              </a:rPr>
              <a:t>Remove Negative Quantities</a:t>
            </a:r>
            <a:endParaRPr lang="en-US" sz="1300" dirty="0"/>
          </a:p>
        </p:txBody>
      </p:sp>
      <p:sp>
        <p:nvSpPr>
          <p:cNvPr id="13" name="Text 11"/>
          <p:cNvSpPr/>
          <p:nvPr/>
        </p:nvSpPr>
        <p:spPr>
          <a:xfrm>
            <a:off x="6080760" y="3886200"/>
            <a:ext cx="420624" cy="420624"/>
          </a:xfrm>
          <a:prstGeom prst="ellipse">
            <a:avLst/>
          </a:prstGeom>
          <a:solidFill>
            <a:srgbClr val="B0503F"/>
          </a:solid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4" name="Shape 12"/>
          <p:cNvSpPr/>
          <p:nvPr/>
        </p:nvSpPr>
        <p:spPr>
          <a:xfrm>
            <a:off x="3447288" y="4370832"/>
            <a:ext cx="237744" cy="201168"/>
          </a:xfrm>
          <a:prstGeom prst="downArrow">
            <a:avLst/>
          </a:prstGeom>
          <a:solidFill>
            <a:srgbClr val="1F7A8C"/>
          </a:solidFill>
        </p:spPr>
      </p:sp>
      <p:sp>
        <p:nvSpPr>
          <p:cNvPr id="15" name="Text 13"/>
          <p:cNvSpPr/>
          <p:nvPr/>
        </p:nvSpPr>
        <p:spPr>
          <a:xfrm>
            <a:off x="548640" y="4544568"/>
            <a:ext cx="6035040" cy="530352"/>
          </a:xfrm>
          <a:prstGeom prst="roundRect">
            <a:avLst>
              <a:gd name="adj" fmla="val 13793"/>
            </a:avLst>
          </a:prstGeom>
          <a:solidFill>
            <a:srgbClr val="FFFFFF"/>
          </a:solidFill>
          <a:ln w="12700">
            <a:solidFill>
              <a:srgbClr val="E2E8EF"/>
            </a:solidFill>
          </a:ln>
        </p:spPr>
        <p:txBody>
          <a:bodyPr wrap="square" lIns="2286" tIns="2286" rIns="2286" bIns="2286" rtlCol="0" anchor="ctr"/>
          <a:lstStyle/>
          <a:p>
            <a:pPr marL="0" indent="0" algn="l">
              <a:buNone/>
            </a:pPr>
            <a:r>
              <a:rPr lang="en-US" sz="1300" dirty="0">
                <a:solidFill>
                  <a:srgbClr val="1A2432"/>
                </a:solidFill>
                <a:latin typeface="Calibri" panose="020F0502020204030204" pitchFamily="34" charset="0"/>
                <a:ea typeface="Calibri" panose="020F0502020204030204" pitchFamily="34" charset="-122"/>
                <a:cs typeface="Calibri" panose="020F0502020204030204" pitchFamily="34" charset="-120"/>
              </a:rPr>
              <a:t>Remove Zero / Negative Prices</a:t>
            </a:r>
            <a:endParaRPr lang="en-US" sz="1300" dirty="0"/>
          </a:p>
        </p:txBody>
      </p:sp>
      <p:sp>
        <p:nvSpPr>
          <p:cNvPr id="16" name="Text 14"/>
          <p:cNvSpPr/>
          <p:nvPr/>
        </p:nvSpPr>
        <p:spPr>
          <a:xfrm>
            <a:off x="6080760" y="4599432"/>
            <a:ext cx="420624" cy="420624"/>
          </a:xfrm>
          <a:prstGeom prst="ellipse">
            <a:avLst/>
          </a:prstGeom>
          <a:solidFill>
            <a:srgbClr val="B0503F"/>
          </a:solid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7" name="Shape 15"/>
          <p:cNvSpPr/>
          <p:nvPr/>
        </p:nvSpPr>
        <p:spPr>
          <a:xfrm>
            <a:off x="3447288" y="5084064"/>
            <a:ext cx="237744" cy="201168"/>
          </a:xfrm>
          <a:prstGeom prst="downArrow">
            <a:avLst/>
          </a:prstGeom>
          <a:solidFill>
            <a:srgbClr val="1F7A8C"/>
          </a:solidFill>
        </p:spPr>
      </p:sp>
      <p:sp>
        <p:nvSpPr>
          <p:cNvPr id="18" name="Text 16"/>
          <p:cNvSpPr/>
          <p:nvPr/>
        </p:nvSpPr>
        <p:spPr>
          <a:xfrm>
            <a:off x="548640" y="5257800"/>
            <a:ext cx="6035040" cy="530352"/>
          </a:xfrm>
          <a:prstGeom prst="roundRect">
            <a:avLst>
              <a:gd name="adj" fmla="val 13793"/>
            </a:avLst>
          </a:prstGeom>
          <a:solidFill>
            <a:srgbClr val="12395B"/>
          </a:solidFill>
        </p:spPr>
        <p:txBody>
          <a:bodyPr wrap="square" lIns="2286" tIns="2286" rIns="2286" bIns="2286" rtlCol="0" anchor="ct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Clean Dataset</a:t>
            </a:r>
            <a:endParaRPr lang="en-US" sz="1300" dirty="0"/>
          </a:p>
        </p:txBody>
      </p:sp>
      <p:sp>
        <p:nvSpPr>
          <p:cNvPr id="19" name="Shape 17"/>
          <p:cNvSpPr/>
          <p:nvPr/>
        </p:nvSpPr>
        <p:spPr>
          <a:xfrm>
            <a:off x="7040880" y="1691640"/>
            <a:ext cx="4572000" cy="4206240"/>
          </a:xfrm>
          <a:prstGeom prst="roundRect">
            <a:avLst>
              <a:gd name="adj" fmla="val 2609"/>
            </a:avLst>
          </a:prstGeom>
          <a:solidFill>
            <a:srgbClr val="1F7A8C"/>
          </a:solidFill>
        </p:spPr>
      </p:sp>
      <p:sp>
        <p:nvSpPr>
          <p:cNvPr id="20" name="Text 18"/>
          <p:cNvSpPr/>
          <p:nvPr/>
        </p:nvSpPr>
        <p:spPr>
          <a:xfrm>
            <a:off x="7360920" y="1965960"/>
            <a:ext cx="3931920" cy="457200"/>
          </a:xfrm>
          <a:prstGeom prst="rect">
            <a:avLst/>
          </a:prstGeom>
          <a:noFill/>
        </p:spPr>
        <p:txBody>
          <a:bodyPr wrap="square" rtlCol="0" anchor="ctr"/>
          <a:lstStyle/>
          <a:p>
            <a:pPr marL="0" indent="0" algn="ctr">
              <a:buNone/>
            </a:pPr>
            <a:r>
              <a:rPr lang="en-US" sz="1200" b="1" kern="0" spc="100" dirty="0">
                <a:solidFill>
                  <a:srgbClr val="E4F4F1"/>
                </a:solidFill>
                <a:latin typeface="Calibri" panose="020F0502020204030204" pitchFamily="34" charset="0"/>
                <a:ea typeface="Calibri" panose="020F0502020204030204" pitchFamily="34" charset="-122"/>
                <a:cs typeface="Calibri" panose="020F0502020204030204" pitchFamily="34" charset="-120"/>
              </a:rPr>
              <a:t>VALID TRANSACTIONS AFTER CLEANING</a:t>
            </a:r>
            <a:endParaRPr lang="en-US" sz="1200" dirty="0"/>
          </a:p>
        </p:txBody>
      </p:sp>
      <p:sp>
        <p:nvSpPr>
          <p:cNvPr id="21" name="Text 19"/>
          <p:cNvSpPr/>
          <p:nvPr/>
        </p:nvSpPr>
        <p:spPr>
          <a:xfrm>
            <a:off x="7223760" y="2468880"/>
            <a:ext cx="4206240" cy="1051560"/>
          </a:xfrm>
          <a:prstGeom prst="rect">
            <a:avLst/>
          </a:prstGeom>
          <a:noFill/>
        </p:spPr>
        <p:txBody>
          <a:bodyPr wrap="square" rtlCol="0" anchor="ctr"/>
          <a:lstStyle/>
          <a:p>
            <a:pPr marL="0" indent="0" algn="ctr">
              <a:buNone/>
            </a:pPr>
            <a:r>
              <a:rPr lang="en-US" sz="5200" b="1" dirty="0">
                <a:solidFill>
                  <a:srgbClr val="FFFFFF"/>
                </a:solidFill>
                <a:latin typeface="Cambria" panose="02040503050406030204" pitchFamily="34" charset="0"/>
                <a:ea typeface="Cambria" panose="02040503050406030204" pitchFamily="34" charset="-122"/>
                <a:cs typeface="Cambria" panose="02040503050406030204" pitchFamily="34" charset="-120"/>
              </a:rPr>
              <a:t>530,104</a:t>
            </a:r>
            <a:endParaRPr lang="en-US" sz="5200" dirty="0"/>
          </a:p>
        </p:txBody>
      </p:sp>
      <p:sp>
        <p:nvSpPr>
          <p:cNvPr id="22" name="Shape 20"/>
          <p:cNvSpPr/>
          <p:nvPr/>
        </p:nvSpPr>
        <p:spPr>
          <a:xfrm>
            <a:off x="8503920" y="3611880"/>
            <a:ext cx="1645920" cy="18288"/>
          </a:xfrm>
          <a:prstGeom prst="rect">
            <a:avLst/>
          </a:prstGeom>
          <a:solidFill>
            <a:srgbClr val="6FB4BE"/>
          </a:solidFill>
        </p:spPr>
      </p:sp>
      <p:sp>
        <p:nvSpPr>
          <p:cNvPr id="23" name="Text 21"/>
          <p:cNvSpPr/>
          <p:nvPr/>
        </p:nvSpPr>
        <p:spPr>
          <a:xfrm>
            <a:off x="7498080" y="3794760"/>
            <a:ext cx="3657600" cy="914400"/>
          </a:xfrm>
          <a:prstGeom prst="rect">
            <a:avLst/>
          </a:prstGeom>
          <a:noFill/>
        </p:spPr>
        <p:txBody>
          <a:bodyPr wrap="square" rtlCol="0" anchor="ctr"/>
          <a:lstStyle/>
          <a:p>
            <a:pPr marL="0" indent="0" algn="ctr">
              <a:lnSpc>
                <a:spcPts val="1700"/>
              </a:lnSpc>
              <a:buNone/>
            </a:pPr>
            <a:r>
              <a:rPr lang="en-US" sz="1250" dirty="0">
                <a:solidFill>
                  <a:srgbClr val="EAF6F4"/>
                </a:solidFill>
                <a:latin typeface="Calibri" panose="020F0502020204030204" pitchFamily="34" charset="0"/>
                <a:ea typeface="Calibri" panose="020F0502020204030204" pitchFamily="34" charset="-122"/>
                <a:cs typeface="Calibri" panose="020F0502020204030204" pitchFamily="34" charset="-120"/>
              </a:rPr>
              <a:t>97.8% of the original 541,909 records were retained after removing incomplete, cancelled, and invalid transactions.</a:t>
            </a:r>
            <a:endParaRPr lang="en-US" sz="1250" dirty="0"/>
          </a:p>
        </p:txBody>
      </p:sp>
      <p:sp>
        <p:nvSpPr>
          <p:cNvPr id="24" name="Text 22"/>
          <p:cNvSpPr/>
          <p:nvPr/>
        </p:nvSpPr>
        <p:spPr>
          <a:xfrm>
            <a:off x="7406640" y="4846320"/>
            <a:ext cx="3840480" cy="914400"/>
          </a:xfrm>
          <a:prstGeom prst="rect">
            <a:avLst/>
          </a:prstGeom>
          <a:noFill/>
        </p:spPr>
        <p:txBody>
          <a:bodyPr wrap="square" rtlCol="0" anchor="ctr"/>
          <a:lstStyle/>
          <a:p>
            <a:pPr marL="0" indent="0" algn="ctr">
              <a:lnSpc>
                <a:spcPts val="1500"/>
              </a:lnSpc>
              <a:buNone/>
            </a:pPr>
            <a:r>
              <a:rPr lang="en-US" sz="1100" i="1" dirty="0">
                <a:solidFill>
                  <a:srgbClr val="D6EFEC"/>
                </a:solidFill>
                <a:latin typeface="Calibri" panose="020F0502020204030204" pitchFamily="34" charset="0"/>
                <a:ea typeface="Calibri" panose="020F0502020204030204" pitchFamily="34" charset="-122"/>
                <a:cs typeface="Calibri" panose="020F0502020204030204" pitchFamily="34" charset="-120"/>
              </a:rPr>
              <a:t>Why it matters: clean data ensures the model learns from genuine sales behaviour, not data-entry errors or cancellations.</a:t>
            </a:r>
            <a:endParaRPr lang="en-US" sz="1100" dirty="0"/>
          </a:p>
        </p:txBody>
      </p:sp>
      <p:sp>
        <p:nvSpPr>
          <p:cNvPr id="25" name="Text 23"/>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26" name="Text 24"/>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08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FEATURE ENGINEERING</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From Transactions to Model-Ready Features</a:t>
            </a:r>
            <a:endParaRPr lang="en-US" sz="3000" dirty="0"/>
          </a:p>
        </p:txBody>
      </p:sp>
      <p:sp>
        <p:nvSpPr>
          <p:cNvPr id="4" name="Text 2"/>
          <p:cNvSpPr/>
          <p:nvPr/>
        </p:nvSpPr>
        <p:spPr>
          <a:xfrm>
            <a:off x="548640" y="1554480"/>
            <a:ext cx="11094415" cy="411480"/>
          </a:xfrm>
          <a:prstGeom prst="rect">
            <a:avLst/>
          </a:prstGeom>
          <a:noFill/>
        </p:spPr>
        <p:txBody>
          <a:bodyPr wrap="square" rtlCol="0" anchor="ctr"/>
          <a:lstStyle/>
          <a:p>
            <a:pPr marL="0" indent="0">
              <a:buNone/>
            </a:pPr>
            <a:r>
              <a:rPr lang="en-US" sz="1300" i="1" dirty="0">
                <a:solidFill>
                  <a:srgbClr val="64758B"/>
                </a:solidFill>
                <a:latin typeface="Calibri" panose="020F0502020204030204" pitchFamily="34" charset="0"/>
                <a:ea typeface="Calibri" panose="020F0502020204030204" pitchFamily="34" charset="-122"/>
                <a:cs typeface="Calibri" panose="020F0502020204030204" pitchFamily="34" charset="-120"/>
              </a:rPr>
              <a:t>Individual transaction rows were aggregated into product-level daily demand, then enriched with features that describe recent selling behaviour.</a:t>
            </a:r>
            <a:endParaRPr lang="en-US" sz="1300" dirty="0"/>
          </a:p>
        </p:txBody>
      </p:sp>
      <p:sp>
        <p:nvSpPr>
          <p:cNvPr id="5" name="Shape 3"/>
          <p:cNvSpPr/>
          <p:nvPr/>
        </p:nvSpPr>
        <p:spPr>
          <a:xfrm>
            <a:off x="548640" y="2103120"/>
            <a:ext cx="3520440" cy="1051560"/>
          </a:xfrm>
          <a:prstGeom prst="roundRect">
            <a:avLst>
              <a:gd name="adj" fmla="val 7826"/>
            </a:avLst>
          </a:prstGeom>
          <a:solidFill>
            <a:srgbClr val="FFFFFF"/>
          </a:solidFill>
          <a:ln w="12700">
            <a:solidFill>
              <a:srgbClr val="E2E8EF"/>
            </a:solidFill>
            <a:prstDash val="solid"/>
          </a:ln>
        </p:spPr>
      </p:sp>
      <p:sp>
        <p:nvSpPr>
          <p:cNvPr id="6" name="Text 4"/>
          <p:cNvSpPr/>
          <p:nvPr/>
        </p:nvSpPr>
        <p:spPr>
          <a:xfrm>
            <a:off x="640080" y="2250338"/>
            <a:ext cx="3337560" cy="546811"/>
          </a:xfrm>
          <a:prstGeom prst="rect">
            <a:avLst/>
          </a:prstGeom>
          <a:noFill/>
        </p:spPr>
        <p:txBody>
          <a:bodyPr wrap="square" rtlCol="0" anchor="b"/>
          <a:lstStyle/>
          <a:p>
            <a:pPr marL="0" indent="0" algn="ctr">
              <a:buNone/>
            </a:pPr>
            <a:r>
              <a:rPr lang="en-US" sz="2600" b="1" dirty="0">
                <a:solidFill>
                  <a:srgbClr val="12395B"/>
                </a:solidFill>
                <a:latin typeface="Cambria" panose="02040503050406030204" pitchFamily="34" charset="0"/>
                <a:ea typeface="Cambria" panose="02040503050406030204" pitchFamily="34" charset="-122"/>
                <a:cs typeface="Cambria" panose="02040503050406030204" pitchFamily="34" charset="-120"/>
              </a:rPr>
              <a:t>275,668</a:t>
            </a:r>
            <a:endParaRPr lang="en-US" sz="2600" dirty="0"/>
          </a:p>
        </p:txBody>
      </p:sp>
      <p:sp>
        <p:nvSpPr>
          <p:cNvPr id="7" name="Text 5"/>
          <p:cNvSpPr/>
          <p:nvPr/>
        </p:nvSpPr>
        <p:spPr>
          <a:xfrm>
            <a:off x="640080" y="2776118"/>
            <a:ext cx="3337560" cy="336499"/>
          </a:xfrm>
          <a:prstGeom prst="rect">
            <a:avLst/>
          </a:prstGeom>
          <a:noFill/>
        </p:spPr>
        <p:txBody>
          <a:bodyPr wrap="square" rtlCol="0" anchor="t"/>
          <a:lstStyle/>
          <a:p>
            <a:pPr marL="0" indent="0" algn="ctr">
              <a:buNone/>
            </a:pPr>
            <a:r>
              <a:rPr lang="en-US" sz="1050" dirty="0">
                <a:solidFill>
                  <a:srgbClr val="64758B"/>
                </a:solidFill>
                <a:latin typeface="Calibri" panose="020F0502020204030204" pitchFamily="34" charset="0"/>
                <a:ea typeface="Calibri" panose="020F0502020204030204" pitchFamily="34" charset="-122"/>
                <a:cs typeface="Calibri" panose="020F0502020204030204" pitchFamily="34" charset="-120"/>
              </a:rPr>
              <a:t>Daily demand records</a:t>
            </a:r>
            <a:endParaRPr lang="en-US" sz="1050" dirty="0"/>
          </a:p>
          <a:p>
            <a:pPr marL="0" indent="0" algn="ctr">
              <a:buNone/>
            </a:pPr>
            <a:r>
              <a:rPr lang="en-US" sz="1050" dirty="0">
                <a:solidFill>
                  <a:srgbClr val="64758B"/>
                </a:solidFill>
                <a:latin typeface="Calibri" panose="020F0502020204030204" pitchFamily="34" charset="0"/>
                <a:ea typeface="Calibri" panose="020F0502020204030204" pitchFamily="34" charset="-122"/>
                <a:cs typeface="Calibri" panose="020F0502020204030204" pitchFamily="34" charset="-120"/>
              </a:rPr>
              <a:t>(product × day)</a:t>
            </a:r>
            <a:endParaRPr lang="en-US" sz="1050" dirty="0"/>
          </a:p>
        </p:txBody>
      </p:sp>
      <p:sp>
        <p:nvSpPr>
          <p:cNvPr id="8" name="Shape 6"/>
          <p:cNvSpPr/>
          <p:nvPr/>
        </p:nvSpPr>
        <p:spPr>
          <a:xfrm>
            <a:off x="4343400" y="2103120"/>
            <a:ext cx="3520440" cy="1051560"/>
          </a:xfrm>
          <a:prstGeom prst="roundRect">
            <a:avLst>
              <a:gd name="adj" fmla="val 7826"/>
            </a:avLst>
          </a:prstGeom>
          <a:solidFill>
            <a:srgbClr val="FFFFFF"/>
          </a:solidFill>
          <a:ln w="12700">
            <a:solidFill>
              <a:srgbClr val="E2E8EF"/>
            </a:solidFill>
            <a:prstDash val="solid"/>
          </a:ln>
        </p:spPr>
      </p:sp>
      <p:sp>
        <p:nvSpPr>
          <p:cNvPr id="9" name="Text 7"/>
          <p:cNvSpPr/>
          <p:nvPr/>
        </p:nvSpPr>
        <p:spPr>
          <a:xfrm>
            <a:off x="4434840" y="2250338"/>
            <a:ext cx="3337560" cy="546811"/>
          </a:xfrm>
          <a:prstGeom prst="rect">
            <a:avLst/>
          </a:prstGeom>
          <a:noFill/>
        </p:spPr>
        <p:txBody>
          <a:bodyPr wrap="square" rtlCol="0" anchor="b"/>
          <a:lstStyle/>
          <a:p>
            <a:pPr marL="0" indent="0" algn="ctr">
              <a:buNone/>
            </a:pPr>
            <a:r>
              <a:rPr lang="en-US" sz="2600" b="1" dirty="0">
                <a:solidFill>
                  <a:srgbClr val="1F7A8C"/>
                </a:solidFill>
                <a:latin typeface="Cambria" panose="02040503050406030204" pitchFamily="34" charset="0"/>
                <a:ea typeface="Cambria" panose="02040503050406030204" pitchFamily="34" charset="-122"/>
                <a:cs typeface="Cambria" panose="02040503050406030204" pitchFamily="34" charset="-120"/>
              </a:rPr>
              <a:t>271,642</a:t>
            </a:r>
            <a:endParaRPr lang="en-US" sz="2600" dirty="0"/>
          </a:p>
        </p:txBody>
      </p:sp>
      <p:sp>
        <p:nvSpPr>
          <p:cNvPr id="10" name="Text 8"/>
          <p:cNvSpPr/>
          <p:nvPr/>
        </p:nvSpPr>
        <p:spPr>
          <a:xfrm>
            <a:off x="4434840" y="2776118"/>
            <a:ext cx="3337560" cy="336499"/>
          </a:xfrm>
          <a:prstGeom prst="rect">
            <a:avLst/>
          </a:prstGeom>
          <a:noFill/>
        </p:spPr>
        <p:txBody>
          <a:bodyPr wrap="square" rtlCol="0" anchor="t"/>
          <a:lstStyle/>
          <a:p>
            <a:pPr marL="0" indent="0" algn="ctr">
              <a:buNone/>
            </a:pPr>
            <a:r>
              <a:rPr lang="en-US" sz="1050" dirty="0">
                <a:solidFill>
                  <a:srgbClr val="64758B"/>
                </a:solidFill>
                <a:latin typeface="Calibri" panose="020F0502020204030204" pitchFamily="34" charset="0"/>
                <a:ea typeface="Calibri" panose="020F0502020204030204" pitchFamily="34" charset="-122"/>
                <a:cs typeface="Calibri" panose="020F0502020204030204" pitchFamily="34" charset="-120"/>
              </a:rPr>
              <a:t>Feature-engineered</a:t>
            </a:r>
            <a:endParaRPr lang="en-US" sz="1050" dirty="0"/>
          </a:p>
          <a:p>
            <a:pPr marL="0" indent="0" algn="ctr">
              <a:buNone/>
            </a:pPr>
            <a:r>
              <a:rPr lang="en-US" sz="1050" dirty="0">
                <a:solidFill>
                  <a:srgbClr val="64758B"/>
                </a:solidFill>
                <a:latin typeface="Calibri" panose="020F0502020204030204" pitchFamily="34" charset="0"/>
                <a:ea typeface="Calibri" panose="020F0502020204030204" pitchFamily="34" charset="-122"/>
                <a:cs typeface="Calibri" panose="020F0502020204030204" pitchFamily="34" charset="-120"/>
              </a:rPr>
              <a:t>records</a:t>
            </a:r>
            <a:endParaRPr lang="en-US" sz="1050" dirty="0"/>
          </a:p>
        </p:txBody>
      </p:sp>
      <p:sp>
        <p:nvSpPr>
          <p:cNvPr id="11" name="Shape 9"/>
          <p:cNvSpPr/>
          <p:nvPr/>
        </p:nvSpPr>
        <p:spPr>
          <a:xfrm>
            <a:off x="8138160" y="2103120"/>
            <a:ext cx="3520440" cy="1051560"/>
          </a:xfrm>
          <a:prstGeom prst="roundRect">
            <a:avLst>
              <a:gd name="adj" fmla="val 7826"/>
            </a:avLst>
          </a:prstGeom>
          <a:solidFill>
            <a:srgbClr val="FFFFFF"/>
          </a:solidFill>
          <a:ln w="12700">
            <a:solidFill>
              <a:srgbClr val="E2E8EF"/>
            </a:solidFill>
            <a:prstDash val="solid"/>
          </a:ln>
        </p:spPr>
      </p:sp>
      <p:sp>
        <p:nvSpPr>
          <p:cNvPr id="12" name="Text 10"/>
          <p:cNvSpPr/>
          <p:nvPr/>
        </p:nvSpPr>
        <p:spPr>
          <a:xfrm>
            <a:off x="8229600" y="2250338"/>
            <a:ext cx="3337560" cy="546811"/>
          </a:xfrm>
          <a:prstGeom prst="rect">
            <a:avLst/>
          </a:prstGeom>
          <a:noFill/>
        </p:spPr>
        <p:txBody>
          <a:bodyPr wrap="square" rtlCol="0" anchor="b"/>
          <a:lstStyle/>
          <a:p>
            <a:pPr marL="0" indent="0" algn="ctr">
              <a:buNone/>
            </a:pPr>
            <a:r>
              <a:rPr lang="en-US" sz="2200" b="1" dirty="0">
                <a:solidFill>
                  <a:srgbClr val="E0982E"/>
                </a:solidFill>
                <a:latin typeface="Cambria" panose="02040503050406030204" pitchFamily="34" charset="0"/>
                <a:ea typeface="Cambria" panose="02040503050406030204" pitchFamily="34" charset="-122"/>
                <a:cs typeface="Cambria" panose="02040503050406030204" pitchFamily="34" charset="-120"/>
              </a:rPr>
              <a:t>Demand</a:t>
            </a:r>
            <a:endParaRPr lang="en-US" sz="2200" dirty="0"/>
          </a:p>
        </p:txBody>
      </p:sp>
      <p:sp>
        <p:nvSpPr>
          <p:cNvPr id="13" name="Text 11"/>
          <p:cNvSpPr/>
          <p:nvPr/>
        </p:nvSpPr>
        <p:spPr>
          <a:xfrm>
            <a:off x="8229600" y="2776118"/>
            <a:ext cx="3337560" cy="336499"/>
          </a:xfrm>
          <a:prstGeom prst="rect">
            <a:avLst/>
          </a:prstGeom>
          <a:noFill/>
        </p:spPr>
        <p:txBody>
          <a:bodyPr wrap="square" rtlCol="0" anchor="t"/>
          <a:lstStyle/>
          <a:p>
            <a:pPr marL="0" indent="0" algn="ctr">
              <a:buNone/>
            </a:pPr>
            <a:r>
              <a:rPr lang="en-US" sz="1050" dirty="0">
                <a:solidFill>
                  <a:srgbClr val="64758B"/>
                </a:solidFill>
                <a:latin typeface="Calibri" panose="020F0502020204030204" pitchFamily="34" charset="0"/>
                <a:ea typeface="Calibri" panose="020F0502020204030204" pitchFamily="34" charset="-122"/>
                <a:cs typeface="Calibri" panose="020F0502020204030204" pitchFamily="34" charset="-120"/>
              </a:rPr>
              <a:t>Target variable</a:t>
            </a:r>
            <a:endParaRPr lang="en-US" sz="1050" dirty="0"/>
          </a:p>
          <a:p>
            <a:pPr marL="0" indent="0" algn="ctr">
              <a:buNone/>
            </a:pPr>
            <a:r>
              <a:rPr lang="en-US" sz="1050" dirty="0">
                <a:solidFill>
                  <a:srgbClr val="64758B"/>
                </a:solidFill>
                <a:latin typeface="Calibri" panose="020F0502020204030204" pitchFamily="34" charset="0"/>
                <a:ea typeface="Calibri" panose="020F0502020204030204" pitchFamily="34" charset="-122"/>
                <a:cs typeface="Calibri" panose="020F0502020204030204" pitchFamily="34" charset="-120"/>
              </a:rPr>
              <a:t>predicted by the model</a:t>
            </a:r>
            <a:endParaRPr lang="en-US" sz="1050" dirty="0"/>
          </a:p>
        </p:txBody>
      </p:sp>
      <p:sp>
        <p:nvSpPr>
          <p:cNvPr id="14" name="Text 12"/>
          <p:cNvSpPr/>
          <p:nvPr/>
        </p:nvSpPr>
        <p:spPr>
          <a:xfrm>
            <a:off x="548640" y="3429000"/>
            <a:ext cx="5486400" cy="274320"/>
          </a:xfrm>
          <a:prstGeom prst="rect">
            <a:avLst/>
          </a:prstGeom>
          <a:noFill/>
        </p:spPr>
        <p:txBody>
          <a:bodyPr wrap="square" rtlCol="0" anchor="ctr"/>
          <a:lstStyle/>
          <a:p>
            <a:pPr marL="0" indent="0">
              <a:buNone/>
            </a:pPr>
            <a:r>
              <a:rPr lang="en-US" sz="1200" b="1" kern="0" spc="150" dirty="0">
                <a:solidFill>
                  <a:srgbClr val="12395B"/>
                </a:solidFill>
                <a:latin typeface="Calibri" panose="020F0502020204030204" pitchFamily="34" charset="0"/>
                <a:ea typeface="Calibri" panose="020F0502020204030204" pitchFamily="34" charset="-122"/>
                <a:cs typeface="Calibri" panose="020F0502020204030204" pitchFamily="34" charset="-120"/>
              </a:rPr>
              <a:t>SIX INPUT FEATURES</a:t>
            </a:r>
            <a:endParaRPr lang="en-US" sz="1200" dirty="0"/>
          </a:p>
        </p:txBody>
      </p:sp>
      <p:sp>
        <p:nvSpPr>
          <p:cNvPr id="15" name="Shape 13"/>
          <p:cNvSpPr/>
          <p:nvPr/>
        </p:nvSpPr>
        <p:spPr>
          <a:xfrm>
            <a:off x="548640" y="3749040"/>
            <a:ext cx="3576218" cy="1234440"/>
          </a:xfrm>
          <a:prstGeom prst="roundRect">
            <a:avLst>
              <a:gd name="adj" fmla="val 6667"/>
            </a:avLst>
          </a:prstGeom>
          <a:solidFill>
            <a:srgbClr val="FFFFFF"/>
          </a:solidFill>
          <a:ln w="12700">
            <a:solidFill>
              <a:srgbClr val="E2E8EF"/>
            </a:solidFill>
            <a:prstDash val="solid"/>
          </a:ln>
        </p:spPr>
      </p:sp>
      <p:sp>
        <p:nvSpPr>
          <p:cNvPr id="16" name="Text 14"/>
          <p:cNvSpPr/>
          <p:nvPr/>
        </p:nvSpPr>
        <p:spPr>
          <a:xfrm>
            <a:off x="713232" y="3895344"/>
            <a:ext cx="365760" cy="365760"/>
          </a:xfrm>
          <a:prstGeom prst="ellipse">
            <a:avLst/>
          </a:prstGeom>
          <a:solidFill>
            <a:srgbClr val="1F7A8C"/>
          </a:solid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17" name="Text 15"/>
          <p:cNvSpPr/>
          <p:nvPr/>
        </p:nvSpPr>
        <p:spPr>
          <a:xfrm>
            <a:off x="713232" y="4315968"/>
            <a:ext cx="3247034" cy="310896"/>
          </a:xfrm>
          <a:prstGeom prst="rect">
            <a:avLst/>
          </a:prstGeom>
          <a:noFill/>
        </p:spPr>
        <p:txBody>
          <a:bodyPr wrap="square" rtlCol="0" anchor="ctr"/>
          <a:lstStyle/>
          <a:p>
            <a:pPr marL="0" indent="0">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Product Description</a:t>
            </a:r>
            <a:endParaRPr lang="en-US" sz="1250" dirty="0"/>
          </a:p>
        </p:txBody>
      </p:sp>
      <p:sp>
        <p:nvSpPr>
          <p:cNvPr id="18" name="Text 16"/>
          <p:cNvSpPr/>
          <p:nvPr/>
        </p:nvSpPr>
        <p:spPr>
          <a:xfrm>
            <a:off x="713232" y="4617720"/>
            <a:ext cx="3247034" cy="329184"/>
          </a:xfrm>
          <a:prstGeom prst="rect">
            <a:avLst/>
          </a:prstGeom>
          <a:noFill/>
        </p:spPr>
        <p:txBody>
          <a:bodyPr wrap="square" rtlCol="0" anchor="ctr"/>
          <a:lstStyle/>
          <a:p>
            <a:pPr marL="0" indent="0">
              <a:lnSpc>
                <a:spcPts val="1200"/>
              </a:lnSpc>
              <a:buNone/>
            </a:pPr>
            <a:r>
              <a:rPr lang="en-US" sz="1000" dirty="0">
                <a:solidFill>
                  <a:srgbClr val="64758B"/>
                </a:solidFill>
                <a:latin typeface="Calibri" panose="020F0502020204030204" pitchFamily="34" charset="0"/>
                <a:ea typeface="Calibri" panose="020F0502020204030204" pitchFamily="34" charset="-122"/>
                <a:cs typeface="Calibri" panose="020F0502020204030204" pitchFamily="34" charset="-120"/>
              </a:rPr>
              <a:t>Identifies which product the row belongs to</a:t>
            </a:r>
            <a:endParaRPr lang="en-US" sz="1000" dirty="0"/>
          </a:p>
        </p:txBody>
      </p:sp>
      <p:sp>
        <p:nvSpPr>
          <p:cNvPr id="19" name="Shape 17"/>
          <p:cNvSpPr/>
          <p:nvPr/>
        </p:nvSpPr>
        <p:spPr>
          <a:xfrm>
            <a:off x="4307738" y="3749040"/>
            <a:ext cx="3576218" cy="1234440"/>
          </a:xfrm>
          <a:prstGeom prst="roundRect">
            <a:avLst>
              <a:gd name="adj" fmla="val 6667"/>
            </a:avLst>
          </a:prstGeom>
          <a:solidFill>
            <a:srgbClr val="FFFFFF"/>
          </a:solidFill>
          <a:ln w="12700">
            <a:solidFill>
              <a:srgbClr val="E2E8EF"/>
            </a:solidFill>
            <a:prstDash val="solid"/>
          </a:ln>
        </p:spPr>
      </p:sp>
      <p:sp>
        <p:nvSpPr>
          <p:cNvPr id="20" name="Text 18"/>
          <p:cNvSpPr/>
          <p:nvPr/>
        </p:nvSpPr>
        <p:spPr>
          <a:xfrm>
            <a:off x="4472330" y="3895344"/>
            <a:ext cx="365760" cy="365760"/>
          </a:xfrm>
          <a:prstGeom prst="ellipse">
            <a:avLst/>
          </a:prstGeom>
          <a:solidFill>
            <a:srgbClr val="1F7A8C"/>
          </a:solid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21" name="Text 19"/>
          <p:cNvSpPr/>
          <p:nvPr/>
        </p:nvSpPr>
        <p:spPr>
          <a:xfrm>
            <a:off x="4472330" y="4315968"/>
            <a:ext cx="3247034" cy="310896"/>
          </a:xfrm>
          <a:prstGeom prst="rect">
            <a:avLst/>
          </a:prstGeom>
          <a:noFill/>
        </p:spPr>
        <p:txBody>
          <a:bodyPr wrap="square" rtlCol="0" anchor="ctr"/>
          <a:lstStyle/>
          <a:p>
            <a:pPr marL="0" indent="0">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Average Price</a:t>
            </a:r>
            <a:endParaRPr lang="en-US" sz="1250" dirty="0"/>
          </a:p>
        </p:txBody>
      </p:sp>
      <p:sp>
        <p:nvSpPr>
          <p:cNvPr id="22" name="Text 20"/>
          <p:cNvSpPr/>
          <p:nvPr/>
        </p:nvSpPr>
        <p:spPr>
          <a:xfrm>
            <a:off x="4472330" y="4617720"/>
            <a:ext cx="3247034" cy="329184"/>
          </a:xfrm>
          <a:prstGeom prst="rect">
            <a:avLst/>
          </a:prstGeom>
          <a:noFill/>
        </p:spPr>
        <p:txBody>
          <a:bodyPr wrap="square" rtlCol="0" anchor="ctr"/>
          <a:lstStyle/>
          <a:p>
            <a:pPr marL="0" indent="0">
              <a:lnSpc>
                <a:spcPts val="1200"/>
              </a:lnSpc>
              <a:buNone/>
            </a:pPr>
            <a:r>
              <a:rPr lang="en-US" sz="1000" dirty="0">
                <a:solidFill>
                  <a:srgbClr val="64758B"/>
                </a:solidFill>
                <a:latin typeface="Calibri" panose="020F0502020204030204" pitchFamily="34" charset="0"/>
                <a:ea typeface="Calibri" panose="020F0502020204030204" pitchFamily="34" charset="-122"/>
                <a:cs typeface="Calibri" panose="020F0502020204030204" pitchFamily="34" charset="-120"/>
              </a:rPr>
              <a:t>Typical selling price for the product</a:t>
            </a:r>
            <a:endParaRPr lang="en-US" sz="1000" dirty="0"/>
          </a:p>
        </p:txBody>
      </p:sp>
      <p:sp>
        <p:nvSpPr>
          <p:cNvPr id="23" name="Shape 21"/>
          <p:cNvSpPr/>
          <p:nvPr/>
        </p:nvSpPr>
        <p:spPr>
          <a:xfrm>
            <a:off x="8066837" y="3749040"/>
            <a:ext cx="3576218" cy="1234440"/>
          </a:xfrm>
          <a:prstGeom prst="roundRect">
            <a:avLst>
              <a:gd name="adj" fmla="val 6667"/>
            </a:avLst>
          </a:prstGeom>
          <a:solidFill>
            <a:srgbClr val="FFFFFF"/>
          </a:solidFill>
          <a:ln w="12700">
            <a:solidFill>
              <a:srgbClr val="E2E8EF"/>
            </a:solidFill>
            <a:prstDash val="solid"/>
          </a:ln>
        </p:spPr>
      </p:sp>
      <p:sp>
        <p:nvSpPr>
          <p:cNvPr id="24" name="Text 22"/>
          <p:cNvSpPr/>
          <p:nvPr/>
        </p:nvSpPr>
        <p:spPr>
          <a:xfrm>
            <a:off x="8231429" y="3895344"/>
            <a:ext cx="365760" cy="365760"/>
          </a:xfrm>
          <a:prstGeom prst="ellipse">
            <a:avLst/>
          </a:prstGeom>
          <a:solidFill>
            <a:srgbClr val="1F7A8C"/>
          </a:solid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25" name="Text 23"/>
          <p:cNvSpPr/>
          <p:nvPr/>
        </p:nvSpPr>
        <p:spPr>
          <a:xfrm>
            <a:off x="8231429" y="4315968"/>
            <a:ext cx="3247034" cy="310896"/>
          </a:xfrm>
          <a:prstGeom prst="rect">
            <a:avLst/>
          </a:prstGeom>
          <a:noFill/>
        </p:spPr>
        <p:txBody>
          <a:bodyPr wrap="square" rtlCol="0" anchor="ctr"/>
          <a:lstStyle/>
          <a:p>
            <a:pPr marL="0" indent="0">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Previous Demand</a:t>
            </a:r>
            <a:endParaRPr lang="en-US" sz="1250" dirty="0"/>
          </a:p>
        </p:txBody>
      </p:sp>
      <p:sp>
        <p:nvSpPr>
          <p:cNvPr id="26" name="Text 24"/>
          <p:cNvSpPr/>
          <p:nvPr/>
        </p:nvSpPr>
        <p:spPr>
          <a:xfrm>
            <a:off x="8231429" y="4617720"/>
            <a:ext cx="3247034" cy="329184"/>
          </a:xfrm>
          <a:prstGeom prst="rect">
            <a:avLst/>
          </a:prstGeom>
          <a:noFill/>
        </p:spPr>
        <p:txBody>
          <a:bodyPr wrap="square" rtlCol="0" anchor="ctr"/>
          <a:lstStyle/>
          <a:p>
            <a:pPr marL="0" indent="0">
              <a:lnSpc>
                <a:spcPts val="1200"/>
              </a:lnSpc>
              <a:buNone/>
            </a:pPr>
            <a:r>
              <a:rPr lang="en-US" sz="1000" dirty="0">
                <a:solidFill>
                  <a:srgbClr val="64758B"/>
                </a:solidFill>
                <a:latin typeface="Calibri" panose="020F0502020204030204" pitchFamily="34" charset="0"/>
                <a:ea typeface="Calibri" panose="020F0502020204030204" pitchFamily="34" charset="-122"/>
                <a:cs typeface="Calibri" panose="020F0502020204030204" pitchFamily="34" charset="-120"/>
              </a:rPr>
              <a:t>Units sold on the prior recorded day</a:t>
            </a:r>
            <a:endParaRPr lang="en-US" sz="1000" dirty="0"/>
          </a:p>
        </p:txBody>
      </p:sp>
      <p:sp>
        <p:nvSpPr>
          <p:cNvPr id="27" name="Shape 25"/>
          <p:cNvSpPr/>
          <p:nvPr/>
        </p:nvSpPr>
        <p:spPr>
          <a:xfrm>
            <a:off x="548640" y="5120640"/>
            <a:ext cx="3576218" cy="1234440"/>
          </a:xfrm>
          <a:prstGeom prst="roundRect">
            <a:avLst>
              <a:gd name="adj" fmla="val 6667"/>
            </a:avLst>
          </a:prstGeom>
          <a:solidFill>
            <a:srgbClr val="FFFFFF"/>
          </a:solidFill>
          <a:ln w="12700">
            <a:solidFill>
              <a:srgbClr val="E2E8EF"/>
            </a:solidFill>
            <a:prstDash val="solid"/>
          </a:ln>
        </p:spPr>
      </p:sp>
      <p:sp>
        <p:nvSpPr>
          <p:cNvPr id="28" name="Text 26"/>
          <p:cNvSpPr/>
          <p:nvPr/>
        </p:nvSpPr>
        <p:spPr>
          <a:xfrm>
            <a:off x="713232" y="5266944"/>
            <a:ext cx="365760" cy="365760"/>
          </a:xfrm>
          <a:prstGeom prst="ellipse">
            <a:avLst/>
          </a:prstGeom>
          <a:solidFill>
            <a:srgbClr val="1F7A8C"/>
          </a:solid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29" name="Text 27"/>
          <p:cNvSpPr/>
          <p:nvPr/>
        </p:nvSpPr>
        <p:spPr>
          <a:xfrm>
            <a:off x="713232" y="5687568"/>
            <a:ext cx="3247034" cy="310896"/>
          </a:xfrm>
          <a:prstGeom prst="rect">
            <a:avLst/>
          </a:prstGeom>
          <a:noFill/>
        </p:spPr>
        <p:txBody>
          <a:bodyPr wrap="square" rtlCol="0" anchor="ctr"/>
          <a:lstStyle/>
          <a:p>
            <a:pPr marL="0" indent="0">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Rolling 7-Record Demand</a:t>
            </a:r>
            <a:endParaRPr lang="en-US" sz="1250" dirty="0"/>
          </a:p>
        </p:txBody>
      </p:sp>
      <p:sp>
        <p:nvSpPr>
          <p:cNvPr id="30" name="Text 28"/>
          <p:cNvSpPr/>
          <p:nvPr/>
        </p:nvSpPr>
        <p:spPr>
          <a:xfrm>
            <a:off x="713232" y="5989320"/>
            <a:ext cx="3247034" cy="329184"/>
          </a:xfrm>
          <a:prstGeom prst="rect">
            <a:avLst/>
          </a:prstGeom>
          <a:noFill/>
        </p:spPr>
        <p:txBody>
          <a:bodyPr wrap="square" rtlCol="0" anchor="ctr"/>
          <a:lstStyle/>
          <a:p>
            <a:pPr marL="0" indent="0">
              <a:lnSpc>
                <a:spcPts val="1200"/>
              </a:lnSpc>
              <a:buNone/>
            </a:pPr>
            <a:r>
              <a:rPr lang="en-US" sz="1000" dirty="0">
                <a:solidFill>
                  <a:srgbClr val="64758B"/>
                </a:solidFill>
                <a:latin typeface="Calibri" panose="020F0502020204030204" pitchFamily="34" charset="0"/>
                <a:ea typeface="Calibri" panose="020F0502020204030204" pitchFamily="34" charset="-122"/>
                <a:cs typeface="Calibri" panose="020F0502020204030204" pitchFamily="34" charset="-120"/>
              </a:rPr>
              <a:t>Short-term demand trend over the last 7 records</a:t>
            </a:r>
            <a:endParaRPr lang="en-US" sz="1000" dirty="0"/>
          </a:p>
        </p:txBody>
      </p:sp>
      <p:sp>
        <p:nvSpPr>
          <p:cNvPr id="31" name="Shape 29"/>
          <p:cNvSpPr/>
          <p:nvPr/>
        </p:nvSpPr>
        <p:spPr>
          <a:xfrm>
            <a:off x="4307738" y="5120640"/>
            <a:ext cx="3576218" cy="1234440"/>
          </a:xfrm>
          <a:prstGeom prst="roundRect">
            <a:avLst>
              <a:gd name="adj" fmla="val 6667"/>
            </a:avLst>
          </a:prstGeom>
          <a:solidFill>
            <a:srgbClr val="FFFFFF"/>
          </a:solidFill>
          <a:ln w="12700">
            <a:solidFill>
              <a:srgbClr val="E2E8EF"/>
            </a:solidFill>
            <a:prstDash val="solid"/>
          </a:ln>
        </p:spPr>
      </p:sp>
      <p:sp>
        <p:nvSpPr>
          <p:cNvPr id="32" name="Text 30"/>
          <p:cNvSpPr/>
          <p:nvPr/>
        </p:nvSpPr>
        <p:spPr>
          <a:xfrm>
            <a:off x="4472330" y="5266944"/>
            <a:ext cx="365760" cy="365760"/>
          </a:xfrm>
          <a:prstGeom prst="ellipse">
            <a:avLst/>
          </a:prstGeom>
          <a:solidFill>
            <a:srgbClr val="1F7A8C"/>
          </a:solid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200" dirty="0"/>
          </a:p>
        </p:txBody>
      </p:sp>
      <p:sp>
        <p:nvSpPr>
          <p:cNvPr id="33" name="Text 31"/>
          <p:cNvSpPr/>
          <p:nvPr/>
        </p:nvSpPr>
        <p:spPr>
          <a:xfrm>
            <a:off x="4472330" y="5687568"/>
            <a:ext cx="3247034" cy="310896"/>
          </a:xfrm>
          <a:prstGeom prst="rect">
            <a:avLst/>
          </a:prstGeom>
          <a:noFill/>
        </p:spPr>
        <p:txBody>
          <a:bodyPr wrap="square" rtlCol="0" anchor="ctr"/>
          <a:lstStyle/>
          <a:p>
            <a:pPr marL="0" indent="0">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Day of Week</a:t>
            </a:r>
            <a:endParaRPr lang="en-US" sz="1250" dirty="0"/>
          </a:p>
        </p:txBody>
      </p:sp>
      <p:sp>
        <p:nvSpPr>
          <p:cNvPr id="34" name="Text 32"/>
          <p:cNvSpPr/>
          <p:nvPr/>
        </p:nvSpPr>
        <p:spPr>
          <a:xfrm>
            <a:off x="4472330" y="5989320"/>
            <a:ext cx="3247034" cy="329184"/>
          </a:xfrm>
          <a:prstGeom prst="rect">
            <a:avLst/>
          </a:prstGeom>
          <a:noFill/>
        </p:spPr>
        <p:txBody>
          <a:bodyPr wrap="square" rtlCol="0" anchor="ctr"/>
          <a:lstStyle/>
          <a:p>
            <a:pPr marL="0" indent="0">
              <a:lnSpc>
                <a:spcPts val="1200"/>
              </a:lnSpc>
              <a:buNone/>
            </a:pPr>
            <a:r>
              <a:rPr lang="en-US" sz="1000" dirty="0">
                <a:solidFill>
                  <a:srgbClr val="64758B"/>
                </a:solidFill>
                <a:latin typeface="Calibri" panose="020F0502020204030204" pitchFamily="34" charset="0"/>
                <a:ea typeface="Calibri" panose="020F0502020204030204" pitchFamily="34" charset="-122"/>
                <a:cs typeface="Calibri" panose="020F0502020204030204" pitchFamily="34" charset="-120"/>
              </a:rPr>
              <a:t>Captures weekly buying patterns</a:t>
            </a:r>
            <a:endParaRPr lang="en-US" sz="1000" dirty="0"/>
          </a:p>
        </p:txBody>
      </p:sp>
      <p:sp>
        <p:nvSpPr>
          <p:cNvPr id="35" name="Shape 33"/>
          <p:cNvSpPr/>
          <p:nvPr/>
        </p:nvSpPr>
        <p:spPr>
          <a:xfrm>
            <a:off x="8066837" y="5120640"/>
            <a:ext cx="3576218" cy="1234440"/>
          </a:xfrm>
          <a:prstGeom prst="roundRect">
            <a:avLst>
              <a:gd name="adj" fmla="val 6667"/>
            </a:avLst>
          </a:prstGeom>
          <a:solidFill>
            <a:srgbClr val="FFFFFF"/>
          </a:solidFill>
          <a:ln w="12700">
            <a:solidFill>
              <a:srgbClr val="E2E8EF"/>
            </a:solidFill>
            <a:prstDash val="solid"/>
          </a:ln>
        </p:spPr>
      </p:sp>
      <p:sp>
        <p:nvSpPr>
          <p:cNvPr id="36" name="Text 34"/>
          <p:cNvSpPr/>
          <p:nvPr/>
        </p:nvSpPr>
        <p:spPr>
          <a:xfrm>
            <a:off x="8231429" y="5266944"/>
            <a:ext cx="365760" cy="365760"/>
          </a:xfrm>
          <a:prstGeom prst="ellipse">
            <a:avLst/>
          </a:prstGeom>
          <a:solidFill>
            <a:srgbClr val="1F7A8C"/>
          </a:solid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200" dirty="0"/>
          </a:p>
        </p:txBody>
      </p:sp>
      <p:sp>
        <p:nvSpPr>
          <p:cNvPr id="37" name="Text 35"/>
          <p:cNvSpPr/>
          <p:nvPr/>
        </p:nvSpPr>
        <p:spPr>
          <a:xfrm>
            <a:off x="8231429" y="5687568"/>
            <a:ext cx="3247034" cy="310896"/>
          </a:xfrm>
          <a:prstGeom prst="rect">
            <a:avLst/>
          </a:prstGeom>
          <a:noFill/>
        </p:spPr>
        <p:txBody>
          <a:bodyPr wrap="square" rtlCol="0" anchor="ctr"/>
          <a:lstStyle/>
          <a:p>
            <a:pPr marL="0" indent="0">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Month</a:t>
            </a:r>
            <a:endParaRPr lang="en-US" sz="1250" dirty="0"/>
          </a:p>
        </p:txBody>
      </p:sp>
      <p:sp>
        <p:nvSpPr>
          <p:cNvPr id="38" name="Text 36"/>
          <p:cNvSpPr/>
          <p:nvPr/>
        </p:nvSpPr>
        <p:spPr>
          <a:xfrm>
            <a:off x="8231429" y="5989320"/>
            <a:ext cx="3247034" cy="329184"/>
          </a:xfrm>
          <a:prstGeom prst="rect">
            <a:avLst/>
          </a:prstGeom>
          <a:noFill/>
        </p:spPr>
        <p:txBody>
          <a:bodyPr wrap="square" rtlCol="0" anchor="ctr"/>
          <a:lstStyle/>
          <a:p>
            <a:pPr marL="0" indent="0">
              <a:lnSpc>
                <a:spcPts val="1200"/>
              </a:lnSpc>
              <a:buNone/>
            </a:pPr>
            <a:r>
              <a:rPr lang="en-US" sz="1000" dirty="0">
                <a:solidFill>
                  <a:srgbClr val="64758B"/>
                </a:solidFill>
                <a:latin typeface="Calibri" panose="020F0502020204030204" pitchFamily="34" charset="0"/>
                <a:ea typeface="Calibri" panose="020F0502020204030204" pitchFamily="34" charset="-122"/>
                <a:cs typeface="Calibri" panose="020F0502020204030204" pitchFamily="34" charset="-120"/>
              </a:rPr>
              <a:t>Captures seasonal / monthly patterns</a:t>
            </a:r>
            <a:endParaRPr lang="en-US" sz="1000" dirty="0"/>
          </a:p>
        </p:txBody>
      </p:sp>
      <p:sp>
        <p:nvSpPr>
          <p:cNvPr id="39" name="Text 37"/>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40" name="Text 38"/>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09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How the Components Fit Together</a:t>
            </a:r>
            <a:endParaRPr lang="en-US" sz="3000" dirty="0"/>
          </a:p>
        </p:txBody>
      </p:sp>
      <p:sp>
        <p:nvSpPr>
          <p:cNvPr id="4" name="Text 2"/>
          <p:cNvSpPr/>
          <p:nvPr/>
        </p:nvSpPr>
        <p:spPr>
          <a:xfrm>
            <a:off x="932688" y="1691640"/>
            <a:ext cx="2724912" cy="548640"/>
          </a:xfrm>
          <a:prstGeom prst="roundRect">
            <a:avLst>
              <a:gd name="adj" fmla="val 13333"/>
            </a:avLst>
          </a:prstGeom>
          <a:solidFill>
            <a:srgbClr val="12395B"/>
          </a:solidFill>
        </p:spPr>
        <p:txBody>
          <a:bodyPr wrap="square" lIns="635" tIns="635" rIns="635" bIns="635"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UCI Online Retail Dataset</a:t>
            </a:r>
            <a:endParaRPr lang="en-US" sz="1150" dirty="0"/>
          </a:p>
        </p:txBody>
      </p:sp>
      <p:sp>
        <p:nvSpPr>
          <p:cNvPr id="5" name="Text 3"/>
          <p:cNvSpPr/>
          <p:nvPr/>
        </p:nvSpPr>
        <p:spPr>
          <a:xfrm>
            <a:off x="548640" y="1792224"/>
            <a:ext cx="347472" cy="347472"/>
          </a:xfrm>
          <a:prstGeom prst="ellipse">
            <a:avLst/>
          </a:prstGeom>
          <a:solidFill>
            <a:srgbClr val="FFFFFF"/>
          </a:solidFill>
          <a:ln w="22225">
            <a:solidFill>
              <a:srgbClr val="12395B"/>
            </a:solidFill>
          </a:ln>
        </p:spPr>
        <p:txBody>
          <a:bodyPr wrap="square" lIns="0" tIns="0" rIns="0" bIns="0" rtlCol="0" anchor="ctr"/>
          <a:lstStyle/>
          <a:p>
            <a:pPr marL="0" indent="0" algn="ctr">
              <a:buNone/>
            </a:pPr>
            <a:r>
              <a:rPr lang="en-US" sz="1200" b="1" dirty="0">
                <a:solidFill>
                  <a:srgbClr val="12395B"/>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6" name="Shape 4"/>
          <p:cNvSpPr/>
          <p:nvPr/>
        </p:nvSpPr>
        <p:spPr>
          <a:xfrm>
            <a:off x="2176272" y="2244852"/>
            <a:ext cx="237744" cy="201168"/>
          </a:xfrm>
          <a:prstGeom prst="downArrow">
            <a:avLst/>
          </a:prstGeom>
          <a:solidFill>
            <a:srgbClr val="64758B"/>
          </a:solidFill>
        </p:spPr>
      </p:sp>
      <p:sp>
        <p:nvSpPr>
          <p:cNvPr id="7" name="Text 5"/>
          <p:cNvSpPr/>
          <p:nvPr/>
        </p:nvSpPr>
        <p:spPr>
          <a:xfrm>
            <a:off x="932688" y="2368296"/>
            <a:ext cx="2724912" cy="548640"/>
          </a:xfrm>
          <a:prstGeom prst="roundRect">
            <a:avLst>
              <a:gd name="adj" fmla="val 13333"/>
            </a:avLst>
          </a:prstGeom>
          <a:solidFill>
            <a:srgbClr val="1F7A8C"/>
          </a:solidFill>
        </p:spPr>
        <p:txBody>
          <a:bodyPr wrap="square" lIns="635" tIns="635" rIns="635" bIns="635"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Cleaning</a:t>
            </a:r>
            <a:endParaRPr lang="en-US" sz="1150" dirty="0"/>
          </a:p>
        </p:txBody>
      </p:sp>
      <p:sp>
        <p:nvSpPr>
          <p:cNvPr id="8" name="Text 6"/>
          <p:cNvSpPr/>
          <p:nvPr/>
        </p:nvSpPr>
        <p:spPr>
          <a:xfrm>
            <a:off x="548640" y="2468880"/>
            <a:ext cx="347472" cy="347472"/>
          </a:xfrm>
          <a:prstGeom prst="ellipse">
            <a:avLst/>
          </a:prstGeom>
          <a:solidFill>
            <a:srgbClr val="FFFFFF"/>
          </a:solidFill>
          <a:ln w="22225">
            <a:solidFill>
              <a:srgbClr val="1F7A8C"/>
            </a:solidFill>
          </a:ln>
        </p:spPr>
        <p:txBody>
          <a:bodyPr wrap="square" lIns="0" tIns="0" rIns="0" bIns="0" rtlCol="0" anchor="ctr"/>
          <a:lstStyle/>
          <a:p>
            <a:pPr marL="0" indent="0" algn="ctr">
              <a:buNone/>
            </a:pPr>
            <a:r>
              <a:rPr lang="en-US" sz="1200" b="1" dirty="0">
                <a:solidFill>
                  <a:srgbClr val="12395B"/>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9" name="Shape 7"/>
          <p:cNvSpPr/>
          <p:nvPr/>
        </p:nvSpPr>
        <p:spPr>
          <a:xfrm>
            <a:off x="2176272" y="2921508"/>
            <a:ext cx="237744" cy="201168"/>
          </a:xfrm>
          <a:prstGeom prst="downArrow">
            <a:avLst/>
          </a:prstGeom>
          <a:solidFill>
            <a:srgbClr val="64758B"/>
          </a:solidFill>
        </p:spPr>
      </p:sp>
      <p:sp>
        <p:nvSpPr>
          <p:cNvPr id="10" name="Text 8"/>
          <p:cNvSpPr/>
          <p:nvPr/>
        </p:nvSpPr>
        <p:spPr>
          <a:xfrm>
            <a:off x="932688" y="3044952"/>
            <a:ext cx="2724912" cy="548640"/>
          </a:xfrm>
          <a:prstGeom prst="roundRect">
            <a:avLst>
              <a:gd name="adj" fmla="val 13333"/>
            </a:avLst>
          </a:prstGeom>
          <a:solidFill>
            <a:srgbClr val="1F7A8C"/>
          </a:solidFill>
        </p:spPr>
        <p:txBody>
          <a:bodyPr wrap="square" lIns="635" tIns="635" rIns="635" bIns="635"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Demand Aggregation</a:t>
            </a:r>
            <a:endParaRPr lang="en-US" sz="1150" dirty="0"/>
          </a:p>
        </p:txBody>
      </p:sp>
      <p:sp>
        <p:nvSpPr>
          <p:cNvPr id="11" name="Text 9"/>
          <p:cNvSpPr/>
          <p:nvPr/>
        </p:nvSpPr>
        <p:spPr>
          <a:xfrm>
            <a:off x="548640" y="3145536"/>
            <a:ext cx="347472" cy="347472"/>
          </a:xfrm>
          <a:prstGeom prst="ellipse">
            <a:avLst/>
          </a:prstGeom>
          <a:solidFill>
            <a:srgbClr val="FFFFFF"/>
          </a:solidFill>
          <a:ln w="22225">
            <a:solidFill>
              <a:srgbClr val="1F7A8C"/>
            </a:solidFill>
          </a:ln>
        </p:spPr>
        <p:txBody>
          <a:bodyPr wrap="square" lIns="0" tIns="0" rIns="0" bIns="0" rtlCol="0" anchor="ctr"/>
          <a:lstStyle/>
          <a:p>
            <a:pPr marL="0" indent="0" algn="ctr">
              <a:buNone/>
            </a:pPr>
            <a:r>
              <a:rPr lang="en-US" sz="1200" b="1" dirty="0">
                <a:solidFill>
                  <a:srgbClr val="12395B"/>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12" name="Shape 10"/>
          <p:cNvSpPr/>
          <p:nvPr/>
        </p:nvSpPr>
        <p:spPr>
          <a:xfrm>
            <a:off x="2176272" y="3598164"/>
            <a:ext cx="237744" cy="201168"/>
          </a:xfrm>
          <a:prstGeom prst="downArrow">
            <a:avLst/>
          </a:prstGeom>
          <a:solidFill>
            <a:srgbClr val="64758B"/>
          </a:solidFill>
        </p:spPr>
      </p:sp>
      <p:sp>
        <p:nvSpPr>
          <p:cNvPr id="13" name="Text 11"/>
          <p:cNvSpPr/>
          <p:nvPr/>
        </p:nvSpPr>
        <p:spPr>
          <a:xfrm>
            <a:off x="932688" y="3721608"/>
            <a:ext cx="2724912" cy="548640"/>
          </a:xfrm>
          <a:prstGeom prst="roundRect">
            <a:avLst>
              <a:gd name="adj" fmla="val 13333"/>
            </a:avLst>
          </a:prstGeom>
          <a:solidFill>
            <a:srgbClr val="1F7A8C"/>
          </a:solidFill>
        </p:spPr>
        <p:txBody>
          <a:bodyPr wrap="square" lIns="635" tIns="635" rIns="635" bIns="635"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 Engineering</a:t>
            </a:r>
            <a:endParaRPr lang="en-US" sz="1150" dirty="0"/>
          </a:p>
        </p:txBody>
      </p:sp>
      <p:sp>
        <p:nvSpPr>
          <p:cNvPr id="14" name="Text 12"/>
          <p:cNvSpPr/>
          <p:nvPr/>
        </p:nvSpPr>
        <p:spPr>
          <a:xfrm>
            <a:off x="548640" y="3822192"/>
            <a:ext cx="347472" cy="347472"/>
          </a:xfrm>
          <a:prstGeom prst="ellipse">
            <a:avLst/>
          </a:prstGeom>
          <a:solidFill>
            <a:srgbClr val="FFFFFF"/>
          </a:solidFill>
          <a:ln w="22225">
            <a:solidFill>
              <a:srgbClr val="1F7A8C"/>
            </a:solidFill>
          </a:ln>
        </p:spPr>
        <p:txBody>
          <a:bodyPr wrap="square" lIns="0" tIns="0" rIns="0" bIns="0" rtlCol="0" anchor="ctr"/>
          <a:lstStyle/>
          <a:p>
            <a:pPr marL="0" indent="0" algn="ctr">
              <a:buNone/>
            </a:pPr>
            <a:r>
              <a:rPr lang="en-US" sz="1200" b="1" dirty="0">
                <a:solidFill>
                  <a:srgbClr val="12395B"/>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15" name="Text 13"/>
          <p:cNvSpPr/>
          <p:nvPr/>
        </p:nvSpPr>
        <p:spPr>
          <a:xfrm>
            <a:off x="4910328" y="1691640"/>
            <a:ext cx="2724912" cy="548640"/>
          </a:xfrm>
          <a:prstGeom prst="roundRect">
            <a:avLst>
              <a:gd name="adj" fmla="val 13333"/>
            </a:avLst>
          </a:prstGeom>
          <a:solidFill>
            <a:srgbClr val="1F7A8C"/>
          </a:solidFill>
        </p:spPr>
        <p:txBody>
          <a:bodyPr wrap="square" lIns="635" tIns="635" rIns="635" bIns="635"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Train / Test Split</a:t>
            </a:r>
            <a:endParaRPr lang="en-US" sz="1150" dirty="0"/>
          </a:p>
        </p:txBody>
      </p:sp>
      <p:sp>
        <p:nvSpPr>
          <p:cNvPr id="16" name="Text 14"/>
          <p:cNvSpPr/>
          <p:nvPr/>
        </p:nvSpPr>
        <p:spPr>
          <a:xfrm>
            <a:off x="4526280" y="1792224"/>
            <a:ext cx="347472" cy="347472"/>
          </a:xfrm>
          <a:prstGeom prst="ellipse">
            <a:avLst/>
          </a:prstGeom>
          <a:solidFill>
            <a:srgbClr val="FFFFFF"/>
          </a:solidFill>
          <a:ln w="22225">
            <a:solidFill>
              <a:srgbClr val="1F7A8C"/>
            </a:solidFill>
          </a:ln>
        </p:spPr>
        <p:txBody>
          <a:bodyPr wrap="square" lIns="0" tIns="0" rIns="0" bIns="0" rtlCol="0" anchor="ctr"/>
          <a:lstStyle/>
          <a:p>
            <a:pPr marL="0" indent="0" algn="ctr">
              <a:buNone/>
            </a:pPr>
            <a:r>
              <a:rPr lang="en-US" sz="1200" b="1" dirty="0">
                <a:solidFill>
                  <a:srgbClr val="12395B"/>
                </a:solidFill>
                <a:latin typeface="Calibri" panose="020F0502020204030204" pitchFamily="34" charset="0"/>
                <a:ea typeface="Calibri" panose="020F0502020204030204" pitchFamily="34" charset="-122"/>
                <a:cs typeface="Calibri" panose="020F0502020204030204" pitchFamily="34" charset="-120"/>
              </a:rPr>
              <a:t>5</a:t>
            </a:r>
            <a:endParaRPr lang="en-US" sz="1200" dirty="0"/>
          </a:p>
        </p:txBody>
      </p:sp>
      <p:sp>
        <p:nvSpPr>
          <p:cNvPr id="17" name="Shape 15"/>
          <p:cNvSpPr/>
          <p:nvPr/>
        </p:nvSpPr>
        <p:spPr>
          <a:xfrm>
            <a:off x="6153912" y="2244852"/>
            <a:ext cx="237744" cy="201168"/>
          </a:xfrm>
          <a:prstGeom prst="downArrow">
            <a:avLst/>
          </a:prstGeom>
          <a:solidFill>
            <a:srgbClr val="64758B"/>
          </a:solidFill>
        </p:spPr>
      </p:sp>
      <p:sp>
        <p:nvSpPr>
          <p:cNvPr id="18" name="Text 16"/>
          <p:cNvSpPr/>
          <p:nvPr/>
        </p:nvSpPr>
        <p:spPr>
          <a:xfrm>
            <a:off x="4910328" y="2368296"/>
            <a:ext cx="2724912" cy="548640"/>
          </a:xfrm>
          <a:prstGeom prst="roundRect">
            <a:avLst>
              <a:gd name="adj" fmla="val 13333"/>
            </a:avLst>
          </a:prstGeom>
          <a:solidFill>
            <a:srgbClr val="E0982E"/>
          </a:solidFill>
        </p:spPr>
        <p:txBody>
          <a:bodyPr wrap="square" lIns="635" tIns="635" rIns="635" bIns="635" rtlCol="0" anchor="ctr"/>
          <a:lstStyle/>
          <a:p>
            <a:pPr marL="0" indent="0" algn="ctr">
              <a:buNone/>
            </a:pPr>
            <a:r>
              <a:rPr lang="en-US" sz="1150" b="1" dirty="0">
                <a:solidFill>
                  <a:srgbClr val="0A2038"/>
                </a:solidFill>
                <a:latin typeface="Calibri" panose="020F0502020204030204" pitchFamily="34" charset="0"/>
                <a:ea typeface="Calibri" panose="020F0502020204030204" pitchFamily="34" charset="-122"/>
                <a:cs typeface="Calibri" panose="020F0502020204030204" pitchFamily="34" charset="-120"/>
              </a:rPr>
              <a:t>Random Forest Regressor</a:t>
            </a:r>
            <a:endParaRPr lang="en-US" sz="1150" dirty="0"/>
          </a:p>
        </p:txBody>
      </p:sp>
      <p:sp>
        <p:nvSpPr>
          <p:cNvPr id="19" name="Text 17"/>
          <p:cNvSpPr/>
          <p:nvPr/>
        </p:nvSpPr>
        <p:spPr>
          <a:xfrm>
            <a:off x="4526280" y="2468880"/>
            <a:ext cx="347472" cy="347472"/>
          </a:xfrm>
          <a:prstGeom prst="ellipse">
            <a:avLst/>
          </a:prstGeom>
          <a:solidFill>
            <a:srgbClr val="FFFFFF"/>
          </a:solidFill>
          <a:ln w="22225">
            <a:solidFill>
              <a:srgbClr val="E0982E"/>
            </a:solidFill>
          </a:ln>
        </p:spPr>
        <p:txBody>
          <a:bodyPr wrap="square" lIns="0" tIns="0" rIns="0" bIns="0" rtlCol="0" anchor="ctr"/>
          <a:lstStyle/>
          <a:p>
            <a:pPr marL="0" indent="0" algn="ctr">
              <a:buNone/>
            </a:pPr>
            <a:r>
              <a:rPr lang="en-US" sz="1200" b="1" dirty="0">
                <a:solidFill>
                  <a:srgbClr val="12395B"/>
                </a:solidFill>
                <a:latin typeface="Calibri" panose="020F0502020204030204" pitchFamily="34" charset="0"/>
                <a:ea typeface="Calibri" panose="020F0502020204030204" pitchFamily="34" charset="-122"/>
                <a:cs typeface="Calibri" panose="020F0502020204030204" pitchFamily="34" charset="-120"/>
              </a:rPr>
              <a:t>6</a:t>
            </a:r>
            <a:endParaRPr lang="en-US" sz="1200" dirty="0"/>
          </a:p>
        </p:txBody>
      </p:sp>
      <p:sp>
        <p:nvSpPr>
          <p:cNvPr id="20" name="Shape 18"/>
          <p:cNvSpPr/>
          <p:nvPr/>
        </p:nvSpPr>
        <p:spPr>
          <a:xfrm>
            <a:off x="6153912" y="2921508"/>
            <a:ext cx="237744" cy="201168"/>
          </a:xfrm>
          <a:prstGeom prst="downArrow">
            <a:avLst/>
          </a:prstGeom>
          <a:solidFill>
            <a:srgbClr val="64758B"/>
          </a:solidFill>
        </p:spPr>
      </p:sp>
      <p:sp>
        <p:nvSpPr>
          <p:cNvPr id="21" name="Text 19"/>
          <p:cNvSpPr/>
          <p:nvPr/>
        </p:nvSpPr>
        <p:spPr>
          <a:xfrm>
            <a:off x="4910328" y="3044952"/>
            <a:ext cx="2724912" cy="548640"/>
          </a:xfrm>
          <a:prstGeom prst="roundRect">
            <a:avLst>
              <a:gd name="adj" fmla="val 13333"/>
            </a:avLst>
          </a:prstGeom>
          <a:solidFill>
            <a:srgbClr val="1F7A8C"/>
          </a:solidFill>
        </p:spPr>
        <p:txBody>
          <a:bodyPr wrap="square" lIns="635" tIns="635" rIns="635" bIns="635"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 Evaluation</a:t>
            </a:r>
            <a:endParaRPr lang="en-US" sz="1150" dirty="0"/>
          </a:p>
        </p:txBody>
      </p:sp>
      <p:sp>
        <p:nvSpPr>
          <p:cNvPr id="22" name="Text 20"/>
          <p:cNvSpPr/>
          <p:nvPr/>
        </p:nvSpPr>
        <p:spPr>
          <a:xfrm>
            <a:off x="4526280" y="3145536"/>
            <a:ext cx="347472" cy="347472"/>
          </a:xfrm>
          <a:prstGeom prst="ellipse">
            <a:avLst/>
          </a:prstGeom>
          <a:solidFill>
            <a:srgbClr val="FFFFFF"/>
          </a:solidFill>
          <a:ln w="22225">
            <a:solidFill>
              <a:srgbClr val="1F7A8C"/>
            </a:solidFill>
          </a:ln>
        </p:spPr>
        <p:txBody>
          <a:bodyPr wrap="square" lIns="0" tIns="0" rIns="0" bIns="0" rtlCol="0" anchor="ctr"/>
          <a:lstStyle/>
          <a:p>
            <a:pPr marL="0" indent="0" algn="ctr">
              <a:buNone/>
            </a:pPr>
            <a:r>
              <a:rPr lang="en-US" sz="1200" b="1" dirty="0">
                <a:solidFill>
                  <a:srgbClr val="12395B"/>
                </a:solidFill>
                <a:latin typeface="Calibri" panose="020F0502020204030204" pitchFamily="34" charset="0"/>
                <a:ea typeface="Calibri" panose="020F0502020204030204" pitchFamily="34" charset="-122"/>
                <a:cs typeface="Calibri" panose="020F0502020204030204" pitchFamily="34" charset="-120"/>
              </a:rPr>
              <a:t>7</a:t>
            </a:r>
            <a:endParaRPr lang="en-US" sz="1200" dirty="0"/>
          </a:p>
        </p:txBody>
      </p:sp>
      <p:sp>
        <p:nvSpPr>
          <p:cNvPr id="23" name="Shape 21"/>
          <p:cNvSpPr/>
          <p:nvPr/>
        </p:nvSpPr>
        <p:spPr>
          <a:xfrm>
            <a:off x="6153912" y="3598164"/>
            <a:ext cx="237744" cy="201168"/>
          </a:xfrm>
          <a:prstGeom prst="downArrow">
            <a:avLst/>
          </a:prstGeom>
          <a:solidFill>
            <a:srgbClr val="64758B"/>
          </a:solidFill>
        </p:spPr>
      </p:sp>
      <p:sp>
        <p:nvSpPr>
          <p:cNvPr id="24" name="Text 22"/>
          <p:cNvSpPr/>
          <p:nvPr/>
        </p:nvSpPr>
        <p:spPr>
          <a:xfrm>
            <a:off x="4910328" y="3721608"/>
            <a:ext cx="2724912" cy="548640"/>
          </a:xfrm>
          <a:prstGeom prst="roundRect">
            <a:avLst>
              <a:gd name="adj" fmla="val 13333"/>
            </a:avLst>
          </a:prstGeom>
          <a:solidFill>
            <a:srgbClr val="1F7A8C"/>
          </a:solidFill>
        </p:spPr>
        <p:txBody>
          <a:bodyPr wrap="square" lIns="635" tIns="635" rIns="635" bIns="635"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Saved ML Model</a:t>
            </a:r>
            <a:endParaRPr lang="en-US" sz="1150" dirty="0"/>
          </a:p>
        </p:txBody>
      </p:sp>
      <p:sp>
        <p:nvSpPr>
          <p:cNvPr id="25" name="Text 23"/>
          <p:cNvSpPr/>
          <p:nvPr/>
        </p:nvSpPr>
        <p:spPr>
          <a:xfrm>
            <a:off x="4526280" y="3822192"/>
            <a:ext cx="347472" cy="347472"/>
          </a:xfrm>
          <a:prstGeom prst="ellipse">
            <a:avLst/>
          </a:prstGeom>
          <a:solidFill>
            <a:srgbClr val="FFFFFF"/>
          </a:solidFill>
          <a:ln w="22225">
            <a:solidFill>
              <a:srgbClr val="1F7A8C"/>
            </a:solidFill>
          </a:ln>
        </p:spPr>
        <p:txBody>
          <a:bodyPr wrap="square" lIns="0" tIns="0" rIns="0" bIns="0" rtlCol="0" anchor="ctr"/>
          <a:lstStyle/>
          <a:p>
            <a:pPr marL="0" indent="0" algn="ctr">
              <a:buNone/>
            </a:pPr>
            <a:r>
              <a:rPr lang="en-US" sz="1200" b="1" dirty="0">
                <a:solidFill>
                  <a:srgbClr val="12395B"/>
                </a:solidFill>
                <a:latin typeface="Calibri" panose="020F0502020204030204" pitchFamily="34" charset="0"/>
                <a:ea typeface="Calibri" panose="020F0502020204030204" pitchFamily="34" charset="-122"/>
                <a:cs typeface="Calibri" panose="020F0502020204030204" pitchFamily="34" charset="-120"/>
              </a:rPr>
              <a:t>8</a:t>
            </a:r>
            <a:endParaRPr lang="en-US" sz="1200" dirty="0"/>
          </a:p>
        </p:txBody>
      </p:sp>
      <p:sp>
        <p:nvSpPr>
          <p:cNvPr id="26" name="Text 24"/>
          <p:cNvSpPr/>
          <p:nvPr/>
        </p:nvSpPr>
        <p:spPr>
          <a:xfrm>
            <a:off x="8887968" y="1691640"/>
            <a:ext cx="2724912" cy="548640"/>
          </a:xfrm>
          <a:prstGeom prst="roundRect">
            <a:avLst>
              <a:gd name="adj" fmla="val 13333"/>
            </a:avLst>
          </a:prstGeom>
          <a:solidFill>
            <a:srgbClr val="1F7A8C"/>
          </a:solidFill>
        </p:spPr>
        <p:txBody>
          <a:bodyPr wrap="square" lIns="635" tIns="635" rIns="635" bIns="635"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Prediction</a:t>
            </a:r>
            <a:endParaRPr lang="en-US" sz="1150" dirty="0"/>
          </a:p>
        </p:txBody>
      </p:sp>
      <p:sp>
        <p:nvSpPr>
          <p:cNvPr id="27" name="Text 25"/>
          <p:cNvSpPr/>
          <p:nvPr/>
        </p:nvSpPr>
        <p:spPr>
          <a:xfrm>
            <a:off x="8503920" y="1792224"/>
            <a:ext cx="347472" cy="347472"/>
          </a:xfrm>
          <a:prstGeom prst="ellipse">
            <a:avLst/>
          </a:prstGeom>
          <a:solidFill>
            <a:srgbClr val="FFFFFF"/>
          </a:solidFill>
          <a:ln w="22225">
            <a:solidFill>
              <a:srgbClr val="1F7A8C"/>
            </a:solidFill>
          </a:ln>
        </p:spPr>
        <p:txBody>
          <a:bodyPr wrap="square" lIns="0" tIns="0" rIns="0" bIns="0" rtlCol="0" anchor="ctr"/>
          <a:lstStyle/>
          <a:p>
            <a:pPr marL="0" indent="0" algn="ctr">
              <a:buNone/>
            </a:pPr>
            <a:r>
              <a:rPr lang="en-US" sz="1200" b="1" dirty="0">
                <a:solidFill>
                  <a:srgbClr val="12395B"/>
                </a:solidFill>
                <a:latin typeface="Calibri" panose="020F0502020204030204" pitchFamily="34" charset="0"/>
                <a:ea typeface="Calibri" panose="020F0502020204030204" pitchFamily="34" charset="-122"/>
                <a:cs typeface="Calibri" panose="020F0502020204030204" pitchFamily="34" charset="-120"/>
              </a:rPr>
              <a:t>9</a:t>
            </a:r>
            <a:endParaRPr lang="en-US" sz="1200" dirty="0"/>
          </a:p>
        </p:txBody>
      </p:sp>
      <p:sp>
        <p:nvSpPr>
          <p:cNvPr id="28" name="Shape 26"/>
          <p:cNvSpPr/>
          <p:nvPr/>
        </p:nvSpPr>
        <p:spPr>
          <a:xfrm>
            <a:off x="10131552" y="2244852"/>
            <a:ext cx="237744" cy="201168"/>
          </a:xfrm>
          <a:prstGeom prst="downArrow">
            <a:avLst/>
          </a:prstGeom>
          <a:solidFill>
            <a:srgbClr val="64758B"/>
          </a:solidFill>
        </p:spPr>
      </p:sp>
      <p:sp>
        <p:nvSpPr>
          <p:cNvPr id="29" name="Text 27"/>
          <p:cNvSpPr/>
          <p:nvPr/>
        </p:nvSpPr>
        <p:spPr>
          <a:xfrm>
            <a:off x="8887968" y="2368296"/>
            <a:ext cx="2724912" cy="548640"/>
          </a:xfrm>
          <a:prstGeom prst="roundRect">
            <a:avLst>
              <a:gd name="adj" fmla="val 13333"/>
            </a:avLst>
          </a:prstGeom>
          <a:solidFill>
            <a:srgbClr val="12395B"/>
          </a:solidFill>
        </p:spPr>
        <p:txBody>
          <a:bodyPr wrap="square" lIns="635" tIns="635" rIns="635" bIns="635"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Streamlit Application</a:t>
            </a:r>
            <a:endParaRPr lang="en-US" sz="1150" dirty="0"/>
          </a:p>
        </p:txBody>
      </p:sp>
      <p:sp>
        <p:nvSpPr>
          <p:cNvPr id="30" name="Text 28"/>
          <p:cNvSpPr/>
          <p:nvPr/>
        </p:nvSpPr>
        <p:spPr>
          <a:xfrm>
            <a:off x="8503920" y="2468880"/>
            <a:ext cx="347472" cy="347472"/>
          </a:xfrm>
          <a:prstGeom prst="ellipse">
            <a:avLst/>
          </a:prstGeom>
          <a:solidFill>
            <a:srgbClr val="FFFFFF"/>
          </a:solidFill>
          <a:ln w="22225">
            <a:solidFill>
              <a:srgbClr val="12395B"/>
            </a:solidFill>
          </a:ln>
        </p:spPr>
        <p:txBody>
          <a:bodyPr wrap="square" lIns="0" tIns="0" rIns="0" bIns="0" rtlCol="0" anchor="ctr"/>
          <a:lstStyle/>
          <a:p>
            <a:pPr marL="0" indent="0" algn="ctr">
              <a:buNone/>
            </a:pPr>
            <a:r>
              <a:rPr lang="en-US" sz="1200" b="1" dirty="0">
                <a:solidFill>
                  <a:srgbClr val="12395B"/>
                </a:solidFill>
                <a:latin typeface="Calibri" panose="020F0502020204030204" pitchFamily="34" charset="0"/>
                <a:ea typeface="Calibri" panose="020F0502020204030204" pitchFamily="34" charset="-122"/>
                <a:cs typeface="Calibri" panose="020F0502020204030204" pitchFamily="34" charset="-120"/>
              </a:rPr>
              <a:t>10</a:t>
            </a:r>
            <a:endParaRPr lang="en-US" sz="1200" dirty="0"/>
          </a:p>
        </p:txBody>
      </p:sp>
      <p:sp>
        <p:nvSpPr>
          <p:cNvPr id="31" name="Shape 29"/>
          <p:cNvSpPr/>
          <p:nvPr/>
        </p:nvSpPr>
        <p:spPr>
          <a:xfrm>
            <a:off x="548640" y="5623560"/>
            <a:ext cx="11094415" cy="502920"/>
          </a:xfrm>
          <a:prstGeom prst="roundRect">
            <a:avLst>
              <a:gd name="adj" fmla="val 14545"/>
            </a:avLst>
          </a:prstGeom>
          <a:solidFill>
            <a:srgbClr val="E7F1F3"/>
          </a:solidFill>
        </p:spPr>
      </p:sp>
      <p:sp>
        <p:nvSpPr>
          <p:cNvPr id="32" name="Text 30"/>
          <p:cNvSpPr/>
          <p:nvPr/>
        </p:nvSpPr>
        <p:spPr>
          <a:xfrm>
            <a:off x="777240" y="5623560"/>
            <a:ext cx="10637215" cy="502920"/>
          </a:xfrm>
          <a:prstGeom prst="rect">
            <a:avLst/>
          </a:prstGeom>
          <a:noFill/>
        </p:spPr>
        <p:txBody>
          <a:bodyPr wrap="square" rtlCol="0" anchor="ctr"/>
          <a:lstStyle/>
          <a:p>
            <a:pPr marL="0" indent="0">
              <a:buNone/>
            </a:pPr>
            <a:r>
              <a:rPr lang="en-US" sz="1150" i="1" dirty="0">
                <a:solidFill>
                  <a:srgbClr val="1F7A8C"/>
                </a:solidFill>
                <a:latin typeface="Calibri" panose="020F0502020204030204" pitchFamily="34" charset="0"/>
                <a:ea typeface="Calibri" panose="020F0502020204030204" pitchFamily="34" charset="-122"/>
                <a:cs typeface="Calibri" panose="020F0502020204030204" pitchFamily="34" charset="-120"/>
              </a:rPr>
              <a:t>Data flows top-to-bottom within a column, then continues from the last box of one column into the first box of the next.</a:t>
            </a:r>
            <a:endParaRPr lang="en-US" sz="1150" dirty="0"/>
          </a:p>
        </p:txBody>
      </p:sp>
      <p:sp>
        <p:nvSpPr>
          <p:cNvPr id="33" name="Text 31"/>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34" name="Text 32"/>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MACHINE LEARNING ALGORITHM</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Random Forest Regressor</a:t>
            </a:r>
            <a:endParaRPr lang="en-US" sz="3000" dirty="0"/>
          </a:p>
        </p:txBody>
      </p:sp>
      <p:sp>
        <p:nvSpPr>
          <p:cNvPr id="4" name="Text 2"/>
          <p:cNvSpPr/>
          <p:nvPr/>
        </p:nvSpPr>
        <p:spPr>
          <a:xfrm>
            <a:off x="548640" y="1645920"/>
            <a:ext cx="5212080" cy="4206240"/>
          </a:xfrm>
          <a:prstGeom prst="rect">
            <a:avLst/>
          </a:prstGeom>
          <a:noFill/>
        </p:spPr>
        <p:txBody>
          <a:bodyPr wrap="square" rtlCol="0" anchor="t"/>
          <a:lstStyle/>
          <a:p>
            <a:pPr marL="342900" indent="-342900">
              <a:lnSpc>
                <a:spcPts val="1900"/>
              </a:lnSpc>
              <a:spcAft>
                <a:spcPts val="1400"/>
              </a:spcAft>
              <a:buSzPct val="100000"/>
              <a:buChar char="•"/>
            </a:pPr>
            <a:r>
              <a:rPr lang="en-US" sz="1400" dirty="0">
                <a:solidFill>
                  <a:srgbClr val="1A2432"/>
                </a:solidFill>
                <a:latin typeface="Calibri" panose="020F0502020204030204" pitchFamily="34" charset="0"/>
                <a:ea typeface="Calibri" panose="020F0502020204030204" pitchFamily="34" charset="-122"/>
                <a:cs typeface="Calibri" panose="020F0502020204030204" pitchFamily="34" charset="-120"/>
              </a:rPr>
              <a:t>Random Forest combines the predictions of many individual decision trees.</a:t>
            </a:r>
            <a:endParaRPr lang="en-US" sz="1400" dirty="0"/>
          </a:p>
          <a:p>
            <a:pPr marL="342900" indent="-342900">
              <a:lnSpc>
                <a:spcPts val="1900"/>
              </a:lnSpc>
              <a:spcAft>
                <a:spcPts val="1400"/>
              </a:spcAft>
              <a:buSzPct val="100000"/>
              <a:buChar char="•"/>
            </a:pPr>
            <a:r>
              <a:rPr lang="en-US" sz="1400" dirty="0">
                <a:solidFill>
                  <a:srgbClr val="1A2432"/>
                </a:solidFill>
                <a:latin typeface="Calibri" panose="020F0502020204030204" pitchFamily="34" charset="0"/>
                <a:ea typeface="Calibri" panose="020F0502020204030204" pitchFamily="34" charset="-122"/>
                <a:cs typeface="Calibri" panose="020F0502020204030204" pitchFamily="34" charset="-120"/>
              </a:rPr>
              <a:t>It learns the relationship between input features (price, prior demand, timing) and the demand value.</a:t>
            </a:r>
            <a:endParaRPr lang="en-US" sz="1400" dirty="0"/>
          </a:p>
          <a:p>
            <a:pPr marL="342900" indent="-342900">
              <a:lnSpc>
                <a:spcPts val="1900"/>
              </a:lnSpc>
              <a:spcAft>
                <a:spcPts val="1400"/>
              </a:spcAft>
              <a:buSzPct val="100000"/>
              <a:buChar char="•"/>
            </a:pPr>
            <a:r>
              <a:rPr lang="en-US" sz="1400" dirty="0">
                <a:solidFill>
                  <a:srgbClr val="1A2432"/>
                </a:solidFill>
                <a:latin typeface="Calibri" panose="020F0502020204030204" pitchFamily="34" charset="0"/>
                <a:ea typeface="Calibri" panose="020F0502020204030204" pitchFamily="34" charset="-122"/>
                <a:cs typeface="Calibri" panose="020F0502020204030204" pitchFamily="34" charset="-120"/>
              </a:rPr>
              <a:t>It suits regression well because the target — Demand — is a continuous numerical value, not a category.</a:t>
            </a:r>
            <a:endParaRPr lang="en-US" sz="1400" dirty="0"/>
          </a:p>
          <a:p>
            <a:pPr marL="342900" indent="-342900">
              <a:lnSpc>
                <a:spcPts val="1900"/>
              </a:lnSpc>
              <a:spcAft>
                <a:spcPts val="1400"/>
              </a:spcAft>
              <a:buSzPct val="100000"/>
              <a:buChar char="•"/>
            </a:pPr>
            <a:r>
              <a:rPr lang="en-US" sz="1400" dirty="0">
                <a:solidFill>
                  <a:srgbClr val="1A2432"/>
                </a:solidFill>
                <a:latin typeface="Calibri" panose="020F0502020204030204" pitchFamily="34" charset="0"/>
                <a:ea typeface="Calibri" panose="020F0502020204030204" pitchFamily="34" charset="-122"/>
                <a:cs typeface="Calibri" panose="020F0502020204030204" pitchFamily="34" charset="-120"/>
              </a:rPr>
              <a:t>Multiple trees each make a prediction, and their results are combined into one final output.</a:t>
            </a:r>
            <a:endParaRPr lang="en-US" sz="1400" dirty="0"/>
          </a:p>
        </p:txBody>
      </p:sp>
      <p:sp>
        <p:nvSpPr>
          <p:cNvPr id="5" name="Shape 3"/>
          <p:cNvSpPr/>
          <p:nvPr/>
        </p:nvSpPr>
        <p:spPr>
          <a:xfrm>
            <a:off x="6263640" y="1645920"/>
            <a:ext cx="5394960" cy="4206240"/>
          </a:xfrm>
          <a:prstGeom prst="roundRect">
            <a:avLst>
              <a:gd name="adj" fmla="val 2609"/>
            </a:avLst>
          </a:prstGeom>
          <a:solidFill>
            <a:srgbClr val="FFFFFF"/>
          </a:solidFill>
          <a:ln w="12700">
            <a:solidFill>
              <a:srgbClr val="E2E8EF"/>
            </a:solidFill>
            <a:prstDash val="solid"/>
          </a:ln>
        </p:spPr>
      </p:sp>
      <p:sp>
        <p:nvSpPr>
          <p:cNvPr id="6" name="Text 4"/>
          <p:cNvSpPr/>
          <p:nvPr/>
        </p:nvSpPr>
        <p:spPr>
          <a:xfrm>
            <a:off x="6537960" y="1810512"/>
            <a:ext cx="4846320" cy="274320"/>
          </a:xfrm>
          <a:prstGeom prst="rect">
            <a:avLst/>
          </a:prstGeom>
          <a:noFill/>
        </p:spPr>
        <p:txBody>
          <a:bodyPr wrap="square" rtlCol="0" anchor="ctr"/>
          <a:lstStyle/>
          <a:p>
            <a:pPr marL="0" indent="0" algn="ctr">
              <a:buNone/>
            </a:pPr>
            <a:r>
              <a:rPr lang="en-US" sz="1100" b="1" kern="0" spc="150" dirty="0">
                <a:solidFill>
                  <a:srgbClr val="12395B"/>
                </a:solidFill>
                <a:latin typeface="Calibri" panose="020F0502020204030204" pitchFamily="34" charset="0"/>
                <a:ea typeface="Calibri" panose="020F0502020204030204" pitchFamily="34" charset="-122"/>
                <a:cs typeface="Calibri" panose="020F0502020204030204" pitchFamily="34" charset="-120"/>
              </a:rPr>
              <a:t>CONCEPTUAL VIEW</a:t>
            </a:r>
            <a:endParaRPr lang="en-US" sz="1100" dirty="0"/>
          </a:p>
        </p:txBody>
      </p:sp>
      <p:sp>
        <p:nvSpPr>
          <p:cNvPr id="7" name="Text 5"/>
          <p:cNvSpPr/>
          <p:nvPr/>
        </p:nvSpPr>
        <p:spPr>
          <a:xfrm>
            <a:off x="7818120" y="2148840"/>
            <a:ext cx="2286000" cy="457200"/>
          </a:xfrm>
          <a:prstGeom prst="roundRect">
            <a:avLst>
              <a:gd name="adj" fmla="val 16000"/>
            </a:avLst>
          </a:prstGeom>
          <a:solidFill>
            <a:srgbClr val="12395B"/>
          </a:solidFill>
        </p:spPr>
        <p:txBody>
          <a:bodyPr wrap="square" lIns="635" tIns="635" rIns="635" bIns="635"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Input Features</a:t>
            </a:r>
            <a:endParaRPr lang="en-US" sz="1200" dirty="0"/>
          </a:p>
        </p:txBody>
      </p:sp>
      <p:sp>
        <p:nvSpPr>
          <p:cNvPr id="8" name="Shape 6"/>
          <p:cNvSpPr/>
          <p:nvPr/>
        </p:nvSpPr>
        <p:spPr>
          <a:xfrm>
            <a:off x="8842248" y="2651760"/>
            <a:ext cx="237744" cy="201168"/>
          </a:xfrm>
          <a:prstGeom prst="downArrow">
            <a:avLst/>
          </a:prstGeom>
          <a:solidFill>
            <a:srgbClr val="64758B"/>
          </a:solidFill>
        </p:spPr>
      </p:sp>
      <p:sp>
        <p:nvSpPr>
          <p:cNvPr id="9" name="Shape 7"/>
          <p:cNvSpPr/>
          <p:nvPr/>
        </p:nvSpPr>
        <p:spPr>
          <a:xfrm>
            <a:off x="6766560" y="2880360"/>
            <a:ext cx="685800" cy="594360"/>
          </a:xfrm>
          <a:prstGeom prst="triangle">
            <a:avLst/>
          </a:prstGeom>
          <a:solidFill>
            <a:srgbClr val="1F7A8C"/>
          </a:solidFill>
        </p:spPr>
      </p:sp>
      <p:sp>
        <p:nvSpPr>
          <p:cNvPr id="10" name="Shape 8"/>
          <p:cNvSpPr/>
          <p:nvPr/>
        </p:nvSpPr>
        <p:spPr>
          <a:xfrm>
            <a:off x="7050024" y="3456432"/>
            <a:ext cx="109728" cy="128016"/>
          </a:xfrm>
          <a:prstGeom prst="rect">
            <a:avLst/>
          </a:prstGeom>
          <a:solidFill>
            <a:srgbClr val="8A5A2B"/>
          </a:solidFill>
        </p:spPr>
      </p:sp>
      <p:sp>
        <p:nvSpPr>
          <p:cNvPr id="11" name="Text 9"/>
          <p:cNvSpPr/>
          <p:nvPr/>
        </p:nvSpPr>
        <p:spPr>
          <a:xfrm>
            <a:off x="6629400" y="3611880"/>
            <a:ext cx="960120" cy="228600"/>
          </a:xfrm>
          <a:prstGeom prst="rect">
            <a:avLst/>
          </a:prstGeom>
          <a:noFill/>
        </p:spPr>
        <p:txBody>
          <a:bodyPr wrap="square" rtlCol="0" anchor="ctr"/>
          <a:lstStyle/>
          <a:p>
            <a:pPr marL="0" indent="0" algn="ctr">
              <a:buNone/>
            </a:pPr>
            <a:r>
              <a:rPr lang="en-US" sz="950" dirty="0">
                <a:solidFill>
                  <a:srgbClr val="64758B"/>
                </a:solidFill>
                <a:latin typeface="Calibri" panose="020F0502020204030204" pitchFamily="34" charset="0"/>
                <a:ea typeface="Calibri" panose="020F0502020204030204" pitchFamily="34" charset="-122"/>
                <a:cs typeface="Calibri" panose="020F0502020204030204" pitchFamily="34" charset="-120"/>
              </a:rPr>
              <a:t>Tree 1</a:t>
            </a:r>
            <a:endParaRPr lang="en-US" sz="950" dirty="0"/>
          </a:p>
        </p:txBody>
      </p:sp>
      <p:sp>
        <p:nvSpPr>
          <p:cNvPr id="12" name="Shape 10"/>
          <p:cNvSpPr/>
          <p:nvPr/>
        </p:nvSpPr>
        <p:spPr>
          <a:xfrm>
            <a:off x="8046720" y="2880360"/>
            <a:ext cx="685800" cy="594360"/>
          </a:xfrm>
          <a:prstGeom prst="triangle">
            <a:avLst/>
          </a:prstGeom>
          <a:solidFill>
            <a:srgbClr val="1F7A8C"/>
          </a:solidFill>
        </p:spPr>
      </p:sp>
      <p:sp>
        <p:nvSpPr>
          <p:cNvPr id="13" name="Shape 11"/>
          <p:cNvSpPr/>
          <p:nvPr/>
        </p:nvSpPr>
        <p:spPr>
          <a:xfrm>
            <a:off x="8330184" y="3456432"/>
            <a:ext cx="109728" cy="128016"/>
          </a:xfrm>
          <a:prstGeom prst="rect">
            <a:avLst/>
          </a:prstGeom>
          <a:solidFill>
            <a:srgbClr val="8A5A2B"/>
          </a:solidFill>
        </p:spPr>
      </p:sp>
      <p:sp>
        <p:nvSpPr>
          <p:cNvPr id="14" name="Text 12"/>
          <p:cNvSpPr/>
          <p:nvPr/>
        </p:nvSpPr>
        <p:spPr>
          <a:xfrm>
            <a:off x="7909560" y="3611880"/>
            <a:ext cx="960120" cy="228600"/>
          </a:xfrm>
          <a:prstGeom prst="rect">
            <a:avLst/>
          </a:prstGeom>
          <a:noFill/>
        </p:spPr>
        <p:txBody>
          <a:bodyPr wrap="square" rtlCol="0" anchor="ctr"/>
          <a:lstStyle/>
          <a:p>
            <a:pPr marL="0" indent="0" algn="ctr">
              <a:buNone/>
            </a:pPr>
            <a:r>
              <a:rPr lang="en-US" sz="950" dirty="0">
                <a:solidFill>
                  <a:srgbClr val="64758B"/>
                </a:solidFill>
                <a:latin typeface="Calibri" panose="020F0502020204030204" pitchFamily="34" charset="0"/>
                <a:ea typeface="Calibri" panose="020F0502020204030204" pitchFamily="34" charset="-122"/>
                <a:cs typeface="Calibri" panose="020F0502020204030204" pitchFamily="34" charset="-120"/>
              </a:rPr>
              <a:t>Tree 2</a:t>
            </a:r>
            <a:endParaRPr lang="en-US" sz="950" dirty="0"/>
          </a:p>
        </p:txBody>
      </p:sp>
      <p:sp>
        <p:nvSpPr>
          <p:cNvPr id="15" name="Shape 13"/>
          <p:cNvSpPr/>
          <p:nvPr/>
        </p:nvSpPr>
        <p:spPr>
          <a:xfrm>
            <a:off x="9326880" y="2880360"/>
            <a:ext cx="685800" cy="594360"/>
          </a:xfrm>
          <a:prstGeom prst="triangle">
            <a:avLst/>
          </a:prstGeom>
          <a:solidFill>
            <a:srgbClr val="1F7A8C"/>
          </a:solidFill>
        </p:spPr>
      </p:sp>
      <p:sp>
        <p:nvSpPr>
          <p:cNvPr id="16" name="Shape 14"/>
          <p:cNvSpPr/>
          <p:nvPr/>
        </p:nvSpPr>
        <p:spPr>
          <a:xfrm>
            <a:off x="9610344" y="3456432"/>
            <a:ext cx="109728" cy="128016"/>
          </a:xfrm>
          <a:prstGeom prst="rect">
            <a:avLst/>
          </a:prstGeom>
          <a:solidFill>
            <a:srgbClr val="8A5A2B"/>
          </a:solidFill>
        </p:spPr>
      </p:sp>
      <p:sp>
        <p:nvSpPr>
          <p:cNvPr id="17" name="Text 15"/>
          <p:cNvSpPr/>
          <p:nvPr/>
        </p:nvSpPr>
        <p:spPr>
          <a:xfrm>
            <a:off x="9189720" y="3611880"/>
            <a:ext cx="960120" cy="228600"/>
          </a:xfrm>
          <a:prstGeom prst="rect">
            <a:avLst/>
          </a:prstGeom>
          <a:noFill/>
        </p:spPr>
        <p:txBody>
          <a:bodyPr wrap="square" rtlCol="0" anchor="ctr"/>
          <a:lstStyle/>
          <a:p>
            <a:pPr marL="0" indent="0" algn="ctr">
              <a:buNone/>
            </a:pPr>
            <a:r>
              <a:rPr lang="en-US" sz="950" dirty="0">
                <a:solidFill>
                  <a:srgbClr val="64758B"/>
                </a:solidFill>
                <a:latin typeface="Calibri" panose="020F0502020204030204" pitchFamily="34" charset="0"/>
                <a:ea typeface="Calibri" panose="020F0502020204030204" pitchFamily="34" charset="-122"/>
                <a:cs typeface="Calibri" panose="020F0502020204030204" pitchFamily="34" charset="-120"/>
              </a:rPr>
              <a:t>Tree 3</a:t>
            </a:r>
            <a:endParaRPr lang="en-US" sz="950" dirty="0"/>
          </a:p>
        </p:txBody>
      </p:sp>
      <p:sp>
        <p:nvSpPr>
          <p:cNvPr id="18" name="Shape 16"/>
          <p:cNvSpPr/>
          <p:nvPr/>
        </p:nvSpPr>
        <p:spPr>
          <a:xfrm>
            <a:off x="10378440" y="2880360"/>
            <a:ext cx="685800" cy="594360"/>
          </a:xfrm>
          <a:prstGeom prst="triangle">
            <a:avLst/>
          </a:prstGeom>
          <a:solidFill>
            <a:srgbClr val="1F7A8C"/>
          </a:solidFill>
        </p:spPr>
      </p:sp>
      <p:sp>
        <p:nvSpPr>
          <p:cNvPr id="19" name="Shape 17"/>
          <p:cNvSpPr/>
          <p:nvPr/>
        </p:nvSpPr>
        <p:spPr>
          <a:xfrm>
            <a:off x="10661904" y="3456432"/>
            <a:ext cx="109728" cy="128016"/>
          </a:xfrm>
          <a:prstGeom prst="rect">
            <a:avLst/>
          </a:prstGeom>
          <a:solidFill>
            <a:srgbClr val="8A5A2B"/>
          </a:solidFill>
        </p:spPr>
      </p:sp>
      <p:sp>
        <p:nvSpPr>
          <p:cNvPr id="20" name="Text 18"/>
          <p:cNvSpPr/>
          <p:nvPr/>
        </p:nvSpPr>
        <p:spPr>
          <a:xfrm>
            <a:off x="10241280" y="3611880"/>
            <a:ext cx="960120" cy="228600"/>
          </a:xfrm>
          <a:prstGeom prst="rect">
            <a:avLst/>
          </a:prstGeom>
          <a:noFill/>
        </p:spPr>
        <p:txBody>
          <a:bodyPr wrap="square" rtlCol="0" anchor="ctr"/>
          <a:lstStyle/>
          <a:p>
            <a:pPr marL="0" indent="0" algn="ctr">
              <a:buNone/>
            </a:pPr>
            <a:r>
              <a:rPr lang="en-US" sz="950" dirty="0">
                <a:solidFill>
                  <a:srgbClr val="64758B"/>
                </a:solidFill>
                <a:latin typeface="Calibri" panose="020F0502020204030204" pitchFamily="34" charset="0"/>
                <a:ea typeface="Calibri" panose="020F0502020204030204" pitchFamily="34" charset="-122"/>
                <a:cs typeface="Calibri" panose="020F0502020204030204" pitchFamily="34" charset="-120"/>
              </a:rPr>
              <a:t>Tree N</a:t>
            </a:r>
            <a:endParaRPr lang="en-US" sz="950" dirty="0"/>
          </a:p>
        </p:txBody>
      </p:sp>
      <p:sp>
        <p:nvSpPr>
          <p:cNvPr id="21" name="Shape 19"/>
          <p:cNvSpPr/>
          <p:nvPr/>
        </p:nvSpPr>
        <p:spPr>
          <a:xfrm>
            <a:off x="7086600" y="3931920"/>
            <a:ext cx="3749040" cy="320040"/>
          </a:xfrm>
          <a:prstGeom prst="line">
            <a:avLst/>
          </a:prstGeom>
          <a:noFill/>
          <a:ln w="15875">
            <a:solidFill>
              <a:srgbClr val="C7D2DC"/>
            </a:solidFill>
            <a:prstDash val="solid"/>
          </a:ln>
        </p:spPr>
      </p:sp>
      <p:sp>
        <p:nvSpPr>
          <p:cNvPr id="22" name="Shape 20"/>
          <p:cNvSpPr/>
          <p:nvPr/>
        </p:nvSpPr>
        <p:spPr>
          <a:xfrm>
            <a:off x="8842248" y="4224528"/>
            <a:ext cx="237744" cy="201168"/>
          </a:xfrm>
          <a:prstGeom prst="downArrow">
            <a:avLst/>
          </a:prstGeom>
          <a:solidFill>
            <a:srgbClr val="E0982E"/>
          </a:solidFill>
        </p:spPr>
      </p:sp>
      <p:sp>
        <p:nvSpPr>
          <p:cNvPr id="23" name="Text 21"/>
          <p:cNvSpPr/>
          <p:nvPr/>
        </p:nvSpPr>
        <p:spPr>
          <a:xfrm>
            <a:off x="7269480" y="4434840"/>
            <a:ext cx="3383280" cy="457200"/>
          </a:xfrm>
          <a:prstGeom prst="roundRect">
            <a:avLst>
              <a:gd name="adj" fmla="val 16000"/>
            </a:avLst>
          </a:prstGeom>
          <a:solidFill>
            <a:srgbClr val="E0982E"/>
          </a:solidFill>
        </p:spPr>
        <p:txBody>
          <a:bodyPr wrap="square" lIns="635" tIns="635" rIns="635" bIns="635" rtlCol="0" anchor="ctr"/>
          <a:lstStyle/>
          <a:p>
            <a:pPr marL="0" indent="0" algn="ctr">
              <a:buNone/>
            </a:pPr>
            <a:r>
              <a:rPr lang="en-US" sz="1150" b="1" dirty="0">
                <a:solidFill>
                  <a:srgbClr val="0A2038"/>
                </a:solidFill>
                <a:latin typeface="Calibri" panose="020F0502020204030204" pitchFamily="34" charset="0"/>
                <a:ea typeface="Calibri" panose="020F0502020204030204" pitchFamily="34" charset="-122"/>
                <a:cs typeface="Calibri" panose="020F0502020204030204" pitchFamily="34" charset="-120"/>
              </a:rPr>
              <a:t>Average of All Tree Predictions</a:t>
            </a:r>
            <a:endParaRPr lang="en-US" sz="1150" dirty="0"/>
          </a:p>
        </p:txBody>
      </p:sp>
      <p:sp>
        <p:nvSpPr>
          <p:cNvPr id="24" name="Shape 22"/>
          <p:cNvSpPr/>
          <p:nvPr/>
        </p:nvSpPr>
        <p:spPr>
          <a:xfrm>
            <a:off x="8842248" y="4937760"/>
            <a:ext cx="237744" cy="201168"/>
          </a:xfrm>
          <a:prstGeom prst="downArrow">
            <a:avLst/>
          </a:prstGeom>
          <a:solidFill>
            <a:srgbClr val="64758B"/>
          </a:solidFill>
        </p:spPr>
      </p:sp>
      <p:sp>
        <p:nvSpPr>
          <p:cNvPr id="25" name="Text 23"/>
          <p:cNvSpPr/>
          <p:nvPr/>
        </p:nvSpPr>
        <p:spPr>
          <a:xfrm>
            <a:off x="7818120" y="5166360"/>
            <a:ext cx="2286000" cy="457200"/>
          </a:xfrm>
          <a:prstGeom prst="roundRect">
            <a:avLst>
              <a:gd name="adj" fmla="val 16000"/>
            </a:avLst>
          </a:prstGeom>
          <a:solidFill>
            <a:srgbClr val="1F7A8C"/>
          </a:solidFill>
        </p:spPr>
        <p:txBody>
          <a:bodyPr wrap="square" lIns="635" tIns="635" rIns="635" bIns="635"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Predicted Demand</a:t>
            </a:r>
            <a:endParaRPr lang="en-US" sz="1200" dirty="0"/>
          </a:p>
        </p:txBody>
      </p:sp>
      <p:sp>
        <p:nvSpPr>
          <p:cNvPr id="26" name="Text 24"/>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27" name="Text 25"/>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TRAINING &amp; TESTING</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Chronological Train / Test Split</a:t>
            </a:r>
            <a:endParaRPr lang="en-US" sz="3000" dirty="0"/>
          </a:p>
        </p:txBody>
      </p:sp>
      <p:sp>
        <p:nvSpPr>
          <p:cNvPr id="4" name="Text 2"/>
          <p:cNvSpPr/>
          <p:nvPr/>
        </p:nvSpPr>
        <p:spPr>
          <a:xfrm>
            <a:off x="548640" y="1600200"/>
            <a:ext cx="11094415" cy="548640"/>
          </a:xfrm>
          <a:prstGeom prst="rect">
            <a:avLst/>
          </a:prstGeom>
          <a:noFill/>
        </p:spPr>
        <p:txBody>
          <a:bodyPr wrap="square" rtlCol="0" anchor="ctr"/>
          <a:lstStyle/>
          <a:p>
            <a:pPr marL="0" indent="0">
              <a:lnSpc>
                <a:spcPts val="1800"/>
              </a:lnSpc>
              <a:buNone/>
            </a:pPr>
            <a:r>
              <a:rPr lang="en-US" sz="1300" dirty="0">
                <a:solidFill>
                  <a:srgbClr val="1A2432"/>
                </a:solidFill>
                <a:latin typeface="Calibri" panose="020F0502020204030204" pitchFamily="34" charset="0"/>
                <a:ea typeface="Calibri" panose="020F0502020204030204" pitchFamily="34" charset="-122"/>
                <a:cs typeface="Calibri" panose="020F0502020204030204" pitchFamily="34" charset="-120"/>
              </a:rPr>
              <a:t>Records were sorted chronologically, and the most recent 100,000 feature records were used for practical model training and testing — simulating the real task of predicting later demand from earlier observations.</a:t>
            </a:r>
            <a:endParaRPr lang="en-US" sz="1300" dirty="0"/>
          </a:p>
        </p:txBody>
      </p:sp>
      <p:sp>
        <p:nvSpPr>
          <p:cNvPr id="5" name="Text 3"/>
          <p:cNvSpPr/>
          <p:nvPr/>
        </p:nvSpPr>
        <p:spPr>
          <a:xfrm>
            <a:off x="3657600" y="2331720"/>
            <a:ext cx="5029200" cy="548640"/>
          </a:xfrm>
          <a:prstGeom prst="roundRect">
            <a:avLst>
              <a:gd name="adj" fmla="val 13333"/>
            </a:avLst>
          </a:prstGeom>
          <a:solidFill>
            <a:srgbClr val="12395B"/>
          </a:solidFill>
        </p:spPr>
        <p:txBody>
          <a:bodyPr wrap="square" lIns="635" tIns="635" rIns="635" bIns="635"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100,000 Chronologically Sorted Records</a:t>
            </a:r>
            <a:endParaRPr lang="en-US" sz="1400" dirty="0"/>
          </a:p>
        </p:txBody>
      </p:sp>
      <p:sp>
        <p:nvSpPr>
          <p:cNvPr id="6" name="Shape 4"/>
          <p:cNvSpPr/>
          <p:nvPr/>
        </p:nvSpPr>
        <p:spPr>
          <a:xfrm>
            <a:off x="5976976" y="2944368"/>
            <a:ext cx="237744" cy="201168"/>
          </a:xfrm>
          <a:prstGeom prst="downArrow">
            <a:avLst/>
          </a:prstGeom>
          <a:solidFill>
            <a:srgbClr val="64758B"/>
          </a:solidFill>
        </p:spPr>
      </p:sp>
      <p:sp>
        <p:nvSpPr>
          <p:cNvPr id="7" name="Shape 5"/>
          <p:cNvSpPr/>
          <p:nvPr/>
        </p:nvSpPr>
        <p:spPr>
          <a:xfrm>
            <a:off x="548640" y="3246120"/>
            <a:ext cx="8875532" cy="777240"/>
          </a:xfrm>
          <a:prstGeom prst="roundRect">
            <a:avLst>
              <a:gd name="adj" fmla="val 7059"/>
            </a:avLst>
          </a:prstGeom>
          <a:solidFill>
            <a:srgbClr val="1F7A8C"/>
          </a:solidFill>
        </p:spPr>
      </p:sp>
      <p:sp>
        <p:nvSpPr>
          <p:cNvPr id="8" name="Shape 6"/>
          <p:cNvSpPr/>
          <p:nvPr/>
        </p:nvSpPr>
        <p:spPr>
          <a:xfrm>
            <a:off x="9424172" y="3246120"/>
            <a:ext cx="2218883" cy="777240"/>
          </a:xfrm>
          <a:prstGeom prst="roundRect">
            <a:avLst>
              <a:gd name="adj" fmla="val 7059"/>
            </a:avLst>
          </a:prstGeom>
          <a:solidFill>
            <a:srgbClr val="E0982E"/>
          </a:solidFill>
        </p:spPr>
      </p:sp>
      <p:sp>
        <p:nvSpPr>
          <p:cNvPr id="9" name="Text 7"/>
          <p:cNvSpPr/>
          <p:nvPr/>
        </p:nvSpPr>
        <p:spPr>
          <a:xfrm>
            <a:off x="548640" y="3246120"/>
            <a:ext cx="8875532" cy="777240"/>
          </a:xfrm>
          <a:prstGeom prst="rect">
            <a:avLst/>
          </a:prstGeom>
          <a:noFill/>
        </p:spPr>
        <p:txBody>
          <a:bodyPr wrap="square"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80% — TRAINING</a:t>
            </a:r>
            <a:endParaRPr lang="en-US" sz="1500" dirty="0"/>
          </a:p>
        </p:txBody>
      </p:sp>
      <p:sp>
        <p:nvSpPr>
          <p:cNvPr id="10" name="Text 8"/>
          <p:cNvSpPr/>
          <p:nvPr/>
        </p:nvSpPr>
        <p:spPr>
          <a:xfrm>
            <a:off x="9424172" y="3246120"/>
            <a:ext cx="2218883" cy="777240"/>
          </a:xfrm>
          <a:prstGeom prst="rect">
            <a:avLst/>
          </a:prstGeom>
          <a:noFill/>
        </p:spPr>
        <p:txBody>
          <a:bodyPr wrap="square" rtlCol="0" anchor="ctr"/>
          <a:lstStyle/>
          <a:p>
            <a:pPr marL="0" indent="0" algn="ctr">
              <a:buNone/>
            </a:pPr>
            <a:r>
              <a:rPr lang="en-US" sz="1200" b="1" dirty="0">
                <a:solidFill>
                  <a:srgbClr val="0A2038"/>
                </a:solidFill>
                <a:latin typeface="Calibri" panose="020F0502020204030204" pitchFamily="34" charset="0"/>
                <a:ea typeface="Calibri" panose="020F0502020204030204" pitchFamily="34" charset="-122"/>
                <a:cs typeface="Calibri" panose="020F0502020204030204" pitchFamily="34" charset="-120"/>
              </a:rPr>
              <a:t>20%</a:t>
            </a:r>
            <a:endParaRPr lang="en-US" sz="1200" dirty="0"/>
          </a:p>
          <a:p>
            <a:pPr marL="0" indent="0" algn="ctr">
              <a:buNone/>
            </a:pPr>
            <a:r>
              <a:rPr lang="en-US" sz="1200" b="1" dirty="0">
                <a:solidFill>
                  <a:srgbClr val="0A2038"/>
                </a:solidFill>
                <a:latin typeface="Calibri" panose="020F0502020204030204" pitchFamily="34" charset="0"/>
                <a:ea typeface="Calibri" panose="020F0502020204030204" pitchFamily="34" charset="-122"/>
                <a:cs typeface="Calibri" panose="020F0502020204030204" pitchFamily="34" charset="-120"/>
              </a:rPr>
              <a:t>TEST</a:t>
            </a:r>
            <a:endParaRPr lang="en-US" sz="1200" dirty="0"/>
          </a:p>
        </p:txBody>
      </p:sp>
      <p:sp>
        <p:nvSpPr>
          <p:cNvPr id="11" name="Shape 9"/>
          <p:cNvSpPr/>
          <p:nvPr/>
        </p:nvSpPr>
        <p:spPr>
          <a:xfrm>
            <a:off x="548640" y="4343400"/>
            <a:ext cx="3520440" cy="1463040"/>
          </a:xfrm>
          <a:prstGeom prst="roundRect">
            <a:avLst>
              <a:gd name="adj" fmla="val 5625"/>
            </a:avLst>
          </a:prstGeom>
          <a:solidFill>
            <a:srgbClr val="FFFFFF"/>
          </a:solidFill>
          <a:ln w="12700">
            <a:solidFill>
              <a:srgbClr val="E2E8EF"/>
            </a:solidFill>
            <a:prstDash val="solid"/>
          </a:ln>
        </p:spPr>
      </p:sp>
      <p:sp>
        <p:nvSpPr>
          <p:cNvPr id="12" name="Text 10"/>
          <p:cNvSpPr/>
          <p:nvPr/>
        </p:nvSpPr>
        <p:spPr>
          <a:xfrm>
            <a:off x="640080" y="4548226"/>
            <a:ext cx="3337560" cy="760781"/>
          </a:xfrm>
          <a:prstGeom prst="rect">
            <a:avLst/>
          </a:prstGeom>
          <a:noFill/>
        </p:spPr>
        <p:txBody>
          <a:bodyPr wrap="square" rtlCol="0" anchor="b"/>
          <a:lstStyle/>
          <a:p>
            <a:pPr marL="0" indent="0" algn="ctr">
              <a:buNone/>
            </a:pPr>
            <a:r>
              <a:rPr lang="en-US" sz="3000" b="1" dirty="0">
                <a:solidFill>
                  <a:srgbClr val="1F7A8C"/>
                </a:solidFill>
                <a:latin typeface="Cambria" panose="02040503050406030204" pitchFamily="34" charset="0"/>
                <a:ea typeface="Cambria" panose="02040503050406030204" pitchFamily="34" charset="-122"/>
                <a:cs typeface="Cambria" panose="02040503050406030204" pitchFamily="34" charset="-120"/>
              </a:rPr>
              <a:t>80,000</a:t>
            </a:r>
            <a:endParaRPr lang="en-US" sz="3000" dirty="0"/>
          </a:p>
        </p:txBody>
      </p:sp>
      <p:sp>
        <p:nvSpPr>
          <p:cNvPr id="13" name="Text 11"/>
          <p:cNvSpPr/>
          <p:nvPr/>
        </p:nvSpPr>
        <p:spPr>
          <a:xfrm>
            <a:off x="640080" y="5279746"/>
            <a:ext cx="3337560" cy="468173"/>
          </a:xfrm>
          <a:prstGeom prst="rect">
            <a:avLst/>
          </a:prstGeom>
          <a:noFill/>
        </p:spPr>
        <p:txBody>
          <a:bodyPr wrap="square" rtlCol="0" anchor="t"/>
          <a:lstStyle/>
          <a:p>
            <a:pPr marL="0" indent="0" algn="ctr">
              <a:buNone/>
            </a:pPr>
            <a:r>
              <a:rPr lang="en-US" sz="1050" dirty="0">
                <a:solidFill>
                  <a:srgbClr val="64758B"/>
                </a:solidFill>
                <a:latin typeface="Calibri" panose="020F0502020204030204" pitchFamily="34" charset="0"/>
                <a:ea typeface="Calibri" panose="020F0502020204030204" pitchFamily="34" charset="-122"/>
                <a:cs typeface="Calibri" panose="020F0502020204030204" pitchFamily="34" charset="-120"/>
              </a:rPr>
              <a:t>Training Records (80%)</a:t>
            </a:r>
            <a:endParaRPr lang="en-US" sz="1050" dirty="0"/>
          </a:p>
        </p:txBody>
      </p:sp>
      <p:sp>
        <p:nvSpPr>
          <p:cNvPr id="14" name="Shape 12"/>
          <p:cNvSpPr/>
          <p:nvPr/>
        </p:nvSpPr>
        <p:spPr>
          <a:xfrm>
            <a:off x="4343400" y="4343400"/>
            <a:ext cx="3520440" cy="1463040"/>
          </a:xfrm>
          <a:prstGeom prst="roundRect">
            <a:avLst>
              <a:gd name="adj" fmla="val 5625"/>
            </a:avLst>
          </a:prstGeom>
          <a:solidFill>
            <a:srgbClr val="FFFFFF"/>
          </a:solidFill>
          <a:ln w="12700">
            <a:solidFill>
              <a:srgbClr val="E2E8EF"/>
            </a:solidFill>
            <a:prstDash val="solid"/>
          </a:ln>
        </p:spPr>
      </p:sp>
      <p:sp>
        <p:nvSpPr>
          <p:cNvPr id="15" name="Text 13"/>
          <p:cNvSpPr/>
          <p:nvPr/>
        </p:nvSpPr>
        <p:spPr>
          <a:xfrm>
            <a:off x="4434840" y="4548226"/>
            <a:ext cx="3337560" cy="760781"/>
          </a:xfrm>
          <a:prstGeom prst="rect">
            <a:avLst/>
          </a:prstGeom>
          <a:noFill/>
        </p:spPr>
        <p:txBody>
          <a:bodyPr wrap="square" rtlCol="0" anchor="b"/>
          <a:lstStyle/>
          <a:p>
            <a:pPr marL="0" indent="0" algn="ctr">
              <a:buNone/>
            </a:pPr>
            <a:r>
              <a:rPr lang="en-US" sz="3000" b="1" dirty="0">
                <a:solidFill>
                  <a:srgbClr val="E0982E"/>
                </a:solidFill>
                <a:latin typeface="Cambria" panose="02040503050406030204" pitchFamily="34" charset="0"/>
                <a:ea typeface="Cambria" panose="02040503050406030204" pitchFamily="34" charset="-122"/>
                <a:cs typeface="Cambria" panose="02040503050406030204" pitchFamily="34" charset="-120"/>
              </a:rPr>
              <a:t>20,000</a:t>
            </a:r>
            <a:endParaRPr lang="en-US" sz="3000" dirty="0"/>
          </a:p>
        </p:txBody>
      </p:sp>
      <p:sp>
        <p:nvSpPr>
          <p:cNvPr id="16" name="Text 14"/>
          <p:cNvSpPr/>
          <p:nvPr/>
        </p:nvSpPr>
        <p:spPr>
          <a:xfrm>
            <a:off x="4434840" y="5279746"/>
            <a:ext cx="3337560" cy="468173"/>
          </a:xfrm>
          <a:prstGeom prst="rect">
            <a:avLst/>
          </a:prstGeom>
          <a:noFill/>
        </p:spPr>
        <p:txBody>
          <a:bodyPr wrap="square" rtlCol="0" anchor="t"/>
          <a:lstStyle/>
          <a:p>
            <a:pPr marL="0" indent="0" algn="ctr">
              <a:buNone/>
            </a:pPr>
            <a:r>
              <a:rPr lang="en-US" sz="1050" dirty="0">
                <a:solidFill>
                  <a:srgbClr val="64758B"/>
                </a:solidFill>
                <a:latin typeface="Calibri" panose="020F0502020204030204" pitchFamily="34" charset="0"/>
                <a:ea typeface="Calibri" panose="020F0502020204030204" pitchFamily="34" charset="-122"/>
                <a:cs typeface="Calibri" panose="020F0502020204030204" pitchFamily="34" charset="-120"/>
              </a:rPr>
              <a:t>Testing Records (20%)</a:t>
            </a:r>
            <a:endParaRPr lang="en-US" sz="1050" dirty="0"/>
          </a:p>
        </p:txBody>
      </p:sp>
      <p:sp>
        <p:nvSpPr>
          <p:cNvPr id="17" name="Shape 15"/>
          <p:cNvSpPr/>
          <p:nvPr/>
        </p:nvSpPr>
        <p:spPr>
          <a:xfrm>
            <a:off x="8138160" y="4343400"/>
            <a:ext cx="3520440" cy="1463040"/>
          </a:xfrm>
          <a:prstGeom prst="roundRect">
            <a:avLst>
              <a:gd name="adj" fmla="val 6250"/>
            </a:avLst>
          </a:prstGeom>
          <a:solidFill>
            <a:srgbClr val="E7F1F3"/>
          </a:solidFill>
          <a:ln w="12700">
            <a:solidFill>
              <a:srgbClr val="CFE3E7"/>
            </a:solidFill>
            <a:prstDash val="solid"/>
          </a:ln>
        </p:spPr>
      </p:sp>
      <p:sp>
        <p:nvSpPr>
          <p:cNvPr id="18" name="Text 16"/>
          <p:cNvSpPr/>
          <p:nvPr/>
        </p:nvSpPr>
        <p:spPr>
          <a:xfrm>
            <a:off x="8366760" y="4526280"/>
            <a:ext cx="3108960" cy="274320"/>
          </a:xfrm>
          <a:prstGeom prst="rect">
            <a:avLst/>
          </a:prstGeom>
          <a:noFill/>
        </p:spPr>
        <p:txBody>
          <a:bodyPr wrap="square" rtlCol="0" anchor="ctr"/>
          <a:lstStyle/>
          <a:p>
            <a:pPr marL="0" indent="0">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Why chronological?</a:t>
            </a:r>
            <a:endParaRPr lang="en-US" sz="1250" dirty="0"/>
          </a:p>
        </p:txBody>
      </p:sp>
      <p:sp>
        <p:nvSpPr>
          <p:cNvPr id="19" name="Text 17"/>
          <p:cNvSpPr/>
          <p:nvPr/>
        </p:nvSpPr>
        <p:spPr>
          <a:xfrm>
            <a:off x="8366760" y="4818888"/>
            <a:ext cx="3108960" cy="914400"/>
          </a:xfrm>
          <a:prstGeom prst="rect">
            <a:avLst/>
          </a:prstGeom>
          <a:noFill/>
        </p:spPr>
        <p:txBody>
          <a:bodyPr wrap="square" rtlCol="0" anchor="ctr"/>
          <a:lstStyle/>
          <a:p>
            <a:pPr marL="0" indent="0">
              <a:lnSpc>
                <a:spcPts val="1300"/>
              </a:lnSpc>
              <a:buNone/>
            </a:pPr>
            <a:r>
              <a:rPr lang="en-US" sz="1050" dirty="0">
                <a:solidFill>
                  <a:srgbClr val="64758B"/>
                </a:solidFill>
                <a:latin typeface="Calibri" panose="020F0502020204030204" pitchFamily="34" charset="0"/>
                <a:ea typeface="Calibri" panose="020F0502020204030204" pitchFamily="34" charset="-122"/>
                <a:cs typeface="Calibri" panose="020F0502020204030204" pitchFamily="34" charset="-120"/>
              </a:rPr>
              <a:t>Splitting by time — not randomly — simulates predicting later, unseen demand using only earlier observations, just like a real deployment.</a:t>
            </a:r>
            <a:endParaRPr lang="en-US" sz="1050" dirty="0"/>
          </a:p>
        </p:txBody>
      </p:sp>
      <p:sp>
        <p:nvSpPr>
          <p:cNvPr id="20" name="Text 18"/>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21" name="Text 19"/>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MODEL EVALUATION</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Measuring Prediction Accuracy</a:t>
            </a:r>
            <a:endParaRPr lang="en-US" sz="3000" dirty="0"/>
          </a:p>
        </p:txBody>
      </p:sp>
      <p:sp>
        <p:nvSpPr>
          <p:cNvPr id="4" name="Shape 2"/>
          <p:cNvSpPr/>
          <p:nvPr/>
        </p:nvSpPr>
        <p:spPr>
          <a:xfrm>
            <a:off x="548640" y="1737360"/>
            <a:ext cx="5349240" cy="2011680"/>
          </a:xfrm>
          <a:prstGeom prst="roundRect">
            <a:avLst>
              <a:gd name="adj" fmla="val 4091"/>
            </a:avLst>
          </a:prstGeom>
          <a:solidFill>
            <a:srgbClr val="FFFFFF"/>
          </a:solidFill>
          <a:ln w="12700">
            <a:solidFill>
              <a:srgbClr val="E2E8EF"/>
            </a:solidFill>
            <a:prstDash val="solid"/>
          </a:ln>
          <a:effectLst>
            <a:outerShdw blurRad="76200" dist="25400" dir="5400000" algn="bl" rotWithShape="0">
              <a:srgbClr val="44546A">
                <a:alpha val="12000"/>
              </a:srgbClr>
            </a:outerShdw>
          </a:effectLst>
        </p:spPr>
      </p:sp>
      <p:sp>
        <p:nvSpPr>
          <p:cNvPr id="5" name="Text 3"/>
          <p:cNvSpPr/>
          <p:nvPr/>
        </p:nvSpPr>
        <p:spPr>
          <a:xfrm>
            <a:off x="640080" y="2018995"/>
            <a:ext cx="5166360" cy="1046074"/>
          </a:xfrm>
          <a:prstGeom prst="rect">
            <a:avLst/>
          </a:prstGeom>
          <a:noFill/>
        </p:spPr>
        <p:txBody>
          <a:bodyPr wrap="square" rtlCol="0" anchor="b"/>
          <a:lstStyle/>
          <a:p>
            <a:pPr marL="0" indent="0" algn="ctr">
              <a:buNone/>
            </a:pPr>
            <a:r>
              <a:rPr lang="en-US" sz="3400" b="1" dirty="0">
                <a:solidFill>
                  <a:srgbClr val="12395B"/>
                </a:solidFill>
                <a:latin typeface="Cambria" panose="02040503050406030204" pitchFamily="34" charset="0"/>
                <a:ea typeface="Cambria" panose="02040503050406030204" pitchFamily="34" charset="-122"/>
                <a:cs typeface="Cambria" panose="02040503050406030204" pitchFamily="34" charset="-120"/>
              </a:rPr>
              <a:t>17.27 units</a:t>
            </a:r>
            <a:endParaRPr lang="en-US" sz="3400" dirty="0"/>
          </a:p>
        </p:txBody>
      </p:sp>
      <p:sp>
        <p:nvSpPr>
          <p:cNvPr id="6" name="Text 4"/>
          <p:cNvSpPr/>
          <p:nvPr/>
        </p:nvSpPr>
        <p:spPr>
          <a:xfrm>
            <a:off x="640080" y="3024835"/>
            <a:ext cx="5166360" cy="643738"/>
          </a:xfrm>
          <a:prstGeom prst="rect">
            <a:avLst/>
          </a:prstGeom>
          <a:noFill/>
        </p:spPr>
        <p:txBody>
          <a:bodyPr wrap="square" rtlCol="0" anchor="t"/>
          <a:lstStyle/>
          <a:p>
            <a:pPr marL="0" indent="0" algn="ctr">
              <a:buNone/>
            </a:pPr>
            <a:r>
              <a:rPr lang="en-US" sz="1050" dirty="0">
                <a:solidFill>
                  <a:srgbClr val="64758B"/>
                </a:solidFill>
                <a:latin typeface="Calibri" panose="020F0502020204030204" pitchFamily="34" charset="0"/>
                <a:ea typeface="Calibri" panose="020F0502020204030204" pitchFamily="34" charset="-122"/>
                <a:cs typeface="Calibri" panose="020F0502020204030204" pitchFamily="34" charset="-120"/>
              </a:rPr>
              <a:t>Mean Absolute Error (MAE)</a:t>
            </a:r>
            <a:endParaRPr lang="en-US" sz="1050" dirty="0"/>
          </a:p>
        </p:txBody>
      </p:sp>
      <p:sp>
        <p:nvSpPr>
          <p:cNvPr id="7" name="Shape 5"/>
          <p:cNvSpPr/>
          <p:nvPr/>
        </p:nvSpPr>
        <p:spPr>
          <a:xfrm>
            <a:off x="6291072" y="1737360"/>
            <a:ext cx="5349240" cy="2011680"/>
          </a:xfrm>
          <a:prstGeom prst="roundRect">
            <a:avLst>
              <a:gd name="adj" fmla="val 4091"/>
            </a:avLst>
          </a:prstGeom>
          <a:solidFill>
            <a:srgbClr val="FFFFFF"/>
          </a:solidFill>
          <a:ln w="12700">
            <a:solidFill>
              <a:srgbClr val="E2E8EF"/>
            </a:solidFill>
            <a:prstDash val="solid"/>
          </a:ln>
          <a:effectLst>
            <a:outerShdw blurRad="76200" dist="25400" dir="5400000" algn="bl" rotWithShape="0">
              <a:srgbClr val="44546A">
                <a:alpha val="12000"/>
              </a:srgbClr>
            </a:outerShdw>
          </a:effectLst>
        </p:spPr>
      </p:sp>
      <p:sp>
        <p:nvSpPr>
          <p:cNvPr id="8" name="Text 6"/>
          <p:cNvSpPr/>
          <p:nvPr/>
        </p:nvSpPr>
        <p:spPr>
          <a:xfrm>
            <a:off x="6382512" y="2018995"/>
            <a:ext cx="5166360" cy="1046074"/>
          </a:xfrm>
          <a:prstGeom prst="rect">
            <a:avLst/>
          </a:prstGeom>
          <a:noFill/>
        </p:spPr>
        <p:txBody>
          <a:bodyPr wrap="square" rtlCol="0" anchor="b"/>
          <a:lstStyle/>
          <a:p>
            <a:pPr marL="0" indent="0" algn="ctr">
              <a:buNone/>
            </a:pPr>
            <a:r>
              <a:rPr lang="en-US" sz="3400" b="1" dirty="0">
                <a:solidFill>
                  <a:srgbClr val="1F7A8C"/>
                </a:solidFill>
                <a:latin typeface="Cambria" panose="02040503050406030204" pitchFamily="34" charset="0"/>
                <a:ea typeface="Cambria" panose="02040503050406030204" pitchFamily="34" charset="-122"/>
                <a:cs typeface="Cambria" panose="02040503050406030204" pitchFamily="34" charset="-120"/>
              </a:rPr>
              <a:t>55.47 units</a:t>
            </a:r>
            <a:endParaRPr lang="en-US" sz="3400" dirty="0"/>
          </a:p>
        </p:txBody>
      </p:sp>
      <p:sp>
        <p:nvSpPr>
          <p:cNvPr id="9" name="Text 7"/>
          <p:cNvSpPr/>
          <p:nvPr/>
        </p:nvSpPr>
        <p:spPr>
          <a:xfrm>
            <a:off x="6382512" y="3024835"/>
            <a:ext cx="5166360" cy="643738"/>
          </a:xfrm>
          <a:prstGeom prst="rect">
            <a:avLst/>
          </a:prstGeom>
          <a:noFill/>
        </p:spPr>
        <p:txBody>
          <a:bodyPr wrap="square" rtlCol="0" anchor="t"/>
          <a:lstStyle/>
          <a:p>
            <a:pPr marL="0" indent="0" algn="ctr">
              <a:buNone/>
            </a:pPr>
            <a:r>
              <a:rPr lang="en-US" sz="1050" dirty="0">
                <a:solidFill>
                  <a:srgbClr val="64758B"/>
                </a:solidFill>
                <a:latin typeface="Calibri" panose="020F0502020204030204" pitchFamily="34" charset="0"/>
                <a:ea typeface="Calibri" panose="020F0502020204030204" pitchFamily="34" charset="-122"/>
                <a:cs typeface="Calibri" panose="020F0502020204030204" pitchFamily="34" charset="-120"/>
              </a:rPr>
              <a:t>Root Mean Squared Error (RMSE)</a:t>
            </a:r>
            <a:endParaRPr lang="en-US" sz="1050" dirty="0"/>
          </a:p>
        </p:txBody>
      </p:sp>
      <p:sp>
        <p:nvSpPr>
          <p:cNvPr id="10" name="Shape 8"/>
          <p:cNvSpPr/>
          <p:nvPr/>
        </p:nvSpPr>
        <p:spPr>
          <a:xfrm>
            <a:off x="548640" y="3977640"/>
            <a:ext cx="5349240" cy="1965960"/>
          </a:xfrm>
          <a:prstGeom prst="roundRect">
            <a:avLst>
              <a:gd name="adj" fmla="val 4651"/>
            </a:avLst>
          </a:prstGeom>
          <a:solidFill>
            <a:srgbClr val="FFFFFF"/>
          </a:solidFill>
          <a:ln w="12700">
            <a:solidFill>
              <a:srgbClr val="E2E8EF"/>
            </a:solidFill>
            <a:prstDash val="solid"/>
          </a:ln>
        </p:spPr>
      </p:sp>
      <p:sp>
        <p:nvSpPr>
          <p:cNvPr id="11" name="Text 9"/>
          <p:cNvSpPr/>
          <p:nvPr/>
        </p:nvSpPr>
        <p:spPr>
          <a:xfrm>
            <a:off x="822960" y="4160520"/>
            <a:ext cx="4800600" cy="320040"/>
          </a:xfrm>
          <a:prstGeom prst="rect">
            <a:avLst/>
          </a:prstGeom>
          <a:noFill/>
        </p:spPr>
        <p:txBody>
          <a:bodyPr wrap="square" rtlCol="0" anchor="ctr"/>
          <a:lstStyle/>
          <a:p>
            <a:pPr marL="0" indent="0">
              <a:buNone/>
            </a:pPr>
            <a:r>
              <a:rPr lang="en-US" sz="1400" b="1" dirty="0">
                <a:solidFill>
                  <a:srgbClr val="12395B"/>
                </a:solidFill>
                <a:latin typeface="Cambria" panose="02040503050406030204" pitchFamily="34" charset="0"/>
                <a:ea typeface="Cambria" panose="02040503050406030204" pitchFamily="34" charset="-122"/>
                <a:cs typeface="Cambria" panose="02040503050406030204" pitchFamily="34" charset="-120"/>
              </a:rPr>
              <a:t>What MAE means</a:t>
            </a:r>
            <a:endParaRPr lang="en-US" sz="1400" dirty="0"/>
          </a:p>
        </p:txBody>
      </p:sp>
      <p:sp>
        <p:nvSpPr>
          <p:cNvPr id="12" name="Text 10"/>
          <p:cNvSpPr/>
          <p:nvPr/>
        </p:nvSpPr>
        <p:spPr>
          <a:xfrm>
            <a:off x="822960" y="4498848"/>
            <a:ext cx="4800600" cy="1280160"/>
          </a:xfrm>
          <a:prstGeom prst="rect">
            <a:avLst/>
          </a:prstGeom>
          <a:noFill/>
        </p:spPr>
        <p:txBody>
          <a:bodyPr wrap="square" rtlCol="0" anchor="ctr"/>
          <a:lstStyle/>
          <a:p>
            <a:pPr marL="0" indent="0">
              <a:lnSpc>
                <a:spcPts val="1800"/>
              </a:lnSpc>
              <a:buNone/>
            </a:pPr>
            <a:r>
              <a:rPr lang="en-US" sz="1250" dirty="0">
                <a:solidFill>
                  <a:srgbClr val="1A2432"/>
                </a:solidFill>
                <a:latin typeface="Calibri" panose="020F0502020204030204" pitchFamily="34" charset="0"/>
                <a:ea typeface="Calibri" panose="020F0502020204030204" pitchFamily="34" charset="-122"/>
                <a:cs typeface="Calibri" panose="020F0502020204030204" pitchFamily="34" charset="-120"/>
              </a:rPr>
              <a:t>The average absolute difference between the actual demand and the demand predicted by the model, across all test records.</a:t>
            </a:r>
            <a:endParaRPr lang="en-US" sz="1250" dirty="0"/>
          </a:p>
        </p:txBody>
      </p:sp>
      <p:sp>
        <p:nvSpPr>
          <p:cNvPr id="13" name="Shape 11"/>
          <p:cNvSpPr/>
          <p:nvPr/>
        </p:nvSpPr>
        <p:spPr>
          <a:xfrm>
            <a:off x="6291072" y="3977640"/>
            <a:ext cx="5349240" cy="1965960"/>
          </a:xfrm>
          <a:prstGeom prst="roundRect">
            <a:avLst>
              <a:gd name="adj" fmla="val 4651"/>
            </a:avLst>
          </a:prstGeom>
          <a:solidFill>
            <a:srgbClr val="FFFFFF"/>
          </a:solidFill>
          <a:ln w="12700">
            <a:solidFill>
              <a:srgbClr val="E2E8EF"/>
            </a:solidFill>
            <a:prstDash val="solid"/>
          </a:ln>
        </p:spPr>
      </p:sp>
      <p:sp>
        <p:nvSpPr>
          <p:cNvPr id="14" name="Text 12"/>
          <p:cNvSpPr/>
          <p:nvPr/>
        </p:nvSpPr>
        <p:spPr>
          <a:xfrm>
            <a:off x="6565392" y="4160520"/>
            <a:ext cx="4800600" cy="320040"/>
          </a:xfrm>
          <a:prstGeom prst="rect">
            <a:avLst/>
          </a:prstGeom>
          <a:noFill/>
        </p:spPr>
        <p:txBody>
          <a:bodyPr wrap="square" rtlCol="0" anchor="ctr"/>
          <a:lstStyle/>
          <a:p>
            <a:pPr marL="0" indent="0">
              <a:buNone/>
            </a:pPr>
            <a:r>
              <a:rPr lang="en-US" sz="1400" b="1" dirty="0">
                <a:solidFill>
                  <a:srgbClr val="12395B"/>
                </a:solidFill>
                <a:latin typeface="Cambria" panose="02040503050406030204" pitchFamily="34" charset="0"/>
                <a:ea typeface="Cambria" panose="02040503050406030204" pitchFamily="34" charset="-122"/>
                <a:cs typeface="Cambria" panose="02040503050406030204" pitchFamily="34" charset="-120"/>
              </a:rPr>
              <a:t>What RMSE means</a:t>
            </a:r>
            <a:endParaRPr lang="en-US" sz="1400" dirty="0"/>
          </a:p>
        </p:txBody>
      </p:sp>
      <p:sp>
        <p:nvSpPr>
          <p:cNvPr id="15" name="Text 13"/>
          <p:cNvSpPr/>
          <p:nvPr/>
        </p:nvSpPr>
        <p:spPr>
          <a:xfrm>
            <a:off x="6565392" y="4498848"/>
            <a:ext cx="4800600" cy="1280160"/>
          </a:xfrm>
          <a:prstGeom prst="rect">
            <a:avLst/>
          </a:prstGeom>
          <a:noFill/>
        </p:spPr>
        <p:txBody>
          <a:bodyPr wrap="square" rtlCol="0" anchor="ctr"/>
          <a:lstStyle/>
          <a:p>
            <a:pPr marL="0" indent="0">
              <a:lnSpc>
                <a:spcPts val="1800"/>
              </a:lnSpc>
              <a:buNone/>
            </a:pPr>
            <a:r>
              <a:rPr lang="en-US" sz="1250" dirty="0">
                <a:solidFill>
                  <a:srgbClr val="1A2432"/>
                </a:solidFill>
                <a:latin typeface="Calibri" panose="020F0502020204030204" pitchFamily="34" charset="0"/>
                <a:ea typeface="Calibri" panose="020F0502020204030204" pitchFamily="34" charset="-122"/>
                <a:cs typeface="Calibri" panose="020F0502020204030204" pitchFamily="34" charset="-120"/>
              </a:rPr>
              <a:t>A measure of prediction error that gives more weight to larger errors, highlighting cases where the model is far off.</a:t>
            </a:r>
            <a:endParaRPr lang="en-US" sz="1250" dirty="0"/>
          </a:p>
        </p:txBody>
      </p:sp>
      <p:sp>
        <p:nvSpPr>
          <p:cNvPr id="16" name="Text 14"/>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17" name="Text 15"/>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ACTUAL VS PREDICTED DEMAND</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Visualizing Model Performance</a:t>
            </a:r>
            <a:endParaRPr lang="en-US" sz="3000" dirty="0"/>
          </a:p>
        </p:txBody>
      </p:sp>
      <p:sp>
        <p:nvSpPr>
          <p:cNvPr id="4" name="Shape 2"/>
          <p:cNvSpPr/>
          <p:nvPr/>
        </p:nvSpPr>
        <p:spPr>
          <a:xfrm>
            <a:off x="548640" y="1691640"/>
            <a:ext cx="6949440" cy="4160520"/>
          </a:xfrm>
          <a:prstGeom prst="roundRect">
            <a:avLst>
              <a:gd name="adj" fmla="val 2198"/>
            </a:avLst>
          </a:prstGeom>
          <a:solidFill>
            <a:srgbClr val="EEF1F5"/>
          </a:solidFill>
          <a:ln w="19050">
            <a:solidFill>
              <a:srgbClr val="AAB6C4"/>
            </a:solidFill>
            <a:prstDash val="dash"/>
          </a:ln>
        </p:spPr>
      </p:sp>
      <p:sp>
        <p:nvSpPr>
          <p:cNvPr id="5" name="Text 3"/>
          <p:cNvSpPr/>
          <p:nvPr/>
        </p:nvSpPr>
        <p:spPr>
          <a:xfrm>
            <a:off x="3657600" y="2331720"/>
            <a:ext cx="731520" cy="731520"/>
          </a:xfrm>
          <a:prstGeom prst="ellipse">
            <a:avLst/>
          </a:prstGeom>
          <a:solidFill>
            <a:srgbClr val="C7D2DC"/>
          </a:solidFill>
        </p:spPr>
        <p:txBody>
          <a:bodyPr wrap="square" lIns="0" tIns="0" rIns="0" bIns="0" rtlCol="0" anchor="ctr"/>
          <a:lstStyle/>
          <a:p>
            <a:pPr marL="0" indent="0" algn="ctr">
              <a:buNone/>
            </a:pPr>
            <a:r>
              <a:rPr lang="en-US" sz="2600" b="1" dirty="0">
                <a:solidFill>
                  <a:srgbClr val="5A6B7D"/>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6" name="Text 4"/>
          <p:cNvSpPr/>
          <p:nvPr/>
        </p:nvSpPr>
        <p:spPr>
          <a:xfrm>
            <a:off x="548640" y="3246120"/>
            <a:ext cx="6949440" cy="274320"/>
          </a:xfrm>
          <a:prstGeom prst="rect">
            <a:avLst/>
          </a:prstGeom>
          <a:noFill/>
        </p:spPr>
        <p:txBody>
          <a:bodyPr wrap="square" rtlCol="0" anchor="ctr"/>
          <a:lstStyle/>
          <a:p>
            <a:pPr marL="0" indent="0" algn="ctr">
              <a:buNone/>
            </a:pPr>
            <a:r>
              <a:rPr lang="en-US" sz="1200" b="1" kern="0" spc="200" dirty="0">
                <a:solidFill>
                  <a:srgbClr val="64758B"/>
                </a:solidFill>
                <a:latin typeface="Calibri" panose="020F0502020204030204" pitchFamily="34" charset="0"/>
                <a:ea typeface="Calibri" panose="020F0502020204030204" pitchFamily="34" charset="-122"/>
                <a:cs typeface="Calibri" panose="020F0502020204030204" pitchFamily="34" charset="-120"/>
              </a:rPr>
              <a:t>PLACEHOLDER</a:t>
            </a:r>
            <a:endParaRPr lang="en-US" sz="1200" dirty="0"/>
          </a:p>
        </p:txBody>
      </p:sp>
      <p:sp>
        <p:nvSpPr>
          <p:cNvPr id="7" name="Text 5"/>
          <p:cNvSpPr/>
          <p:nvPr/>
        </p:nvSpPr>
        <p:spPr>
          <a:xfrm>
            <a:off x="1005840" y="3566160"/>
            <a:ext cx="6035040" cy="365760"/>
          </a:xfrm>
          <a:prstGeom prst="rect">
            <a:avLst/>
          </a:prstGeom>
          <a:noFill/>
        </p:spPr>
        <p:txBody>
          <a:bodyPr wrap="square" rtlCol="0" anchor="ctr"/>
          <a:lstStyle/>
          <a:p>
            <a:pPr marL="0" indent="0" algn="ctr">
              <a:buNone/>
            </a:pPr>
            <a:r>
              <a:rPr lang="en-US" sz="1250" i="1" dirty="0">
                <a:solidFill>
                  <a:srgbClr val="5A6B7D"/>
                </a:solidFill>
                <a:latin typeface="Calibri" panose="020F0502020204030204" pitchFamily="34" charset="0"/>
                <a:ea typeface="Calibri" panose="020F0502020204030204" pitchFamily="34" charset="-122"/>
                <a:cs typeface="Calibri" panose="020F0502020204030204" pitchFamily="34" charset="-120"/>
              </a:rPr>
              <a:t>Insert project chart here: actual_vs_predicted.png</a:t>
            </a:r>
            <a:endParaRPr lang="en-US" sz="1250" dirty="0"/>
          </a:p>
        </p:txBody>
      </p:sp>
      <p:sp>
        <p:nvSpPr>
          <p:cNvPr id="8" name="Text 6"/>
          <p:cNvSpPr/>
          <p:nvPr/>
        </p:nvSpPr>
        <p:spPr>
          <a:xfrm>
            <a:off x="1005840" y="3977640"/>
            <a:ext cx="6035040" cy="365760"/>
          </a:xfrm>
          <a:prstGeom prst="rect">
            <a:avLst/>
          </a:prstGeom>
          <a:noFill/>
        </p:spPr>
        <p:txBody>
          <a:bodyPr wrap="square" rtlCol="0" anchor="ctr"/>
          <a:lstStyle/>
          <a:p>
            <a:pPr marL="0" indent="0" algn="ctr">
              <a:buNone/>
            </a:pPr>
            <a:r>
              <a:rPr lang="en-US" sz="1100" dirty="0">
                <a:solidFill>
                  <a:srgbClr val="7A8899"/>
                </a:solidFill>
                <a:latin typeface="Calibri" panose="020F0502020204030204" pitchFamily="34" charset="0"/>
                <a:ea typeface="Calibri" panose="020F0502020204030204" pitchFamily="34" charset="-122"/>
                <a:cs typeface="Calibri" panose="020F0502020204030204" pitchFamily="34" charset="-120"/>
              </a:rPr>
              <a:t>Title on chart: “Actual vs Predicted Retail Demand”</a:t>
            </a:r>
            <a:endParaRPr lang="en-US" sz="1100" dirty="0"/>
          </a:p>
        </p:txBody>
      </p:sp>
      <p:sp>
        <p:nvSpPr>
          <p:cNvPr id="9" name="Shape 7"/>
          <p:cNvSpPr/>
          <p:nvPr/>
        </p:nvSpPr>
        <p:spPr>
          <a:xfrm>
            <a:off x="8001000" y="1691640"/>
            <a:ext cx="3639312" cy="4160520"/>
          </a:xfrm>
          <a:prstGeom prst="roundRect">
            <a:avLst>
              <a:gd name="adj" fmla="val 2513"/>
            </a:avLst>
          </a:prstGeom>
          <a:solidFill>
            <a:srgbClr val="12395B"/>
          </a:solidFill>
        </p:spPr>
      </p:sp>
      <p:sp>
        <p:nvSpPr>
          <p:cNvPr id="10" name="Text 8"/>
          <p:cNvSpPr/>
          <p:nvPr/>
        </p:nvSpPr>
        <p:spPr>
          <a:xfrm>
            <a:off x="8275320" y="1920240"/>
            <a:ext cx="3090672" cy="274320"/>
          </a:xfrm>
          <a:prstGeom prst="rect">
            <a:avLst/>
          </a:prstGeom>
          <a:noFill/>
        </p:spPr>
        <p:txBody>
          <a:bodyPr wrap="square" rtlCol="0" anchor="ctr"/>
          <a:lstStyle/>
          <a:p>
            <a:pPr marL="0" indent="0">
              <a:buNone/>
            </a:pPr>
            <a:r>
              <a:rPr lang="en-US" sz="1100" b="1" kern="0" spc="150" dirty="0">
                <a:solidFill>
                  <a:srgbClr val="E0982E"/>
                </a:solidFill>
                <a:latin typeface="Calibri" panose="020F0502020204030204" pitchFamily="34" charset="0"/>
                <a:ea typeface="Calibri" panose="020F0502020204030204" pitchFamily="34" charset="-122"/>
                <a:cs typeface="Calibri" panose="020F0502020204030204" pitchFamily="34" charset="-120"/>
              </a:rPr>
              <a:t>READING THE GRAPH</a:t>
            </a:r>
            <a:endParaRPr lang="en-US" sz="1100" dirty="0"/>
          </a:p>
        </p:txBody>
      </p:sp>
      <p:sp>
        <p:nvSpPr>
          <p:cNvPr id="11" name="Text 9"/>
          <p:cNvSpPr/>
          <p:nvPr/>
        </p:nvSpPr>
        <p:spPr>
          <a:xfrm>
            <a:off x="8275320" y="2331720"/>
            <a:ext cx="3090672" cy="3291840"/>
          </a:xfrm>
          <a:prstGeom prst="rect">
            <a:avLst/>
          </a:prstGeom>
          <a:noFill/>
        </p:spPr>
        <p:txBody>
          <a:bodyPr wrap="square" rtlCol="0" anchor="t"/>
          <a:lstStyle/>
          <a:p>
            <a:pPr marL="0" indent="0">
              <a:lnSpc>
                <a:spcPts val="1800"/>
              </a:lnSpc>
              <a:spcAft>
                <a:spcPts val="1400"/>
              </a:spcAft>
              <a:buNone/>
            </a:pPr>
            <a:r>
              <a:rPr lang="en-US" sz="1250" dirty="0">
                <a:solidFill>
                  <a:srgbClr val="E4ECF3"/>
                </a:solidFill>
                <a:latin typeface="Calibri" panose="020F0502020204030204" pitchFamily="34" charset="0"/>
                <a:ea typeface="Calibri" panose="020F0502020204030204" pitchFamily="34" charset="-122"/>
                <a:cs typeface="Calibri" panose="020F0502020204030204" pitchFamily="34" charset="-120"/>
              </a:rPr>
              <a:t>Actual demand values are plotted alongside the model's predicted demand values.</a:t>
            </a:r>
            <a:endParaRPr lang="en-US" sz="1250" dirty="0"/>
          </a:p>
          <a:p>
            <a:pPr marL="0" indent="0">
              <a:lnSpc>
                <a:spcPts val="1800"/>
              </a:lnSpc>
              <a:spcAft>
                <a:spcPts val="1400"/>
              </a:spcAft>
              <a:buNone/>
            </a:pPr>
            <a:r>
              <a:rPr lang="en-US" sz="1250" dirty="0">
                <a:solidFill>
                  <a:srgbClr val="E4ECF3"/>
                </a:solidFill>
                <a:latin typeface="Calibri" panose="020F0502020204030204" pitchFamily="34" charset="0"/>
                <a:ea typeface="Calibri" panose="020F0502020204030204" pitchFamily="34" charset="-122"/>
                <a:cs typeface="Calibri" panose="020F0502020204030204" pitchFamily="34" charset="-120"/>
              </a:rPr>
              <a:t>The closer the two lines or points track each other, the better the model performed on that record.</a:t>
            </a:r>
            <a:endParaRPr lang="en-US" sz="1250" dirty="0"/>
          </a:p>
          <a:p>
            <a:pPr marL="0" indent="0">
              <a:lnSpc>
                <a:spcPts val="1800"/>
              </a:lnSpc>
              <a:buNone/>
            </a:pPr>
            <a:r>
              <a:rPr lang="en-US" sz="1250" dirty="0">
                <a:solidFill>
                  <a:srgbClr val="E4ECF3"/>
                </a:solidFill>
                <a:latin typeface="Calibri" panose="020F0502020204030204" pitchFamily="34" charset="0"/>
                <a:ea typeface="Calibri" panose="020F0502020204030204" pitchFamily="34" charset="-122"/>
                <a:cs typeface="Calibri" panose="020F0502020204030204" pitchFamily="34" charset="-120"/>
              </a:rPr>
              <a:t>Not every prediction matches the actual value exactly — the MAE and RMSE from the previous slide quantify this gap.</a:t>
            </a:r>
            <a:endParaRPr lang="en-US" sz="1250" dirty="0"/>
          </a:p>
        </p:txBody>
      </p:sp>
      <p:sp>
        <p:nvSpPr>
          <p:cNvPr id="12" name="Text 10"/>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13" name="Text 11"/>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SAMPLE PREDICTION</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A Worked Example From the Model</a:t>
            </a:r>
            <a:endParaRPr lang="en-US" sz="3000" dirty="0"/>
          </a:p>
        </p:txBody>
      </p:sp>
      <p:sp>
        <p:nvSpPr>
          <p:cNvPr id="4" name="Text 2"/>
          <p:cNvSpPr/>
          <p:nvPr/>
        </p:nvSpPr>
        <p:spPr>
          <a:xfrm>
            <a:off x="548640" y="1600200"/>
            <a:ext cx="11094415" cy="365760"/>
          </a:xfrm>
          <a:prstGeom prst="rect">
            <a:avLst/>
          </a:prstGeom>
          <a:noFill/>
        </p:spPr>
        <p:txBody>
          <a:bodyPr wrap="square" rtlCol="0" anchor="ctr"/>
          <a:lstStyle/>
          <a:p>
            <a:pPr marL="0" indent="0">
              <a:buNone/>
            </a:pPr>
            <a:r>
              <a:rPr lang="en-US" sz="1800" b="1" dirty="0">
                <a:solidFill>
                  <a:srgbClr val="12395B"/>
                </a:solidFill>
                <a:latin typeface="Cambria" panose="02040503050406030204" pitchFamily="34" charset="0"/>
                <a:ea typeface="Cambria" panose="02040503050406030204" pitchFamily="34" charset="-122"/>
                <a:cs typeface="Cambria" panose="02040503050406030204" pitchFamily="34" charset="-120"/>
              </a:rPr>
              <a:t>JUMBO BAG RED RETROSPOT</a:t>
            </a:r>
            <a:endParaRPr lang="en-US" sz="1800" dirty="0"/>
          </a:p>
        </p:txBody>
      </p:sp>
      <p:sp>
        <p:nvSpPr>
          <p:cNvPr id="5" name="Shape 3"/>
          <p:cNvSpPr/>
          <p:nvPr/>
        </p:nvSpPr>
        <p:spPr>
          <a:xfrm>
            <a:off x="548640" y="2148840"/>
            <a:ext cx="3429000" cy="1371600"/>
          </a:xfrm>
          <a:prstGeom prst="roundRect">
            <a:avLst>
              <a:gd name="adj" fmla="val 6000"/>
            </a:avLst>
          </a:prstGeom>
          <a:solidFill>
            <a:srgbClr val="FFFFFF"/>
          </a:solidFill>
          <a:ln w="12700">
            <a:solidFill>
              <a:srgbClr val="E2E8EF"/>
            </a:solidFill>
            <a:prstDash val="solid"/>
          </a:ln>
        </p:spPr>
      </p:sp>
      <p:sp>
        <p:nvSpPr>
          <p:cNvPr id="6" name="Text 4"/>
          <p:cNvSpPr/>
          <p:nvPr/>
        </p:nvSpPr>
        <p:spPr>
          <a:xfrm>
            <a:off x="749808" y="2331720"/>
            <a:ext cx="3026664" cy="502920"/>
          </a:xfrm>
          <a:prstGeom prst="rect">
            <a:avLst/>
          </a:prstGeom>
          <a:noFill/>
        </p:spPr>
        <p:txBody>
          <a:bodyPr wrap="square" rtlCol="0" anchor="ctr"/>
          <a:lstStyle/>
          <a:p>
            <a:pPr marL="0" indent="0">
              <a:lnSpc>
                <a:spcPts val="1200"/>
              </a:lnSpc>
              <a:buNone/>
            </a:pPr>
            <a:r>
              <a:rPr lang="en-US" sz="1050" b="1" kern="0" spc="50" dirty="0">
                <a:solidFill>
                  <a:srgbClr val="64758B"/>
                </a:solidFill>
                <a:latin typeface="Calibri" panose="020F0502020204030204" pitchFamily="34" charset="0"/>
                <a:ea typeface="Calibri" panose="020F0502020204030204" pitchFamily="34" charset="-122"/>
                <a:cs typeface="Calibri" panose="020F0502020204030204" pitchFamily="34" charset="-120"/>
              </a:rPr>
              <a:t>LATEST HISTORICAL PRICE</a:t>
            </a:r>
            <a:endParaRPr lang="en-US" sz="1050" dirty="0"/>
          </a:p>
        </p:txBody>
      </p:sp>
      <p:sp>
        <p:nvSpPr>
          <p:cNvPr id="7" name="Text 5"/>
          <p:cNvSpPr/>
          <p:nvPr/>
        </p:nvSpPr>
        <p:spPr>
          <a:xfrm>
            <a:off x="749808" y="2880360"/>
            <a:ext cx="3026664" cy="548640"/>
          </a:xfrm>
          <a:prstGeom prst="rect">
            <a:avLst/>
          </a:prstGeom>
          <a:noFill/>
        </p:spPr>
        <p:txBody>
          <a:bodyPr wrap="square" rtlCol="0" anchor="ctr"/>
          <a:lstStyle/>
          <a:p>
            <a:pPr marL="0" indent="0">
              <a:buNone/>
            </a:pPr>
            <a:r>
              <a:rPr lang="en-US" sz="2200" b="1" dirty="0">
                <a:solidFill>
                  <a:srgbClr val="1F7A8C"/>
                </a:solidFill>
                <a:latin typeface="Cambria" panose="02040503050406030204" pitchFamily="34" charset="0"/>
                <a:ea typeface="Cambria" panose="02040503050406030204" pitchFamily="34" charset="-122"/>
                <a:cs typeface="Cambria" panose="02040503050406030204" pitchFamily="34" charset="-120"/>
              </a:rPr>
              <a:t>3.10</a:t>
            </a:r>
            <a:endParaRPr lang="en-US" sz="2200" dirty="0"/>
          </a:p>
        </p:txBody>
      </p:sp>
      <p:sp>
        <p:nvSpPr>
          <p:cNvPr id="8" name="Shape 6"/>
          <p:cNvSpPr/>
          <p:nvPr/>
        </p:nvSpPr>
        <p:spPr>
          <a:xfrm>
            <a:off x="4114800" y="2148840"/>
            <a:ext cx="3429000" cy="1371600"/>
          </a:xfrm>
          <a:prstGeom prst="roundRect">
            <a:avLst>
              <a:gd name="adj" fmla="val 6000"/>
            </a:avLst>
          </a:prstGeom>
          <a:solidFill>
            <a:srgbClr val="FFFFFF"/>
          </a:solidFill>
          <a:ln w="12700">
            <a:solidFill>
              <a:srgbClr val="E2E8EF"/>
            </a:solidFill>
            <a:prstDash val="solid"/>
          </a:ln>
        </p:spPr>
      </p:sp>
      <p:sp>
        <p:nvSpPr>
          <p:cNvPr id="9" name="Text 7"/>
          <p:cNvSpPr/>
          <p:nvPr/>
        </p:nvSpPr>
        <p:spPr>
          <a:xfrm>
            <a:off x="4315968" y="2331720"/>
            <a:ext cx="3026664" cy="502920"/>
          </a:xfrm>
          <a:prstGeom prst="rect">
            <a:avLst/>
          </a:prstGeom>
          <a:noFill/>
        </p:spPr>
        <p:txBody>
          <a:bodyPr wrap="square" rtlCol="0" anchor="ctr"/>
          <a:lstStyle/>
          <a:p>
            <a:pPr marL="0" indent="0">
              <a:lnSpc>
                <a:spcPts val="1200"/>
              </a:lnSpc>
              <a:buNone/>
            </a:pPr>
            <a:r>
              <a:rPr lang="en-US" sz="1050" b="1" kern="0" spc="50" dirty="0">
                <a:solidFill>
                  <a:srgbClr val="64758B"/>
                </a:solidFill>
                <a:latin typeface="Calibri" panose="020F0502020204030204" pitchFamily="34" charset="0"/>
                <a:ea typeface="Calibri" panose="020F0502020204030204" pitchFamily="34" charset="-122"/>
                <a:cs typeface="Calibri" panose="020F0502020204030204" pitchFamily="34" charset="-120"/>
              </a:rPr>
              <a:t>PREVIOUS DEMAND</a:t>
            </a:r>
            <a:endParaRPr lang="en-US" sz="1050" dirty="0"/>
          </a:p>
        </p:txBody>
      </p:sp>
      <p:sp>
        <p:nvSpPr>
          <p:cNvPr id="10" name="Text 8"/>
          <p:cNvSpPr/>
          <p:nvPr/>
        </p:nvSpPr>
        <p:spPr>
          <a:xfrm>
            <a:off x="4315968" y="2880360"/>
            <a:ext cx="3026664" cy="548640"/>
          </a:xfrm>
          <a:prstGeom prst="rect">
            <a:avLst/>
          </a:prstGeom>
          <a:noFill/>
        </p:spPr>
        <p:txBody>
          <a:bodyPr wrap="square" rtlCol="0" anchor="ctr"/>
          <a:lstStyle/>
          <a:p>
            <a:pPr marL="0" indent="0">
              <a:buNone/>
            </a:pPr>
            <a:r>
              <a:rPr lang="en-US" sz="2200" b="1" dirty="0">
                <a:solidFill>
                  <a:srgbClr val="1F7A8C"/>
                </a:solidFill>
                <a:latin typeface="Cambria" panose="02040503050406030204" pitchFamily="34" charset="0"/>
                <a:ea typeface="Cambria" panose="02040503050406030204" pitchFamily="34" charset="-122"/>
                <a:cs typeface="Cambria" panose="02040503050406030204" pitchFamily="34" charset="-120"/>
              </a:rPr>
              <a:t>15 units</a:t>
            </a:r>
            <a:endParaRPr lang="en-US" sz="2200" dirty="0"/>
          </a:p>
        </p:txBody>
      </p:sp>
      <p:sp>
        <p:nvSpPr>
          <p:cNvPr id="11" name="Shape 9"/>
          <p:cNvSpPr/>
          <p:nvPr/>
        </p:nvSpPr>
        <p:spPr>
          <a:xfrm>
            <a:off x="7680960" y="2148840"/>
            <a:ext cx="3429000" cy="1371600"/>
          </a:xfrm>
          <a:prstGeom prst="roundRect">
            <a:avLst>
              <a:gd name="adj" fmla="val 6000"/>
            </a:avLst>
          </a:prstGeom>
          <a:solidFill>
            <a:srgbClr val="FFFFFF"/>
          </a:solidFill>
          <a:ln w="12700">
            <a:solidFill>
              <a:srgbClr val="E2E8EF"/>
            </a:solidFill>
            <a:prstDash val="solid"/>
          </a:ln>
        </p:spPr>
      </p:sp>
      <p:sp>
        <p:nvSpPr>
          <p:cNvPr id="12" name="Text 10"/>
          <p:cNvSpPr/>
          <p:nvPr/>
        </p:nvSpPr>
        <p:spPr>
          <a:xfrm>
            <a:off x="7882128" y="2331720"/>
            <a:ext cx="3026664" cy="502920"/>
          </a:xfrm>
          <a:prstGeom prst="rect">
            <a:avLst/>
          </a:prstGeom>
          <a:noFill/>
        </p:spPr>
        <p:txBody>
          <a:bodyPr wrap="square" rtlCol="0" anchor="ctr"/>
          <a:lstStyle/>
          <a:p>
            <a:pPr marL="0" indent="0">
              <a:lnSpc>
                <a:spcPts val="1200"/>
              </a:lnSpc>
              <a:buNone/>
            </a:pPr>
            <a:r>
              <a:rPr lang="en-US" sz="1050" b="1" kern="0" spc="50" dirty="0">
                <a:solidFill>
                  <a:srgbClr val="64758B"/>
                </a:solidFill>
                <a:latin typeface="Calibri" panose="020F0502020204030204" pitchFamily="34" charset="0"/>
                <a:ea typeface="Calibri" panose="020F0502020204030204" pitchFamily="34" charset="-122"/>
                <a:cs typeface="Calibri" panose="020F0502020204030204" pitchFamily="34" charset="-120"/>
              </a:rPr>
              <a:t>7-RECORD AVERAGE DEMAND</a:t>
            </a:r>
            <a:endParaRPr lang="en-US" sz="1050" dirty="0"/>
          </a:p>
        </p:txBody>
      </p:sp>
      <p:sp>
        <p:nvSpPr>
          <p:cNvPr id="13" name="Text 11"/>
          <p:cNvSpPr/>
          <p:nvPr/>
        </p:nvSpPr>
        <p:spPr>
          <a:xfrm>
            <a:off x="7882128" y="2880360"/>
            <a:ext cx="3026664" cy="548640"/>
          </a:xfrm>
          <a:prstGeom prst="rect">
            <a:avLst/>
          </a:prstGeom>
          <a:noFill/>
        </p:spPr>
        <p:txBody>
          <a:bodyPr wrap="square" rtlCol="0" anchor="ctr"/>
          <a:lstStyle/>
          <a:p>
            <a:pPr marL="0" indent="0">
              <a:buNone/>
            </a:pPr>
            <a:r>
              <a:rPr lang="en-US" sz="2200" b="1" dirty="0">
                <a:solidFill>
                  <a:srgbClr val="1F7A8C"/>
                </a:solidFill>
                <a:latin typeface="Cambria" panose="02040503050406030204" pitchFamily="34" charset="0"/>
                <a:ea typeface="Cambria" panose="02040503050406030204" pitchFamily="34" charset="-122"/>
                <a:cs typeface="Cambria" panose="02040503050406030204" pitchFamily="34" charset="-120"/>
              </a:rPr>
              <a:t>136.57 units</a:t>
            </a:r>
            <a:endParaRPr lang="en-US" sz="2200" dirty="0"/>
          </a:p>
        </p:txBody>
      </p:sp>
      <p:sp>
        <p:nvSpPr>
          <p:cNvPr id="14" name="Shape 12"/>
          <p:cNvSpPr/>
          <p:nvPr/>
        </p:nvSpPr>
        <p:spPr>
          <a:xfrm>
            <a:off x="5976976" y="3657600"/>
            <a:ext cx="237744" cy="201168"/>
          </a:xfrm>
          <a:prstGeom prst="downArrow">
            <a:avLst/>
          </a:prstGeom>
          <a:solidFill>
            <a:srgbClr val="E0982E"/>
          </a:solidFill>
        </p:spPr>
      </p:sp>
      <p:sp>
        <p:nvSpPr>
          <p:cNvPr id="15" name="Text 13"/>
          <p:cNvSpPr/>
          <p:nvPr/>
        </p:nvSpPr>
        <p:spPr>
          <a:xfrm>
            <a:off x="4632808" y="3886200"/>
            <a:ext cx="2926080" cy="502920"/>
          </a:xfrm>
          <a:prstGeom prst="roundRect">
            <a:avLst>
              <a:gd name="adj" fmla="val 14545"/>
            </a:avLst>
          </a:prstGeom>
          <a:solidFill>
            <a:srgbClr val="12395B"/>
          </a:solidFill>
        </p:spPr>
        <p:txBody>
          <a:bodyPr wrap="square" lIns="635" tIns="635" rIns="635" bIns="635" rtlCol="0" anchor="ctr"/>
          <a:lstStyle/>
          <a:p>
            <a:pPr marL="0" indent="0" algn="ctr">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Random Forest Model</a:t>
            </a:r>
            <a:endParaRPr lang="en-US" sz="1350" dirty="0"/>
          </a:p>
        </p:txBody>
      </p:sp>
      <p:sp>
        <p:nvSpPr>
          <p:cNvPr id="16" name="Shape 14"/>
          <p:cNvSpPr/>
          <p:nvPr/>
        </p:nvSpPr>
        <p:spPr>
          <a:xfrm>
            <a:off x="5976976" y="4480560"/>
            <a:ext cx="237744" cy="201168"/>
          </a:xfrm>
          <a:prstGeom prst="downArrow">
            <a:avLst/>
          </a:prstGeom>
          <a:solidFill>
            <a:srgbClr val="E0982E"/>
          </a:solidFill>
        </p:spPr>
      </p:sp>
      <p:sp>
        <p:nvSpPr>
          <p:cNvPr id="17" name="Shape 15"/>
          <p:cNvSpPr/>
          <p:nvPr/>
        </p:nvSpPr>
        <p:spPr>
          <a:xfrm>
            <a:off x="3718408" y="4709160"/>
            <a:ext cx="4754880" cy="1188720"/>
          </a:xfrm>
          <a:prstGeom prst="roundRect">
            <a:avLst>
              <a:gd name="adj" fmla="val 7692"/>
            </a:avLst>
          </a:prstGeom>
          <a:solidFill>
            <a:srgbClr val="E0982E"/>
          </a:solidFill>
        </p:spPr>
      </p:sp>
      <p:sp>
        <p:nvSpPr>
          <p:cNvPr id="18" name="Text 16"/>
          <p:cNvSpPr/>
          <p:nvPr/>
        </p:nvSpPr>
        <p:spPr>
          <a:xfrm>
            <a:off x="3992728" y="4864608"/>
            <a:ext cx="4206240" cy="274320"/>
          </a:xfrm>
          <a:prstGeom prst="rect">
            <a:avLst/>
          </a:prstGeom>
          <a:noFill/>
        </p:spPr>
        <p:txBody>
          <a:bodyPr wrap="square" rtlCol="0" anchor="ctr"/>
          <a:lstStyle/>
          <a:p>
            <a:pPr marL="0" indent="0" algn="ctr">
              <a:buNone/>
            </a:pPr>
            <a:r>
              <a:rPr lang="en-US" sz="1200" b="1" kern="0" spc="150" dirty="0">
                <a:solidFill>
                  <a:srgbClr val="0A2038"/>
                </a:solidFill>
                <a:latin typeface="Calibri" panose="020F0502020204030204" pitchFamily="34" charset="0"/>
                <a:ea typeface="Calibri" panose="020F0502020204030204" pitchFamily="34" charset="-122"/>
                <a:cs typeface="Calibri" panose="020F0502020204030204" pitchFamily="34" charset="-120"/>
              </a:rPr>
              <a:t>PREDICTED DEMAND</a:t>
            </a:r>
            <a:endParaRPr lang="en-US" sz="1200" dirty="0"/>
          </a:p>
        </p:txBody>
      </p:sp>
      <p:sp>
        <p:nvSpPr>
          <p:cNvPr id="19" name="Text 17"/>
          <p:cNvSpPr/>
          <p:nvPr/>
        </p:nvSpPr>
        <p:spPr>
          <a:xfrm>
            <a:off x="3992728" y="5120640"/>
            <a:ext cx="4206240" cy="640080"/>
          </a:xfrm>
          <a:prstGeom prst="rect">
            <a:avLst/>
          </a:prstGeom>
          <a:noFill/>
        </p:spPr>
        <p:txBody>
          <a:bodyPr wrap="square" rtlCol="0" anchor="ctr"/>
          <a:lstStyle/>
          <a:p>
            <a:pPr marL="0" indent="0" algn="ctr">
              <a:buNone/>
            </a:pPr>
            <a:r>
              <a:rPr lang="en-US" sz="3000" b="1" dirty="0">
                <a:solidFill>
                  <a:srgbClr val="0A2038"/>
                </a:solidFill>
                <a:latin typeface="Cambria" panose="02040503050406030204" pitchFamily="34" charset="0"/>
                <a:ea typeface="Cambria" panose="02040503050406030204" pitchFamily="34" charset="-122"/>
                <a:cs typeface="Cambria" panose="02040503050406030204" pitchFamily="34" charset="-120"/>
              </a:rPr>
              <a:t>182.92 units</a:t>
            </a:r>
            <a:endParaRPr lang="en-US" sz="3000" dirty="0"/>
          </a:p>
        </p:txBody>
      </p:sp>
      <p:sp>
        <p:nvSpPr>
          <p:cNvPr id="20" name="Text 18"/>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21" name="Text 19"/>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STREAMLIT WEB APPLICATION</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Making the Model Usable</a:t>
            </a:r>
            <a:endParaRPr lang="en-US" sz="3000" dirty="0"/>
          </a:p>
        </p:txBody>
      </p:sp>
      <p:sp>
        <p:nvSpPr>
          <p:cNvPr id="4" name="Shape 2"/>
          <p:cNvSpPr/>
          <p:nvPr/>
        </p:nvSpPr>
        <p:spPr>
          <a:xfrm>
            <a:off x="548640" y="1645920"/>
            <a:ext cx="6675120" cy="4251960"/>
          </a:xfrm>
          <a:prstGeom prst="roundRect">
            <a:avLst>
              <a:gd name="adj" fmla="val 2151"/>
            </a:avLst>
          </a:prstGeom>
          <a:solidFill>
            <a:srgbClr val="FFFFFF"/>
          </a:solidFill>
          <a:ln w="19050">
            <a:solidFill>
              <a:srgbClr val="AAB6C4"/>
            </a:solidFill>
            <a:prstDash val="dash"/>
          </a:ln>
        </p:spPr>
      </p:sp>
      <p:sp>
        <p:nvSpPr>
          <p:cNvPr id="5" name="Shape 3"/>
          <p:cNvSpPr/>
          <p:nvPr/>
        </p:nvSpPr>
        <p:spPr>
          <a:xfrm>
            <a:off x="548640" y="1645920"/>
            <a:ext cx="6675120" cy="457200"/>
          </a:xfrm>
          <a:prstGeom prst="rect">
            <a:avLst/>
          </a:prstGeom>
          <a:solidFill>
            <a:srgbClr val="12395B"/>
          </a:solidFill>
        </p:spPr>
      </p:sp>
      <p:sp>
        <p:nvSpPr>
          <p:cNvPr id="6" name="Text 4"/>
          <p:cNvSpPr/>
          <p:nvPr/>
        </p:nvSpPr>
        <p:spPr>
          <a:xfrm>
            <a:off x="731520" y="1645920"/>
            <a:ext cx="6309360" cy="457200"/>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Retail Demand Predictor — app.py</a:t>
            </a:r>
            <a:endParaRPr lang="en-US" sz="1150" dirty="0"/>
          </a:p>
        </p:txBody>
      </p:sp>
      <p:sp>
        <p:nvSpPr>
          <p:cNvPr id="7" name="Text 5"/>
          <p:cNvSpPr/>
          <p:nvPr/>
        </p:nvSpPr>
        <p:spPr>
          <a:xfrm>
            <a:off x="822960" y="2286000"/>
            <a:ext cx="6126480" cy="365760"/>
          </a:xfrm>
          <a:prstGeom prst="rect">
            <a:avLst/>
          </a:prstGeom>
          <a:noFill/>
        </p:spPr>
        <p:txBody>
          <a:bodyPr wrap="square" rtlCol="0" anchor="ctr"/>
          <a:lstStyle/>
          <a:p>
            <a:pPr marL="0" indent="0">
              <a:buNone/>
            </a:pPr>
            <a:r>
              <a:rPr lang="en-US" sz="1100" i="1" dirty="0">
                <a:solidFill>
                  <a:srgbClr val="64758B"/>
                </a:solidFill>
                <a:latin typeface="Calibri" panose="020F0502020204030204" pitchFamily="34" charset="0"/>
                <a:ea typeface="Calibri" panose="020F0502020204030204" pitchFamily="34" charset="-122"/>
                <a:cs typeface="Calibri" panose="020F0502020204030204" pitchFamily="34" charset="-120"/>
              </a:rPr>
              <a:t>SCREENSHOT PLACEHOLDER — insert live Streamlit app screenshot here</a:t>
            </a:r>
            <a:endParaRPr lang="en-US" sz="1100" dirty="0"/>
          </a:p>
        </p:txBody>
      </p:sp>
      <p:sp>
        <p:nvSpPr>
          <p:cNvPr id="8" name="Shape 6"/>
          <p:cNvSpPr/>
          <p:nvPr/>
        </p:nvSpPr>
        <p:spPr>
          <a:xfrm>
            <a:off x="822960" y="2743200"/>
            <a:ext cx="6126480" cy="457200"/>
          </a:xfrm>
          <a:prstGeom prst="roundRect">
            <a:avLst>
              <a:gd name="adj" fmla="val 12000"/>
            </a:avLst>
          </a:prstGeom>
          <a:solidFill>
            <a:srgbClr val="EEF1F5"/>
          </a:solidFill>
          <a:ln w="9525">
            <a:solidFill>
              <a:srgbClr val="E2E8EF"/>
            </a:solidFill>
            <a:prstDash val="solid"/>
          </a:ln>
        </p:spPr>
      </p:sp>
      <p:sp>
        <p:nvSpPr>
          <p:cNvPr id="9" name="Text 7"/>
          <p:cNvSpPr/>
          <p:nvPr/>
        </p:nvSpPr>
        <p:spPr>
          <a:xfrm>
            <a:off x="1005840" y="2743200"/>
            <a:ext cx="5760720" cy="457200"/>
          </a:xfrm>
          <a:prstGeom prst="rect">
            <a:avLst/>
          </a:prstGeom>
          <a:noFill/>
        </p:spPr>
        <p:txBody>
          <a:bodyPr wrap="square" rtlCol="0" anchor="ctr"/>
          <a:lstStyle/>
          <a:p>
            <a:pPr marL="0" indent="0">
              <a:buNone/>
            </a:pPr>
            <a:r>
              <a:rPr lang="en-US" sz="1150" dirty="0">
                <a:solidFill>
                  <a:srgbClr val="1A2432"/>
                </a:solidFill>
                <a:latin typeface="Calibri" panose="020F0502020204030204" pitchFamily="34" charset="0"/>
                <a:ea typeface="Calibri" panose="020F0502020204030204" pitchFamily="34" charset="-122"/>
                <a:cs typeface="Calibri" panose="020F0502020204030204" pitchFamily="34" charset="-120"/>
              </a:rPr>
              <a:t>Product dropdown — select a product</a:t>
            </a:r>
            <a:endParaRPr lang="en-US" sz="1150" dirty="0"/>
          </a:p>
        </p:txBody>
      </p:sp>
      <p:sp>
        <p:nvSpPr>
          <p:cNvPr id="10" name="Shape 8"/>
          <p:cNvSpPr/>
          <p:nvPr/>
        </p:nvSpPr>
        <p:spPr>
          <a:xfrm>
            <a:off x="822960" y="3273552"/>
            <a:ext cx="6126480" cy="457200"/>
          </a:xfrm>
          <a:prstGeom prst="roundRect">
            <a:avLst>
              <a:gd name="adj" fmla="val 12000"/>
            </a:avLst>
          </a:prstGeom>
          <a:solidFill>
            <a:srgbClr val="EEF1F5"/>
          </a:solidFill>
          <a:ln w="9525">
            <a:solidFill>
              <a:srgbClr val="E2E8EF"/>
            </a:solidFill>
            <a:prstDash val="solid"/>
          </a:ln>
        </p:spPr>
      </p:sp>
      <p:sp>
        <p:nvSpPr>
          <p:cNvPr id="11" name="Text 9"/>
          <p:cNvSpPr/>
          <p:nvPr/>
        </p:nvSpPr>
        <p:spPr>
          <a:xfrm>
            <a:off x="1005840" y="3273552"/>
            <a:ext cx="5760720" cy="457200"/>
          </a:xfrm>
          <a:prstGeom prst="rect">
            <a:avLst/>
          </a:prstGeom>
          <a:noFill/>
        </p:spPr>
        <p:txBody>
          <a:bodyPr wrap="square" rtlCol="0" anchor="ctr"/>
          <a:lstStyle/>
          <a:p>
            <a:pPr marL="0" indent="0">
              <a:buNone/>
            </a:pPr>
            <a:r>
              <a:rPr lang="en-US" sz="1150" dirty="0">
                <a:solidFill>
                  <a:srgbClr val="1A2432"/>
                </a:solidFill>
                <a:latin typeface="Calibri" panose="020F0502020204030204" pitchFamily="34" charset="0"/>
                <a:ea typeface="Calibri" panose="020F0502020204030204" pitchFamily="34" charset="-122"/>
                <a:cs typeface="Calibri" panose="020F0502020204030204" pitchFamily="34" charset="-120"/>
              </a:rPr>
              <a:t>Product information &amp; latest price</a:t>
            </a:r>
            <a:endParaRPr lang="en-US" sz="1150" dirty="0"/>
          </a:p>
        </p:txBody>
      </p:sp>
      <p:sp>
        <p:nvSpPr>
          <p:cNvPr id="12" name="Shape 10"/>
          <p:cNvSpPr/>
          <p:nvPr/>
        </p:nvSpPr>
        <p:spPr>
          <a:xfrm>
            <a:off x="822960" y="3803904"/>
            <a:ext cx="6126480" cy="457200"/>
          </a:xfrm>
          <a:prstGeom prst="roundRect">
            <a:avLst>
              <a:gd name="adj" fmla="val 12000"/>
            </a:avLst>
          </a:prstGeom>
          <a:solidFill>
            <a:srgbClr val="EEF1F5"/>
          </a:solidFill>
          <a:ln w="9525">
            <a:solidFill>
              <a:srgbClr val="E2E8EF"/>
            </a:solidFill>
            <a:prstDash val="solid"/>
          </a:ln>
        </p:spPr>
      </p:sp>
      <p:sp>
        <p:nvSpPr>
          <p:cNvPr id="13" name="Text 11"/>
          <p:cNvSpPr/>
          <p:nvPr/>
        </p:nvSpPr>
        <p:spPr>
          <a:xfrm>
            <a:off x="1005840" y="3803904"/>
            <a:ext cx="5760720" cy="457200"/>
          </a:xfrm>
          <a:prstGeom prst="rect">
            <a:avLst/>
          </a:prstGeom>
          <a:noFill/>
        </p:spPr>
        <p:txBody>
          <a:bodyPr wrap="square" rtlCol="0" anchor="ctr"/>
          <a:lstStyle/>
          <a:p>
            <a:pPr marL="0" indent="0">
              <a:buNone/>
            </a:pPr>
            <a:r>
              <a:rPr lang="en-US" sz="1150" dirty="0">
                <a:solidFill>
                  <a:srgbClr val="1A2432"/>
                </a:solidFill>
                <a:latin typeface="Calibri" panose="020F0502020204030204" pitchFamily="34" charset="0"/>
                <a:ea typeface="Calibri" panose="020F0502020204030204" pitchFamily="34" charset="-122"/>
                <a:cs typeface="Calibri" panose="020F0502020204030204" pitchFamily="34" charset="-120"/>
              </a:rPr>
              <a:t>Previous demand &amp; 7-record average</a:t>
            </a:r>
            <a:endParaRPr lang="en-US" sz="1150" dirty="0"/>
          </a:p>
        </p:txBody>
      </p:sp>
      <p:sp>
        <p:nvSpPr>
          <p:cNvPr id="14" name="Shape 12"/>
          <p:cNvSpPr/>
          <p:nvPr/>
        </p:nvSpPr>
        <p:spPr>
          <a:xfrm>
            <a:off x="822960" y="4334256"/>
            <a:ext cx="6126480" cy="457200"/>
          </a:xfrm>
          <a:prstGeom prst="roundRect">
            <a:avLst>
              <a:gd name="adj" fmla="val 12000"/>
            </a:avLst>
          </a:prstGeom>
          <a:solidFill>
            <a:srgbClr val="EEF1F5"/>
          </a:solidFill>
          <a:ln w="9525">
            <a:solidFill>
              <a:srgbClr val="E2E8EF"/>
            </a:solidFill>
            <a:prstDash val="solid"/>
          </a:ln>
        </p:spPr>
      </p:sp>
      <p:sp>
        <p:nvSpPr>
          <p:cNvPr id="15" name="Text 13"/>
          <p:cNvSpPr/>
          <p:nvPr/>
        </p:nvSpPr>
        <p:spPr>
          <a:xfrm>
            <a:off x="1005840" y="4334256"/>
            <a:ext cx="5760720" cy="457200"/>
          </a:xfrm>
          <a:prstGeom prst="rect">
            <a:avLst/>
          </a:prstGeom>
          <a:noFill/>
        </p:spPr>
        <p:txBody>
          <a:bodyPr wrap="square" rtlCol="0" anchor="ctr"/>
          <a:lstStyle/>
          <a:p>
            <a:pPr marL="0" indent="0">
              <a:buNone/>
            </a:pPr>
            <a:r>
              <a:rPr lang="en-US" sz="1150" dirty="0">
                <a:solidFill>
                  <a:srgbClr val="1A2432"/>
                </a:solidFill>
                <a:latin typeface="Calibri" panose="020F0502020204030204" pitchFamily="34" charset="0"/>
                <a:ea typeface="Calibri" panose="020F0502020204030204" pitchFamily="34" charset="-122"/>
                <a:cs typeface="Calibri" panose="020F0502020204030204" pitchFamily="34" charset="-120"/>
              </a:rPr>
              <a:t>Historical Demand Trend (line chart)</a:t>
            </a:r>
            <a:endParaRPr lang="en-US" sz="1150" dirty="0"/>
          </a:p>
        </p:txBody>
      </p:sp>
      <p:sp>
        <p:nvSpPr>
          <p:cNvPr id="16" name="Shape 14"/>
          <p:cNvSpPr/>
          <p:nvPr/>
        </p:nvSpPr>
        <p:spPr>
          <a:xfrm>
            <a:off x="822960" y="4864608"/>
            <a:ext cx="6126480" cy="457200"/>
          </a:xfrm>
          <a:prstGeom prst="roundRect">
            <a:avLst>
              <a:gd name="adj" fmla="val 12000"/>
            </a:avLst>
          </a:prstGeom>
          <a:solidFill>
            <a:srgbClr val="EEF1F5"/>
          </a:solidFill>
          <a:ln w="9525">
            <a:solidFill>
              <a:srgbClr val="E2E8EF"/>
            </a:solidFill>
            <a:prstDash val="solid"/>
          </a:ln>
        </p:spPr>
      </p:sp>
      <p:sp>
        <p:nvSpPr>
          <p:cNvPr id="17" name="Text 15"/>
          <p:cNvSpPr/>
          <p:nvPr/>
        </p:nvSpPr>
        <p:spPr>
          <a:xfrm>
            <a:off x="1005840" y="4864608"/>
            <a:ext cx="5760720" cy="457200"/>
          </a:xfrm>
          <a:prstGeom prst="rect">
            <a:avLst/>
          </a:prstGeom>
          <a:noFill/>
        </p:spPr>
        <p:txBody>
          <a:bodyPr wrap="square" rtlCol="0" anchor="ctr"/>
          <a:lstStyle/>
          <a:p>
            <a:pPr marL="0" indent="0">
              <a:buNone/>
            </a:pPr>
            <a:r>
              <a:rPr lang="en-US" sz="1150" dirty="0">
                <a:solidFill>
                  <a:srgbClr val="1A2432"/>
                </a:solidFill>
                <a:latin typeface="Calibri" panose="020F0502020204030204" pitchFamily="34" charset="0"/>
                <a:ea typeface="Calibri" panose="020F0502020204030204" pitchFamily="34" charset="-122"/>
                <a:cs typeface="Calibri" panose="020F0502020204030204" pitchFamily="34" charset="-120"/>
              </a:rPr>
              <a:t>[ Predict Demand ] button</a:t>
            </a:r>
            <a:endParaRPr lang="en-US" sz="1150" dirty="0"/>
          </a:p>
        </p:txBody>
      </p:sp>
      <p:sp>
        <p:nvSpPr>
          <p:cNvPr id="18" name="Shape 16"/>
          <p:cNvSpPr/>
          <p:nvPr/>
        </p:nvSpPr>
        <p:spPr>
          <a:xfrm>
            <a:off x="822960" y="5394960"/>
            <a:ext cx="6126480" cy="457200"/>
          </a:xfrm>
          <a:prstGeom prst="roundRect">
            <a:avLst>
              <a:gd name="adj" fmla="val 12000"/>
            </a:avLst>
          </a:prstGeom>
          <a:solidFill>
            <a:srgbClr val="EEF1F5"/>
          </a:solidFill>
          <a:ln w="9525">
            <a:solidFill>
              <a:srgbClr val="E2E8EF"/>
            </a:solidFill>
            <a:prstDash val="solid"/>
          </a:ln>
        </p:spPr>
      </p:sp>
      <p:sp>
        <p:nvSpPr>
          <p:cNvPr id="19" name="Text 17"/>
          <p:cNvSpPr/>
          <p:nvPr/>
        </p:nvSpPr>
        <p:spPr>
          <a:xfrm>
            <a:off x="1005840" y="5394960"/>
            <a:ext cx="5760720" cy="457200"/>
          </a:xfrm>
          <a:prstGeom prst="rect">
            <a:avLst/>
          </a:prstGeom>
          <a:noFill/>
        </p:spPr>
        <p:txBody>
          <a:bodyPr wrap="square" rtlCol="0" anchor="ctr"/>
          <a:lstStyle/>
          <a:p>
            <a:pPr marL="0" indent="0">
              <a:buNone/>
            </a:pPr>
            <a:r>
              <a:rPr lang="en-US" sz="1150" dirty="0">
                <a:solidFill>
                  <a:srgbClr val="1A2432"/>
                </a:solidFill>
                <a:latin typeface="Calibri" panose="020F0502020204030204" pitchFamily="34" charset="0"/>
                <a:ea typeface="Calibri" panose="020F0502020204030204" pitchFamily="34" charset="-122"/>
                <a:cs typeface="Calibri" panose="020F0502020204030204" pitchFamily="34" charset="-120"/>
              </a:rPr>
              <a:t>Prediction result display</a:t>
            </a:r>
            <a:endParaRPr lang="en-US" sz="1150" dirty="0"/>
          </a:p>
        </p:txBody>
      </p:sp>
      <p:sp>
        <p:nvSpPr>
          <p:cNvPr id="20" name="Text 18"/>
          <p:cNvSpPr/>
          <p:nvPr/>
        </p:nvSpPr>
        <p:spPr>
          <a:xfrm>
            <a:off x="7543800" y="1645920"/>
            <a:ext cx="4096512" cy="274320"/>
          </a:xfrm>
          <a:prstGeom prst="rect">
            <a:avLst/>
          </a:prstGeom>
          <a:noFill/>
        </p:spPr>
        <p:txBody>
          <a:bodyPr wrap="square" rtlCol="0" anchor="ctr"/>
          <a:lstStyle/>
          <a:p>
            <a:pPr marL="0" indent="0">
              <a:buNone/>
            </a:pPr>
            <a:r>
              <a:rPr lang="en-US" sz="1200" b="1" kern="0" spc="150" dirty="0">
                <a:solidFill>
                  <a:srgbClr val="12395B"/>
                </a:solidFill>
                <a:latin typeface="Calibri" panose="020F0502020204030204" pitchFamily="34" charset="0"/>
                <a:ea typeface="Calibri" panose="020F0502020204030204" pitchFamily="34" charset="-122"/>
                <a:cs typeface="Calibri" panose="020F0502020204030204" pitchFamily="34" charset="-120"/>
              </a:rPr>
              <a:t>APP CAPABILITIES</a:t>
            </a:r>
            <a:endParaRPr lang="en-US" sz="1200" dirty="0"/>
          </a:p>
        </p:txBody>
      </p:sp>
      <p:sp>
        <p:nvSpPr>
          <p:cNvPr id="21" name="Text 19"/>
          <p:cNvSpPr/>
          <p:nvPr/>
        </p:nvSpPr>
        <p:spPr>
          <a:xfrm>
            <a:off x="7543800" y="1965960"/>
            <a:ext cx="4096512" cy="2286000"/>
          </a:xfrm>
          <a:prstGeom prst="rect">
            <a:avLst/>
          </a:prstGeom>
          <a:noFill/>
        </p:spPr>
        <p:txBody>
          <a:bodyPr wrap="square" rtlCol="0" anchor="ctr"/>
          <a:lstStyle/>
          <a:p>
            <a:pPr marL="342900" indent="-342900">
              <a:lnSpc>
                <a:spcPts val="1500"/>
              </a:lnSpc>
              <a:spcAft>
                <a:spcPts val="1000"/>
              </a:spcAft>
              <a:buSzPct val="100000"/>
              <a:buChar char="✓"/>
            </a:pPr>
            <a:r>
              <a:rPr lang="en-US" sz="1200" dirty="0">
                <a:solidFill>
                  <a:srgbClr val="1A2432"/>
                </a:solidFill>
                <a:latin typeface="Calibri" panose="020F0502020204030204" pitchFamily="34" charset="0"/>
                <a:ea typeface="Calibri" panose="020F0502020204030204" pitchFamily="34" charset="-122"/>
                <a:cs typeface="Calibri" panose="020F0502020204030204" pitchFamily="34" charset="-120"/>
              </a:rPr>
              <a:t>Product selection dropdown</a:t>
            </a:r>
            <a:endParaRPr lang="en-US" sz="1200" dirty="0"/>
          </a:p>
          <a:p>
            <a:pPr marL="342900" indent="-342900">
              <a:lnSpc>
                <a:spcPts val="1500"/>
              </a:lnSpc>
              <a:spcAft>
                <a:spcPts val="1000"/>
              </a:spcAft>
              <a:buSzPct val="100000"/>
              <a:buChar char="✓"/>
            </a:pPr>
            <a:r>
              <a:rPr lang="en-US" sz="1200" dirty="0">
                <a:solidFill>
                  <a:srgbClr val="1A2432"/>
                </a:solidFill>
                <a:latin typeface="Calibri" panose="020F0502020204030204" pitchFamily="34" charset="0"/>
                <a:ea typeface="Calibri" panose="020F0502020204030204" pitchFamily="34" charset="-122"/>
                <a:cs typeface="Calibri" panose="020F0502020204030204" pitchFamily="34" charset="-120"/>
              </a:rPr>
              <a:t>Displays product information &amp; latest price</a:t>
            </a:r>
            <a:endParaRPr lang="en-US" sz="1200" dirty="0"/>
          </a:p>
          <a:p>
            <a:pPr marL="342900" indent="-342900">
              <a:lnSpc>
                <a:spcPts val="1500"/>
              </a:lnSpc>
              <a:spcAft>
                <a:spcPts val="1000"/>
              </a:spcAft>
              <a:buSzPct val="100000"/>
              <a:buChar char="✓"/>
            </a:pPr>
            <a:r>
              <a:rPr lang="en-US" sz="1200" dirty="0">
                <a:solidFill>
                  <a:srgbClr val="1A2432"/>
                </a:solidFill>
                <a:latin typeface="Calibri" panose="020F0502020204030204" pitchFamily="34" charset="0"/>
                <a:ea typeface="Calibri" panose="020F0502020204030204" pitchFamily="34" charset="-122"/>
                <a:cs typeface="Calibri" panose="020F0502020204030204" pitchFamily="34" charset="-120"/>
              </a:rPr>
              <a:t>Shows previous demand and 7-record average</a:t>
            </a:r>
            <a:endParaRPr lang="en-US" sz="1200" dirty="0"/>
          </a:p>
          <a:p>
            <a:pPr marL="342900" indent="-342900">
              <a:lnSpc>
                <a:spcPts val="1500"/>
              </a:lnSpc>
              <a:spcAft>
                <a:spcPts val="1000"/>
              </a:spcAft>
              <a:buSzPct val="100000"/>
              <a:buChar char="✓"/>
            </a:pPr>
            <a:r>
              <a:rPr lang="en-US" sz="1200" dirty="0">
                <a:solidFill>
                  <a:srgbClr val="1A2432"/>
                </a:solidFill>
                <a:latin typeface="Calibri" panose="020F0502020204030204" pitchFamily="34" charset="0"/>
                <a:ea typeface="Calibri" panose="020F0502020204030204" pitchFamily="34" charset="-122"/>
                <a:cs typeface="Calibri" panose="020F0502020204030204" pitchFamily="34" charset="-120"/>
              </a:rPr>
              <a:t>Historical Demand Trend line chart</a:t>
            </a:r>
            <a:endParaRPr lang="en-US" sz="1200" dirty="0"/>
          </a:p>
          <a:p>
            <a:pPr marL="342900" indent="-342900">
              <a:lnSpc>
                <a:spcPts val="1500"/>
              </a:lnSpc>
              <a:spcAft>
                <a:spcPts val="1000"/>
              </a:spcAft>
              <a:buSzPct val="100000"/>
              <a:buChar char="✓"/>
            </a:pPr>
            <a:r>
              <a:rPr lang="en-US" sz="1200" dirty="0">
                <a:solidFill>
                  <a:srgbClr val="1A2432"/>
                </a:solidFill>
                <a:latin typeface="Calibri" panose="020F0502020204030204" pitchFamily="34" charset="0"/>
                <a:ea typeface="Calibri" panose="020F0502020204030204" pitchFamily="34" charset="-122"/>
                <a:cs typeface="Calibri" panose="020F0502020204030204" pitchFamily="34" charset="-120"/>
              </a:rPr>
              <a:t>Predict Demand button</a:t>
            </a:r>
            <a:endParaRPr lang="en-US" sz="1200" dirty="0"/>
          </a:p>
          <a:p>
            <a:pPr marL="342900" indent="-342900">
              <a:lnSpc>
                <a:spcPts val="1500"/>
              </a:lnSpc>
              <a:spcAft>
                <a:spcPts val="1000"/>
              </a:spcAft>
              <a:buSzPct val="100000"/>
              <a:buChar char="✓"/>
            </a:pPr>
            <a:r>
              <a:rPr lang="en-US" sz="1200" dirty="0">
                <a:solidFill>
                  <a:srgbClr val="1A2432"/>
                </a:solidFill>
                <a:latin typeface="Calibri" panose="020F0502020204030204" pitchFamily="34" charset="0"/>
                <a:ea typeface="Calibri" panose="020F0502020204030204" pitchFamily="34" charset="-122"/>
                <a:cs typeface="Calibri" panose="020F0502020204030204" pitchFamily="34" charset="-120"/>
              </a:rPr>
              <a:t>Instant predicted demand result</a:t>
            </a:r>
            <a:endParaRPr lang="en-US" sz="1200" dirty="0"/>
          </a:p>
        </p:txBody>
      </p:sp>
      <p:sp>
        <p:nvSpPr>
          <p:cNvPr id="22" name="Shape 20"/>
          <p:cNvSpPr/>
          <p:nvPr/>
        </p:nvSpPr>
        <p:spPr>
          <a:xfrm>
            <a:off x="7543800" y="4343400"/>
            <a:ext cx="4096512" cy="1554480"/>
          </a:xfrm>
          <a:prstGeom prst="roundRect">
            <a:avLst>
              <a:gd name="adj" fmla="val 5882"/>
            </a:avLst>
          </a:prstGeom>
          <a:solidFill>
            <a:srgbClr val="E7F1F3"/>
          </a:solidFill>
        </p:spPr>
      </p:sp>
      <p:sp>
        <p:nvSpPr>
          <p:cNvPr id="23" name="Text 21"/>
          <p:cNvSpPr/>
          <p:nvPr/>
        </p:nvSpPr>
        <p:spPr>
          <a:xfrm>
            <a:off x="7772400" y="4480560"/>
            <a:ext cx="3639312" cy="274320"/>
          </a:xfrm>
          <a:prstGeom prst="rect">
            <a:avLst/>
          </a:prstGeom>
          <a:noFill/>
        </p:spPr>
        <p:txBody>
          <a:bodyPr wrap="square" rtlCol="0" anchor="ctr"/>
          <a:lstStyle/>
          <a:p>
            <a:pPr marL="0" indent="0">
              <a:buNone/>
            </a:pPr>
            <a:r>
              <a:rPr lang="en-US" sz="1250" b="1" dirty="0">
                <a:solidFill>
                  <a:srgbClr val="1F7A8C"/>
                </a:solidFill>
                <a:latin typeface="Cambria" panose="02040503050406030204" pitchFamily="34" charset="0"/>
                <a:ea typeface="Cambria" panose="02040503050406030204" pitchFamily="34" charset="-122"/>
                <a:cs typeface="Cambria" panose="02040503050406030204" pitchFamily="34" charset="-120"/>
              </a:rPr>
              <a:t>Built with</a:t>
            </a:r>
            <a:endParaRPr lang="en-US" sz="1250" dirty="0"/>
          </a:p>
        </p:txBody>
      </p:sp>
      <p:sp>
        <p:nvSpPr>
          <p:cNvPr id="24" name="Text 22"/>
          <p:cNvSpPr/>
          <p:nvPr/>
        </p:nvSpPr>
        <p:spPr>
          <a:xfrm>
            <a:off x="7772400" y="4800600"/>
            <a:ext cx="3639312" cy="822960"/>
          </a:xfrm>
          <a:prstGeom prst="rect">
            <a:avLst/>
          </a:prstGeom>
          <a:noFill/>
        </p:spPr>
        <p:txBody>
          <a:bodyPr wrap="square" rtlCol="0" anchor="ctr"/>
          <a:lstStyle/>
          <a:p>
            <a:pPr marL="0" indent="0">
              <a:lnSpc>
                <a:spcPts val="1600"/>
              </a:lnSpc>
              <a:buNone/>
            </a:pPr>
            <a:r>
              <a:rPr lang="en-US" sz="1150" dirty="0">
                <a:solidFill>
                  <a:srgbClr val="12395B"/>
                </a:solidFill>
                <a:latin typeface="Calibri" panose="020F0502020204030204" pitchFamily="34" charset="0"/>
                <a:ea typeface="Calibri" panose="020F0502020204030204" pitchFamily="34" charset="-122"/>
                <a:cs typeface="Calibri" panose="020F0502020204030204" pitchFamily="34" charset="-120"/>
              </a:rPr>
              <a:t>Python · Pandas · NumPy · Scikit-learn · Joblib · Matplotlib · Streamlit</a:t>
            </a:r>
            <a:endParaRPr lang="en-US" sz="1150" dirty="0"/>
          </a:p>
        </p:txBody>
      </p:sp>
      <p:sp>
        <p:nvSpPr>
          <p:cNvPr id="25" name="Text 23"/>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26" name="Text 24"/>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2038"/>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PROJECT OUTPUT</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Results at a Glance</a:t>
            </a:r>
            <a:endParaRPr lang="en-US" sz="3000" dirty="0"/>
          </a:p>
        </p:txBody>
      </p:sp>
      <p:sp>
        <p:nvSpPr>
          <p:cNvPr id="4" name="Shape 2"/>
          <p:cNvSpPr/>
          <p:nvPr/>
        </p:nvSpPr>
        <p:spPr>
          <a:xfrm>
            <a:off x="548640" y="1737360"/>
            <a:ext cx="2602154" cy="1234440"/>
          </a:xfrm>
          <a:prstGeom prst="roundRect">
            <a:avLst>
              <a:gd name="adj" fmla="val 7407"/>
            </a:avLst>
          </a:prstGeom>
          <a:solidFill>
            <a:srgbClr val="132B49"/>
          </a:solidFill>
          <a:ln w="12700">
            <a:solidFill>
              <a:srgbClr val="234A70"/>
            </a:solidFill>
            <a:prstDash val="solid"/>
          </a:ln>
        </p:spPr>
      </p:sp>
      <p:sp>
        <p:nvSpPr>
          <p:cNvPr id="5" name="Text 3"/>
          <p:cNvSpPr/>
          <p:nvPr/>
        </p:nvSpPr>
        <p:spPr>
          <a:xfrm>
            <a:off x="640080" y="1874520"/>
            <a:ext cx="2419274" cy="566928"/>
          </a:xfrm>
          <a:prstGeom prst="rect">
            <a:avLst/>
          </a:prstGeom>
          <a:noFill/>
        </p:spPr>
        <p:txBody>
          <a:bodyPr wrap="square" rtlCol="0" anchor="ctr"/>
          <a:lstStyle/>
          <a:p>
            <a:pPr marL="0" indent="0" algn="ctr">
              <a:buNone/>
            </a:pPr>
            <a:r>
              <a:rPr lang="en-US" sz="2200" b="1" dirty="0">
                <a:solidFill>
                  <a:srgbClr val="E0982E"/>
                </a:solidFill>
                <a:latin typeface="Cambria" panose="02040503050406030204" pitchFamily="34" charset="0"/>
                <a:ea typeface="Cambria" panose="02040503050406030204" pitchFamily="34" charset="-122"/>
                <a:cs typeface="Cambria" panose="02040503050406030204" pitchFamily="34" charset="-120"/>
              </a:rPr>
              <a:t>541,909</a:t>
            </a:r>
            <a:endParaRPr lang="en-US" sz="2200" dirty="0"/>
          </a:p>
        </p:txBody>
      </p:sp>
      <p:sp>
        <p:nvSpPr>
          <p:cNvPr id="6" name="Text 4"/>
          <p:cNvSpPr/>
          <p:nvPr/>
        </p:nvSpPr>
        <p:spPr>
          <a:xfrm>
            <a:off x="640080" y="2487168"/>
            <a:ext cx="2419274" cy="411480"/>
          </a:xfrm>
          <a:prstGeom prst="rect">
            <a:avLst/>
          </a:prstGeom>
          <a:noFill/>
        </p:spPr>
        <p:txBody>
          <a:bodyPr wrap="square" rtlCol="0" anchor="ctr"/>
          <a:lstStyle/>
          <a:p>
            <a:pPr marL="0" indent="0" algn="ctr">
              <a:lnSpc>
                <a:spcPts val="1200"/>
              </a:lnSpc>
              <a:buNone/>
            </a:pPr>
            <a:r>
              <a:rPr lang="en-US" sz="1050" dirty="0">
                <a:solidFill>
                  <a:srgbClr val="C8D6E5"/>
                </a:solidFill>
                <a:latin typeface="Calibri" panose="020F0502020204030204" pitchFamily="34" charset="0"/>
                <a:ea typeface="Calibri" panose="020F0502020204030204" pitchFamily="34" charset="-122"/>
                <a:cs typeface="Calibri" panose="020F0502020204030204" pitchFamily="34" charset="-120"/>
              </a:rPr>
              <a:t>Original Records</a:t>
            </a:r>
            <a:endParaRPr lang="en-US" sz="1050" dirty="0"/>
          </a:p>
        </p:txBody>
      </p:sp>
      <p:sp>
        <p:nvSpPr>
          <p:cNvPr id="7" name="Shape 5"/>
          <p:cNvSpPr/>
          <p:nvPr/>
        </p:nvSpPr>
        <p:spPr>
          <a:xfrm>
            <a:off x="3379394" y="1737360"/>
            <a:ext cx="2602154" cy="1234440"/>
          </a:xfrm>
          <a:prstGeom prst="roundRect">
            <a:avLst>
              <a:gd name="adj" fmla="val 7407"/>
            </a:avLst>
          </a:prstGeom>
          <a:solidFill>
            <a:srgbClr val="132B49"/>
          </a:solidFill>
          <a:ln w="12700">
            <a:solidFill>
              <a:srgbClr val="234A70"/>
            </a:solidFill>
            <a:prstDash val="solid"/>
          </a:ln>
        </p:spPr>
      </p:sp>
      <p:sp>
        <p:nvSpPr>
          <p:cNvPr id="8" name="Text 6"/>
          <p:cNvSpPr/>
          <p:nvPr/>
        </p:nvSpPr>
        <p:spPr>
          <a:xfrm>
            <a:off x="3470834" y="1874520"/>
            <a:ext cx="2419274" cy="566928"/>
          </a:xfrm>
          <a:prstGeom prst="rect">
            <a:avLst/>
          </a:prstGeom>
          <a:noFill/>
        </p:spPr>
        <p:txBody>
          <a:bodyPr wrap="square" rtlCol="0" anchor="ctr"/>
          <a:lstStyle/>
          <a:p>
            <a:pPr marL="0" indent="0" algn="ctr">
              <a:buNone/>
            </a:pPr>
            <a:r>
              <a:rPr lang="en-US" sz="2200" b="1" dirty="0">
                <a:solidFill>
                  <a:srgbClr val="E0982E"/>
                </a:solidFill>
                <a:latin typeface="Cambria" panose="02040503050406030204" pitchFamily="34" charset="0"/>
                <a:ea typeface="Cambria" panose="02040503050406030204" pitchFamily="34" charset="-122"/>
                <a:cs typeface="Cambria" panose="02040503050406030204" pitchFamily="34" charset="-120"/>
              </a:rPr>
              <a:t>530,104</a:t>
            </a:r>
            <a:endParaRPr lang="en-US" sz="2200" dirty="0"/>
          </a:p>
        </p:txBody>
      </p:sp>
      <p:sp>
        <p:nvSpPr>
          <p:cNvPr id="9" name="Text 7"/>
          <p:cNvSpPr/>
          <p:nvPr/>
        </p:nvSpPr>
        <p:spPr>
          <a:xfrm>
            <a:off x="3470834" y="2487168"/>
            <a:ext cx="2419274" cy="411480"/>
          </a:xfrm>
          <a:prstGeom prst="rect">
            <a:avLst/>
          </a:prstGeom>
          <a:noFill/>
        </p:spPr>
        <p:txBody>
          <a:bodyPr wrap="square" rtlCol="0" anchor="ctr"/>
          <a:lstStyle/>
          <a:p>
            <a:pPr marL="0" indent="0" algn="ctr">
              <a:lnSpc>
                <a:spcPts val="1200"/>
              </a:lnSpc>
              <a:buNone/>
            </a:pPr>
            <a:r>
              <a:rPr lang="en-US" sz="1050" dirty="0">
                <a:solidFill>
                  <a:srgbClr val="C8D6E5"/>
                </a:solidFill>
                <a:latin typeface="Calibri" panose="020F0502020204030204" pitchFamily="34" charset="0"/>
                <a:ea typeface="Calibri" panose="020F0502020204030204" pitchFamily="34" charset="-122"/>
                <a:cs typeface="Calibri" panose="020F0502020204030204" pitchFamily="34" charset="-120"/>
              </a:rPr>
              <a:t>Cleaned Transactions</a:t>
            </a:r>
            <a:endParaRPr lang="en-US" sz="1050" dirty="0"/>
          </a:p>
        </p:txBody>
      </p:sp>
      <p:sp>
        <p:nvSpPr>
          <p:cNvPr id="10" name="Shape 8"/>
          <p:cNvSpPr/>
          <p:nvPr/>
        </p:nvSpPr>
        <p:spPr>
          <a:xfrm>
            <a:off x="6210148" y="1737360"/>
            <a:ext cx="2602154" cy="1234440"/>
          </a:xfrm>
          <a:prstGeom prst="roundRect">
            <a:avLst>
              <a:gd name="adj" fmla="val 7407"/>
            </a:avLst>
          </a:prstGeom>
          <a:solidFill>
            <a:srgbClr val="132B49"/>
          </a:solidFill>
          <a:ln w="12700">
            <a:solidFill>
              <a:srgbClr val="234A70"/>
            </a:solidFill>
            <a:prstDash val="solid"/>
          </a:ln>
        </p:spPr>
      </p:sp>
      <p:sp>
        <p:nvSpPr>
          <p:cNvPr id="11" name="Text 9"/>
          <p:cNvSpPr/>
          <p:nvPr/>
        </p:nvSpPr>
        <p:spPr>
          <a:xfrm>
            <a:off x="6301588" y="1874520"/>
            <a:ext cx="2419274" cy="566928"/>
          </a:xfrm>
          <a:prstGeom prst="rect">
            <a:avLst/>
          </a:prstGeom>
          <a:noFill/>
        </p:spPr>
        <p:txBody>
          <a:bodyPr wrap="square" rtlCol="0" anchor="ctr"/>
          <a:lstStyle/>
          <a:p>
            <a:pPr marL="0" indent="0" algn="ctr">
              <a:buNone/>
            </a:pPr>
            <a:r>
              <a:rPr lang="en-US" sz="2200" b="1" dirty="0">
                <a:solidFill>
                  <a:srgbClr val="E0982E"/>
                </a:solidFill>
                <a:latin typeface="Cambria" panose="02040503050406030204" pitchFamily="34" charset="0"/>
                <a:ea typeface="Cambria" panose="02040503050406030204" pitchFamily="34" charset="-122"/>
                <a:cs typeface="Cambria" panose="02040503050406030204" pitchFamily="34" charset="-120"/>
              </a:rPr>
              <a:t>275,668</a:t>
            </a:r>
            <a:endParaRPr lang="en-US" sz="2200" dirty="0"/>
          </a:p>
        </p:txBody>
      </p:sp>
      <p:sp>
        <p:nvSpPr>
          <p:cNvPr id="12" name="Text 10"/>
          <p:cNvSpPr/>
          <p:nvPr/>
        </p:nvSpPr>
        <p:spPr>
          <a:xfrm>
            <a:off x="6301588" y="2487168"/>
            <a:ext cx="2419274" cy="411480"/>
          </a:xfrm>
          <a:prstGeom prst="rect">
            <a:avLst/>
          </a:prstGeom>
          <a:noFill/>
        </p:spPr>
        <p:txBody>
          <a:bodyPr wrap="square" rtlCol="0" anchor="ctr"/>
          <a:lstStyle/>
          <a:p>
            <a:pPr marL="0" indent="0" algn="ctr">
              <a:lnSpc>
                <a:spcPts val="1200"/>
              </a:lnSpc>
              <a:buNone/>
            </a:pPr>
            <a:r>
              <a:rPr lang="en-US" sz="1050" dirty="0">
                <a:solidFill>
                  <a:srgbClr val="C8D6E5"/>
                </a:solidFill>
                <a:latin typeface="Calibri" panose="020F0502020204030204" pitchFamily="34" charset="0"/>
                <a:ea typeface="Calibri" panose="020F0502020204030204" pitchFamily="34" charset="-122"/>
                <a:cs typeface="Calibri" panose="020F0502020204030204" pitchFamily="34" charset="-120"/>
              </a:rPr>
              <a:t>Daily Demand Records</a:t>
            </a:r>
            <a:endParaRPr lang="en-US" sz="1050" dirty="0"/>
          </a:p>
        </p:txBody>
      </p:sp>
      <p:sp>
        <p:nvSpPr>
          <p:cNvPr id="13" name="Shape 11"/>
          <p:cNvSpPr/>
          <p:nvPr/>
        </p:nvSpPr>
        <p:spPr>
          <a:xfrm>
            <a:off x="9040901" y="1737360"/>
            <a:ext cx="2602154" cy="1234440"/>
          </a:xfrm>
          <a:prstGeom prst="roundRect">
            <a:avLst>
              <a:gd name="adj" fmla="val 7407"/>
            </a:avLst>
          </a:prstGeom>
          <a:solidFill>
            <a:srgbClr val="132B49"/>
          </a:solidFill>
          <a:ln w="12700">
            <a:solidFill>
              <a:srgbClr val="234A70"/>
            </a:solidFill>
            <a:prstDash val="solid"/>
          </a:ln>
        </p:spPr>
      </p:sp>
      <p:sp>
        <p:nvSpPr>
          <p:cNvPr id="14" name="Text 12"/>
          <p:cNvSpPr/>
          <p:nvPr/>
        </p:nvSpPr>
        <p:spPr>
          <a:xfrm>
            <a:off x="9132341" y="1874520"/>
            <a:ext cx="2419274" cy="566928"/>
          </a:xfrm>
          <a:prstGeom prst="rect">
            <a:avLst/>
          </a:prstGeom>
          <a:noFill/>
        </p:spPr>
        <p:txBody>
          <a:bodyPr wrap="square" rtlCol="0" anchor="ctr"/>
          <a:lstStyle/>
          <a:p>
            <a:pPr marL="0" indent="0" algn="ctr">
              <a:buNone/>
            </a:pPr>
            <a:r>
              <a:rPr lang="en-US" sz="2200" b="1" dirty="0">
                <a:solidFill>
                  <a:srgbClr val="E0982E"/>
                </a:solidFill>
                <a:latin typeface="Cambria" panose="02040503050406030204" pitchFamily="34" charset="0"/>
                <a:ea typeface="Cambria" panose="02040503050406030204" pitchFamily="34" charset="-122"/>
                <a:cs typeface="Cambria" panose="02040503050406030204" pitchFamily="34" charset="-120"/>
              </a:rPr>
              <a:t>271,642</a:t>
            </a:r>
            <a:endParaRPr lang="en-US" sz="2200" dirty="0"/>
          </a:p>
        </p:txBody>
      </p:sp>
      <p:sp>
        <p:nvSpPr>
          <p:cNvPr id="15" name="Text 13"/>
          <p:cNvSpPr/>
          <p:nvPr/>
        </p:nvSpPr>
        <p:spPr>
          <a:xfrm>
            <a:off x="9132341" y="2487168"/>
            <a:ext cx="2419274" cy="411480"/>
          </a:xfrm>
          <a:prstGeom prst="rect">
            <a:avLst/>
          </a:prstGeom>
          <a:noFill/>
        </p:spPr>
        <p:txBody>
          <a:bodyPr wrap="square" rtlCol="0" anchor="ctr"/>
          <a:lstStyle/>
          <a:p>
            <a:pPr marL="0" indent="0" algn="ctr">
              <a:lnSpc>
                <a:spcPts val="1200"/>
              </a:lnSpc>
              <a:buNone/>
            </a:pPr>
            <a:r>
              <a:rPr lang="en-US" sz="1050" dirty="0">
                <a:solidFill>
                  <a:srgbClr val="C8D6E5"/>
                </a:solidFill>
                <a:latin typeface="Calibri" panose="020F0502020204030204" pitchFamily="34" charset="0"/>
                <a:ea typeface="Calibri" panose="020F0502020204030204" pitchFamily="34" charset="-122"/>
                <a:cs typeface="Calibri" panose="020F0502020204030204" pitchFamily="34" charset="-120"/>
              </a:rPr>
              <a:t>Feature-Engineered Records</a:t>
            </a:r>
            <a:endParaRPr lang="en-US" sz="1050" dirty="0"/>
          </a:p>
        </p:txBody>
      </p:sp>
      <p:sp>
        <p:nvSpPr>
          <p:cNvPr id="16" name="Shape 14"/>
          <p:cNvSpPr/>
          <p:nvPr/>
        </p:nvSpPr>
        <p:spPr>
          <a:xfrm>
            <a:off x="548640" y="3200400"/>
            <a:ext cx="2602154" cy="1234440"/>
          </a:xfrm>
          <a:prstGeom prst="roundRect">
            <a:avLst>
              <a:gd name="adj" fmla="val 7407"/>
            </a:avLst>
          </a:prstGeom>
          <a:solidFill>
            <a:srgbClr val="132B49"/>
          </a:solidFill>
          <a:ln w="12700">
            <a:solidFill>
              <a:srgbClr val="234A70"/>
            </a:solidFill>
            <a:prstDash val="solid"/>
          </a:ln>
        </p:spPr>
      </p:sp>
      <p:sp>
        <p:nvSpPr>
          <p:cNvPr id="17" name="Text 15"/>
          <p:cNvSpPr/>
          <p:nvPr/>
        </p:nvSpPr>
        <p:spPr>
          <a:xfrm>
            <a:off x="640080" y="3337560"/>
            <a:ext cx="2419274" cy="566928"/>
          </a:xfrm>
          <a:prstGeom prst="rect">
            <a:avLst/>
          </a:prstGeom>
          <a:noFill/>
        </p:spPr>
        <p:txBody>
          <a:bodyPr wrap="square" rtlCol="0" anchor="ctr"/>
          <a:lstStyle/>
          <a:p>
            <a:pPr marL="0" indent="0" algn="ctr">
              <a:buNone/>
            </a:pPr>
            <a:r>
              <a:rPr lang="en-US" sz="2200" b="1" dirty="0">
                <a:solidFill>
                  <a:srgbClr val="E0982E"/>
                </a:solidFill>
                <a:latin typeface="Cambria" panose="02040503050406030204" pitchFamily="34" charset="0"/>
                <a:ea typeface="Cambria" panose="02040503050406030204" pitchFamily="34" charset="-122"/>
                <a:cs typeface="Cambria" panose="02040503050406030204" pitchFamily="34" charset="-120"/>
              </a:rPr>
              <a:t>100,000</a:t>
            </a:r>
            <a:endParaRPr lang="en-US" sz="2200" dirty="0"/>
          </a:p>
        </p:txBody>
      </p:sp>
      <p:sp>
        <p:nvSpPr>
          <p:cNvPr id="18" name="Text 16"/>
          <p:cNvSpPr/>
          <p:nvPr/>
        </p:nvSpPr>
        <p:spPr>
          <a:xfrm>
            <a:off x="640080" y="3950208"/>
            <a:ext cx="2419274" cy="411480"/>
          </a:xfrm>
          <a:prstGeom prst="rect">
            <a:avLst/>
          </a:prstGeom>
          <a:noFill/>
        </p:spPr>
        <p:txBody>
          <a:bodyPr wrap="square" rtlCol="0" anchor="ctr"/>
          <a:lstStyle/>
          <a:p>
            <a:pPr marL="0" indent="0" algn="ctr">
              <a:lnSpc>
                <a:spcPts val="1200"/>
              </a:lnSpc>
              <a:buNone/>
            </a:pPr>
            <a:r>
              <a:rPr lang="en-US" sz="1050" dirty="0">
                <a:solidFill>
                  <a:srgbClr val="C8D6E5"/>
                </a:solidFill>
                <a:latin typeface="Calibri" panose="020F0502020204030204" pitchFamily="34" charset="0"/>
                <a:ea typeface="Calibri" panose="020F0502020204030204" pitchFamily="34" charset="-122"/>
                <a:cs typeface="Calibri" panose="020F0502020204030204" pitchFamily="34" charset="-120"/>
              </a:rPr>
              <a:t>Records Used for Model</a:t>
            </a:r>
            <a:endParaRPr lang="en-US" sz="1050" dirty="0"/>
          </a:p>
        </p:txBody>
      </p:sp>
      <p:sp>
        <p:nvSpPr>
          <p:cNvPr id="19" name="Shape 17"/>
          <p:cNvSpPr/>
          <p:nvPr/>
        </p:nvSpPr>
        <p:spPr>
          <a:xfrm>
            <a:off x="3379394" y="3200400"/>
            <a:ext cx="2602154" cy="1234440"/>
          </a:xfrm>
          <a:prstGeom prst="roundRect">
            <a:avLst>
              <a:gd name="adj" fmla="val 7407"/>
            </a:avLst>
          </a:prstGeom>
          <a:solidFill>
            <a:srgbClr val="132B49"/>
          </a:solidFill>
          <a:ln w="12700">
            <a:solidFill>
              <a:srgbClr val="234A70"/>
            </a:solidFill>
            <a:prstDash val="solid"/>
          </a:ln>
        </p:spPr>
      </p:sp>
      <p:sp>
        <p:nvSpPr>
          <p:cNvPr id="20" name="Text 18"/>
          <p:cNvSpPr/>
          <p:nvPr/>
        </p:nvSpPr>
        <p:spPr>
          <a:xfrm>
            <a:off x="3470834" y="3337560"/>
            <a:ext cx="2419274" cy="566928"/>
          </a:xfrm>
          <a:prstGeom prst="rect">
            <a:avLst/>
          </a:prstGeom>
          <a:noFill/>
        </p:spPr>
        <p:txBody>
          <a:bodyPr wrap="square" rtlCol="0" anchor="ctr"/>
          <a:lstStyle/>
          <a:p>
            <a:pPr marL="0" indent="0" algn="ctr">
              <a:buNone/>
            </a:pPr>
            <a:r>
              <a:rPr lang="en-US" sz="2200" b="1" dirty="0">
                <a:solidFill>
                  <a:srgbClr val="E0982E"/>
                </a:solidFill>
                <a:latin typeface="Cambria" panose="02040503050406030204" pitchFamily="34" charset="0"/>
                <a:ea typeface="Cambria" panose="02040503050406030204" pitchFamily="34" charset="-122"/>
                <a:cs typeface="Cambria" panose="02040503050406030204" pitchFamily="34" charset="-120"/>
              </a:rPr>
              <a:t>20,000</a:t>
            </a:r>
            <a:endParaRPr lang="en-US" sz="2200" dirty="0"/>
          </a:p>
        </p:txBody>
      </p:sp>
      <p:sp>
        <p:nvSpPr>
          <p:cNvPr id="21" name="Text 19"/>
          <p:cNvSpPr/>
          <p:nvPr/>
        </p:nvSpPr>
        <p:spPr>
          <a:xfrm>
            <a:off x="3470834" y="3950208"/>
            <a:ext cx="2419274" cy="411480"/>
          </a:xfrm>
          <a:prstGeom prst="rect">
            <a:avLst/>
          </a:prstGeom>
          <a:noFill/>
        </p:spPr>
        <p:txBody>
          <a:bodyPr wrap="square" rtlCol="0" anchor="ctr"/>
          <a:lstStyle/>
          <a:p>
            <a:pPr marL="0" indent="0" algn="ctr">
              <a:lnSpc>
                <a:spcPts val="1200"/>
              </a:lnSpc>
              <a:buNone/>
            </a:pPr>
            <a:r>
              <a:rPr lang="en-US" sz="1050" dirty="0">
                <a:solidFill>
                  <a:srgbClr val="C8D6E5"/>
                </a:solidFill>
                <a:latin typeface="Calibri" panose="020F0502020204030204" pitchFamily="34" charset="0"/>
                <a:ea typeface="Calibri" panose="020F0502020204030204" pitchFamily="34" charset="-122"/>
                <a:cs typeface="Calibri" panose="020F0502020204030204" pitchFamily="34" charset="-120"/>
              </a:rPr>
              <a:t>Test Records</a:t>
            </a:r>
            <a:endParaRPr lang="en-US" sz="1050" dirty="0"/>
          </a:p>
        </p:txBody>
      </p:sp>
      <p:sp>
        <p:nvSpPr>
          <p:cNvPr id="22" name="Shape 20"/>
          <p:cNvSpPr/>
          <p:nvPr/>
        </p:nvSpPr>
        <p:spPr>
          <a:xfrm>
            <a:off x="6210148" y="3200400"/>
            <a:ext cx="2602154" cy="1234440"/>
          </a:xfrm>
          <a:prstGeom prst="roundRect">
            <a:avLst>
              <a:gd name="adj" fmla="val 7407"/>
            </a:avLst>
          </a:prstGeom>
          <a:solidFill>
            <a:srgbClr val="132B49"/>
          </a:solidFill>
          <a:ln w="12700">
            <a:solidFill>
              <a:srgbClr val="234A70"/>
            </a:solidFill>
            <a:prstDash val="solid"/>
          </a:ln>
        </p:spPr>
      </p:sp>
      <p:sp>
        <p:nvSpPr>
          <p:cNvPr id="23" name="Text 21"/>
          <p:cNvSpPr/>
          <p:nvPr/>
        </p:nvSpPr>
        <p:spPr>
          <a:xfrm>
            <a:off x="6301588" y="3337560"/>
            <a:ext cx="2419274" cy="566928"/>
          </a:xfrm>
          <a:prstGeom prst="rect">
            <a:avLst/>
          </a:prstGeom>
          <a:noFill/>
        </p:spPr>
        <p:txBody>
          <a:bodyPr wrap="square" rtlCol="0" anchor="ctr"/>
          <a:lstStyle/>
          <a:p>
            <a:pPr marL="0" indent="0" algn="ctr">
              <a:buNone/>
            </a:pPr>
            <a:r>
              <a:rPr lang="en-US" sz="2200" b="1" dirty="0">
                <a:solidFill>
                  <a:srgbClr val="E0982E"/>
                </a:solidFill>
                <a:latin typeface="Cambria" panose="02040503050406030204" pitchFamily="34" charset="0"/>
                <a:ea typeface="Cambria" panose="02040503050406030204" pitchFamily="34" charset="-122"/>
                <a:cs typeface="Cambria" panose="02040503050406030204" pitchFamily="34" charset="-120"/>
              </a:rPr>
              <a:t>17.27</a:t>
            </a:r>
            <a:endParaRPr lang="en-US" sz="2200" dirty="0"/>
          </a:p>
        </p:txBody>
      </p:sp>
      <p:sp>
        <p:nvSpPr>
          <p:cNvPr id="24" name="Text 22"/>
          <p:cNvSpPr/>
          <p:nvPr/>
        </p:nvSpPr>
        <p:spPr>
          <a:xfrm>
            <a:off x="6301588" y="3950208"/>
            <a:ext cx="2419274" cy="411480"/>
          </a:xfrm>
          <a:prstGeom prst="rect">
            <a:avLst/>
          </a:prstGeom>
          <a:noFill/>
        </p:spPr>
        <p:txBody>
          <a:bodyPr wrap="square" rtlCol="0" anchor="ctr"/>
          <a:lstStyle/>
          <a:p>
            <a:pPr marL="0" indent="0" algn="ctr">
              <a:lnSpc>
                <a:spcPts val="1200"/>
              </a:lnSpc>
              <a:buNone/>
            </a:pPr>
            <a:r>
              <a:rPr lang="en-US" sz="1050" dirty="0">
                <a:solidFill>
                  <a:srgbClr val="C8D6E5"/>
                </a:solidFill>
                <a:latin typeface="Calibri" panose="020F0502020204030204" pitchFamily="34" charset="0"/>
                <a:ea typeface="Calibri" panose="020F0502020204030204" pitchFamily="34" charset="-122"/>
                <a:cs typeface="Calibri" panose="020F0502020204030204" pitchFamily="34" charset="-120"/>
              </a:rPr>
              <a:t>MAE (units)</a:t>
            </a:r>
            <a:endParaRPr lang="en-US" sz="1050" dirty="0"/>
          </a:p>
        </p:txBody>
      </p:sp>
      <p:sp>
        <p:nvSpPr>
          <p:cNvPr id="25" name="Shape 23"/>
          <p:cNvSpPr/>
          <p:nvPr/>
        </p:nvSpPr>
        <p:spPr>
          <a:xfrm>
            <a:off x="9040901" y="3200400"/>
            <a:ext cx="2602154" cy="1234440"/>
          </a:xfrm>
          <a:prstGeom prst="roundRect">
            <a:avLst>
              <a:gd name="adj" fmla="val 7407"/>
            </a:avLst>
          </a:prstGeom>
          <a:solidFill>
            <a:srgbClr val="132B49"/>
          </a:solidFill>
          <a:ln w="12700">
            <a:solidFill>
              <a:srgbClr val="234A70"/>
            </a:solidFill>
            <a:prstDash val="solid"/>
          </a:ln>
        </p:spPr>
      </p:sp>
      <p:sp>
        <p:nvSpPr>
          <p:cNvPr id="26" name="Text 24"/>
          <p:cNvSpPr/>
          <p:nvPr/>
        </p:nvSpPr>
        <p:spPr>
          <a:xfrm>
            <a:off x="9132341" y="3337560"/>
            <a:ext cx="2419274" cy="566928"/>
          </a:xfrm>
          <a:prstGeom prst="rect">
            <a:avLst/>
          </a:prstGeom>
          <a:noFill/>
        </p:spPr>
        <p:txBody>
          <a:bodyPr wrap="square" rtlCol="0" anchor="ctr"/>
          <a:lstStyle/>
          <a:p>
            <a:pPr marL="0" indent="0" algn="ctr">
              <a:buNone/>
            </a:pPr>
            <a:r>
              <a:rPr lang="en-US" sz="2200" b="1" dirty="0">
                <a:solidFill>
                  <a:srgbClr val="E0982E"/>
                </a:solidFill>
                <a:latin typeface="Cambria" panose="02040503050406030204" pitchFamily="34" charset="0"/>
                <a:ea typeface="Cambria" panose="02040503050406030204" pitchFamily="34" charset="-122"/>
                <a:cs typeface="Cambria" panose="02040503050406030204" pitchFamily="34" charset="-120"/>
              </a:rPr>
              <a:t>55.47</a:t>
            </a:r>
            <a:endParaRPr lang="en-US" sz="2200" dirty="0"/>
          </a:p>
        </p:txBody>
      </p:sp>
      <p:sp>
        <p:nvSpPr>
          <p:cNvPr id="27" name="Text 25"/>
          <p:cNvSpPr/>
          <p:nvPr/>
        </p:nvSpPr>
        <p:spPr>
          <a:xfrm>
            <a:off x="9132341" y="3950208"/>
            <a:ext cx="2419274" cy="411480"/>
          </a:xfrm>
          <a:prstGeom prst="rect">
            <a:avLst/>
          </a:prstGeom>
          <a:noFill/>
        </p:spPr>
        <p:txBody>
          <a:bodyPr wrap="square" rtlCol="0" anchor="ctr"/>
          <a:lstStyle/>
          <a:p>
            <a:pPr marL="0" indent="0" algn="ctr">
              <a:lnSpc>
                <a:spcPts val="1200"/>
              </a:lnSpc>
              <a:buNone/>
            </a:pPr>
            <a:r>
              <a:rPr lang="en-US" sz="1050" dirty="0">
                <a:solidFill>
                  <a:srgbClr val="C8D6E5"/>
                </a:solidFill>
                <a:latin typeface="Calibri" panose="020F0502020204030204" pitchFamily="34" charset="0"/>
                <a:ea typeface="Calibri" panose="020F0502020204030204" pitchFamily="34" charset="-122"/>
                <a:cs typeface="Calibri" panose="020F0502020204030204" pitchFamily="34" charset="-120"/>
              </a:rPr>
              <a:t>RMSE (units)</a:t>
            </a:r>
            <a:endParaRPr lang="en-US" sz="1050" dirty="0"/>
          </a:p>
        </p:txBody>
      </p:sp>
      <p:sp>
        <p:nvSpPr>
          <p:cNvPr id="28" name="Shape 26"/>
          <p:cNvSpPr/>
          <p:nvPr/>
        </p:nvSpPr>
        <p:spPr>
          <a:xfrm>
            <a:off x="548640" y="4709160"/>
            <a:ext cx="11094415" cy="1234440"/>
          </a:xfrm>
          <a:prstGeom prst="roundRect">
            <a:avLst>
              <a:gd name="adj" fmla="val 7407"/>
            </a:avLst>
          </a:prstGeom>
          <a:solidFill>
            <a:srgbClr val="1F7A8C"/>
          </a:solidFill>
        </p:spPr>
      </p:sp>
      <p:sp>
        <p:nvSpPr>
          <p:cNvPr id="29" name="Text 27"/>
          <p:cNvSpPr/>
          <p:nvPr/>
        </p:nvSpPr>
        <p:spPr>
          <a:xfrm>
            <a:off x="1715986" y="4864608"/>
            <a:ext cx="438912" cy="438912"/>
          </a:xfrm>
          <a:prstGeom prst="ellipse">
            <a:avLst/>
          </a:prstGeom>
          <a:solidFill>
            <a:srgbClr val="FFFFFF"/>
          </a:solidFill>
        </p:spPr>
        <p:txBody>
          <a:bodyPr wrap="square" lIns="0" tIns="0" rIns="0" bIns="0" rtlCol="0" anchor="ctr"/>
          <a:lstStyle/>
          <a:p>
            <a:pPr marL="0" indent="0" algn="ctr">
              <a:buNone/>
            </a:pPr>
            <a:r>
              <a:rPr lang="en-US" sz="1600" b="1" dirty="0">
                <a:solidFill>
                  <a:srgbClr val="1F7A8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30" name="Text 28"/>
          <p:cNvSpPr/>
          <p:nvPr/>
        </p:nvSpPr>
        <p:spPr>
          <a:xfrm>
            <a:off x="640080" y="5349240"/>
            <a:ext cx="2590724" cy="502920"/>
          </a:xfrm>
          <a:prstGeom prst="rect">
            <a:avLst/>
          </a:prstGeom>
          <a:noFill/>
        </p:spPr>
        <p:txBody>
          <a:bodyPr wrap="square" rtlCol="0" anchor="ctr"/>
          <a:lstStyle/>
          <a:p>
            <a:pPr marL="0" indent="0" algn="ctr">
              <a:lnSpc>
                <a:spcPts val="1300"/>
              </a:lnSpc>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Prediction script works</a:t>
            </a:r>
            <a:endParaRPr lang="en-US" sz="1050" dirty="0"/>
          </a:p>
        </p:txBody>
      </p:sp>
      <p:sp>
        <p:nvSpPr>
          <p:cNvPr id="31" name="Text 29"/>
          <p:cNvSpPr/>
          <p:nvPr/>
        </p:nvSpPr>
        <p:spPr>
          <a:xfrm>
            <a:off x="4489590" y="4864608"/>
            <a:ext cx="438912" cy="438912"/>
          </a:xfrm>
          <a:prstGeom prst="ellipse">
            <a:avLst/>
          </a:prstGeom>
          <a:solidFill>
            <a:srgbClr val="FFFFFF"/>
          </a:solidFill>
        </p:spPr>
        <p:txBody>
          <a:bodyPr wrap="square" lIns="0" tIns="0" rIns="0" bIns="0" rtlCol="0" anchor="ctr"/>
          <a:lstStyle/>
          <a:p>
            <a:pPr marL="0" indent="0" algn="ctr">
              <a:buNone/>
            </a:pPr>
            <a:r>
              <a:rPr lang="en-US" sz="1600" b="1" dirty="0">
                <a:solidFill>
                  <a:srgbClr val="1F7A8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32" name="Text 30"/>
          <p:cNvSpPr/>
          <p:nvPr/>
        </p:nvSpPr>
        <p:spPr>
          <a:xfrm>
            <a:off x="3413684" y="5349240"/>
            <a:ext cx="2590724" cy="502920"/>
          </a:xfrm>
          <a:prstGeom prst="rect">
            <a:avLst/>
          </a:prstGeom>
          <a:noFill/>
        </p:spPr>
        <p:txBody>
          <a:bodyPr wrap="square" rtlCol="0" anchor="ctr"/>
          <a:lstStyle/>
          <a:p>
            <a:pPr marL="0" indent="0" algn="ctr">
              <a:lnSpc>
                <a:spcPts val="1300"/>
              </a:lnSpc>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Evaluation script works</a:t>
            </a:r>
            <a:endParaRPr lang="en-US" sz="1050" dirty="0"/>
          </a:p>
        </p:txBody>
      </p:sp>
      <p:sp>
        <p:nvSpPr>
          <p:cNvPr id="33" name="Text 31"/>
          <p:cNvSpPr/>
          <p:nvPr/>
        </p:nvSpPr>
        <p:spPr>
          <a:xfrm>
            <a:off x="7263194" y="4864608"/>
            <a:ext cx="438912" cy="438912"/>
          </a:xfrm>
          <a:prstGeom prst="ellipse">
            <a:avLst/>
          </a:prstGeom>
          <a:solidFill>
            <a:srgbClr val="FFFFFF"/>
          </a:solidFill>
        </p:spPr>
        <p:txBody>
          <a:bodyPr wrap="square" lIns="0" tIns="0" rIns="0" bIns="0" rtlCol="0" anchor="ctr"/>
          <a:lstStyle/>
          <a:p>
            <a:pPr marL="0" indent="0" algn="ctr">
              <a:buNone/>
            </a:pPr>
            <a:r>
              <a:rPr lang="en-US" sz="1600" b="1" dirty="0">
                <a:solidFill>
                  <a:srgbClr val="1F7A8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34" name="Text 32"/>
          <p:cNvSpPr/>
          <p:nvPr/>
        </p:nvSpPr>
        <p:spPr>
          <a:xfrm>
            <a:off x="6187288" y="5349240"/>
            <a:ext cx="2590724" cy="502920"/>
          </a:xfrm>
          <a:prstGeom prst="rect">
            <a:avLst/>
          </a:prstGeom>
          <a:noFill/>
        </p:spPr>
        <p:txBody>
          <a:bodyPr wrap="square" rtlCol="0" anchor="ctr"/>
          <a:lstStyle/>
          <a:p>
            <a:pPr marL="0" indent="0" algn="ctr">
              <a:lnSpc>
                <a:spcPts val="1300"/>
              </a:lnSpc>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Visualization generated</a:t>
            </a:r>
            <a:endParaRPr lang="en-US" sz="1050" dirty="0"/>
          </a:p>
        </p:txBody>
      </p:sp>
      <p:sp>
        <p:nvSpPr>
          <p:cNvPr id="35" name="Text 33"/>
          <p:cNvSpPr/>
          <p:nvPr/>
        </p:nvSpPr>
        <p:spPr>
          <a:xfrm>
            <a:off x="10036797" y="4864608"/>
            <a:ext cx="438912" cy="438912"/>
          </a:xfrm>
          <a:prstGeom prst="ellipse">
            <a:avLst/>
          </a:prstGeom>
          <a:solidFill>
            <a:srgbClr val="FFFFFF"/>
          </a:solidFill>
        </p:spPr>
        <p:txBody>
          <a:bodyPr wrap="square" lIns="0" tIns="0" rIns="0" bIns="0" rtlCol="0" anchor="ctr"/>
          <a:lstStyle/>
          <a:p>
            <a:pPr marL="0" indent="0" algn="ctr">
              <a:buNone/>
            </a:pPr>
            <a:r>
              <a:rPr lang="en-US" sz="1600" b="1" dirty="0">
                <a:solidFill>
                  <a:srgbClr val="1F7A8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36" name="Text 34"/>
          <p:cNvSpPr/>
          <p:nvPr/>
        </p:nvSpPr>
        <p:spPr>
          <a:xfrm>
            <a:off x="8960891" y="5349240"/>
            <a:ext cx="2590724" cy="502920"/>
          </a:xfrm>
          <a:prstGeom prst="rect">
            <a:avLst/>
          </a:prstGeom>
          <a:noFill/>
        </p:spPr>
        <p:txBody>
          <a:bodyPr wrap="square" rtlCol="0" anchor="ctr"/>
          <a:lstStyle/>
          <a:p>
            <a:pPr marL="0" indent="0" algn="ctr">
              <a:lnSpc>
                <a:spcPts val="1300"/>
              </a:lnSpc>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Streamlit application works</a:t>
            </a:r>
            <a:endParaRPr lang="en-US" sz="1050" dirty="0"/>
          </a:p>
        </p:txBody>
      </p:sp>
      <p:sp>
        <p:nvSpPr>
          <p:cNvPr id="37" name="Text 35"/>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38" name="Text 36"/>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ADVANTAGES &amp; LIMITATIONS</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An Honest Assessment</a:t>
            </a:r>
            <a:endParaRPr lang="en-US" sz="3000" dirty="0"/>
          </a:p>
        </p:txBody>
      </p:sp>
      <p:sp>
        <p:nvSpPr>
          <p:cNvPr id="4" name="Shape 2"/>
          <p:cNvSpPr/>
          <p:nvPr/>
        </p:nvSpPr>
        <p:spPr>
          <a:xfrm>
            <a:off x="548640" y="1645920"/>
            <a:ext cx="5440680" cy="4251960"/>
          </a:xfrm>
          <a:prstGeom prst="roundRect">
            <a:avLst>
              <a:gd name="adj" fmla="val 1935"/>
            </a:avLst>
          </a:prstGeom>
          <a:solidFill>
            <a:srgbClr val="E5F2EC"/>
          </a:solidFill>
        </p:spPr>
      </p:sp>
      <p:sp>
        <p:nvSpPr>
          <p:cNvPr id="5" name="Text 3"/>
          <p:cNvSpPr/>
          <p:nvPr/>
        </p:nvSpPr>
        <p:spPr>
          <a:xfrm>
            <a:off x="804672" y="1828800"/>
            <a:ext cx="4983480" cy="365760"/>
          </a:xfrm>
          <a:prstGeom prst="rect">
            <a:avLst/>
          </a:prstGeom>
          <a:noFill/>
        </p:spPr>
        <p:txBody>
          <a:bodyPr wrap="square" rtlCol="0" anchor="ctr"/>
          <a:lstStyle/>
          <a:p>
            <a:pPr marL="0" indent="0" algn="l">
              <a:buNone/>
            </a:pPr>
            <a:r>
              <a:rPr lang="en-US" sz="1700" b="1" dirty="0">
                <a:solidFill>
                  <a:srgbClr val="2E7D5B"/>
                </a:solidFill>
                <a:latin typeface="Cambria" panose="02040503050406030204" pitchFamily="34" charset="0"/>
                <a:ea typeface="Cambria" panose="02040503050406030204" pitchFamily="34" charset="-122"/>
                <a:cs typeface="Cambria" panose="02040503050406030204" pitchFamily="34" charset="-120"/>
              </a:rPr>
              <a:t>Advantages</a:t>
            </a:r>
            <a:endParaRPr lang="en-US" sz="1700" dirty="0"/>
          </a:p>
        </p:txBody>
      </p:sp>
      <p:sp>
        <p:nvSpPr>
          <p:cNvPr id="6" name="Text 4"/>
          <p:cNvSpPr/>
          <p:nvPr/>
        </p:nvSpPr>
        <p:spPr>
          <a:xfrm>
            <a:off x="804672" y="2267712"/>
            <a:ext cx="4937760" cy="3429000"/>
          </a:xfrm>
          <a:prstGeom prst="rect">
            <a:avLst/>
          </a:prstGeom>
          <a:noFill/>
        </p:spPr>
        <p:txBody>
          <a:bodyPr wrap="square" rtlCol="0" anchor="t"/>
          <a:lstStyle/>
          <a:p>
            <a:pPr marL="0" indent="0" algn="l">
              <a:lnSpc>
                <a:spcPts val="1600"/>
              </a:lnSpc>
              <a:spcAft>
                <a:spcPts val="900"/>
              </a:spcAft>
              <a:buNone/>
            </a:pPr>
            <a:r>
              <a:rPr lang="en-US" sz="1250" dirty="0">
                <a:solidFill>
                  <a:srgbClr val="1A2432"/>
                </a:solidFill>
                <a:latin typeface="Calibri" panose="020F0502020204030204" pitchFamily="34" charset="0"/>
                <a:ea typeface="Calibri" panose="020F0502020204030204" pitchFamily="34" charset="-122"/>
                <a:cs typeface="Calibri" panose="020F0502020204030204" pitchFamily="34" charset="-120"/>
              </a:rPr>
              <a:t>✓   Uses real retail transaction data</a:t>
            </a:r>
            <a:endParaRPr lang="en-US" sz="1250" dirty="0"/>
          </a:p>
          <a:p>
            <a:pPr marL="0" indent="0" algn="l">
              <a:lnSpc>
                <a:spcPts val="1600"/>
              </a:lnSpc>
              <a:spcAft>
                <a:spcPts val="900"/>
              </a:spcAft>
              <a:buNone/>
            </a:pPr>
            <a:r>
              <a:rPr lang="en-US" sz="1250" dirty="0">
                <a:solidFill>
                  <a:srgbClr val="1A2432"/>
                </a:solidFill>
                <a:latin typeface="Calibri" panose="020F0502020204030204" pitchFamily="34" charset="0"/>
                <a:ea typeface="Calibri" panose="020F0502020204030204" pitchFamily="34" charset="-122"/>
                <a:cs typeface="Calibri" panose="020F0502020204030204" pitchFamily="34" charset="-120"/>
              </a:rPr>
              <a:t>✓   Automated preprocessing pipeline</a:t>
            </a:r>
            <a:endParaRPr lang="en-US" sz="1250" dirty="0"/>
          </a:p>
          <a:p>
            <a:pPr marL="0" indent="0" algn="l">
              <a:lnSpc>
                <a:spcPts val="1600"/>
              </a:lnSpc>
              <a:spcAft>
                <a:spcPts val="900"/>
              </a:spcAft>
              <a:buNone/>
            </a:pPr>
            <a:r>
              <a:rPr lang="en-US" sz="1250" dirty="0">
                <a:solidFill>
                  <a:srgbClr val="1A2432"/>
                </a:solidFill>
                <a:latin typeface="Calibri" panose="020F0502020204030204" pitchFamily="34" charset="0"/>
                <a:ea typeface="Calibri" panose="020F0502020204030204" pitchFamily="34" charset="-122"/>
                <a:cs typeface="Calibri" panose="020F0502020204030204" pitchFamily="34" charset="-120"/>
              </a:rPr>
              <a:t>✓   Machine learning based demand prediction</a:t>
            </a:r>
            <a:endParaRPr lang="en-US" sz="1250" dirty="0"/>
          </a:p>
          <a:p>
            <a:pPr marL="0" indent="0" algn="l">
              <a:lnSpc>
                <a:spcPts val="1600"/>
              </a:lnSpc>
              <a:spcAft>
                <a:spcPts val="900"/>
              </a:spcAft>
              <a:buNone/>
            </a:pPr>
            <a:r>
              <a:rPr lang="en-US" sz="1250" dirty="0">
                <a:solidFill>
                  <a:srgbClr val="1A2432"/>
                </a:solidFill>
                <a:latin typeface="Calibri" panose="020F0502020204030204" pitchFamily="34" charset="0"/>
                <a:ea typeface="Calibri" panose="020F0502020204030204" pitchFamily="34" charset="-122"/>
                <a:cs typeface="Calibri" panose="020F0502020204030204" pitchFamily="34" charset="-120"/>
              </a:rPr>
              <a:t>✓   Interactive product selection</a:t>
            </a:r>
            <a:endParaRPr lang="en-US" sz="1250" dirty="0"/>
          </a:p>
          <a:p>
            <a:pPr marL="0" indent="0" algn="l">
              <a:lnSpc>
                <a:spcPts val="1600"/>
              </a:lnSpc>
              <a:spcAft>
                <a:spcPts val="900"/>
              </a:spcAft>
              <a:buNone/>
            </a:pPr>
            <a:r>
              <a:rPr lang="en-US" sz="1250" dirty="0">
                <a:solidFill>
                  <a:srgbClr val="1A2432"/>
                </a:solidFill>
                <a:latin typeface="Calibri" panose="020F0502020204030204" pitchFamily="34" charset="0"/>
                <a:ea typeface="Calibri" panose="020F0502020204030204" pitchFamily="34" charset="-122"/>
                <a:cs typeface="Calibri" panose="020F0502020204030204" pitchFamily="34" charset="-120"/>
              </a:rPr>
              <a:t>✓   Visual demand trend charts</a:t>
            </a:r>
            <a:endParaRPr lang="en-US" sz="1250" dirty="0"/>
          </a:p>
          <a:p>
            <a:pPr marL="0" indent="0" algn="l">
              <a:lnSpc>
                <a:spcPts val="1600"/>
              </a:lnSpc>
              <a:spcAft>
                <a:spcPts val="900"/>
              </a:spcAft>
              <a:buNone/>
            </a:pPr>
            <a:r>
              <a:rPr lang="en-US" sz="1250" dirty="0">
                <a:solidFill>
                  <a:srgbClr val="1A2432"/>
                </a:solidFill>
                <a:latin typeface="Calibri" panose="020F0502020204030204" pitchFamily="34" charset="0"/>
                <a:ea typeface="Calibri" panose="020F0502020204030204" pitchFamily="34" charset="-122"/>
                <a:cs typeface="Calibri" panose="020F0502020204030204" pitchFamily="34" charset="-120"/>
              </a:rPr>
              <a:t>✓   Easy-to-demonstrate Streamlit interface</a:t>
            </a:r>
            <a:endParaRPr lang="en-US" sz="1250" dirty="0"/>
          </a:p>
        </p:txBody>
      </p:sp>
      <p:sp>
        <p:nvSpPr>
          <p:cNvPr id="7" name="Shape 5"/>
          <p:cNvSpPr/>
          <p:nvPr/>
        </p:nvSpPr>
        <p:spPr>
          <a:xfrm>
            <a:off x="6217920" y="1645920"/>
            <a:ext cx="5440680" cy="4251960"/>
          </a:xfrm>
          <a:prstGeom prst="roundRect">
            <a:avLst>
              <a:gd name="adj" fmla="val 1935"/>
            </a:avLst>
          </a:prstGeom>
          <a:solidFill>
            <a:srgbClr val="F7E9E6"/>
          </a:solidFill>
        </p:spPr>
      </p:sp>
      <p:sp>
        <p:nvSpPr>
          <p:cNvPr id="8" name="Text 6"/>
          <p:cNvSpPr/>
          <p:nvPr/>
        </p:nvSpPr>
        <p:spPr>
          <a:xfrm>
            <a:off x="6473952" y="1828800"/>
            <a:ext cx="4983480" cy="365760"/>
          </a:xfrm>
          <a:prstGeom prst="rect">
            <a:avLst/>
          </a:prstGeom>
          <a:noFill/>
        </p:spPr>
        <p:txBody>
          <a:bodyPr wrap="square" rtlCol="0" anchor="ctr"/>
          <a:lstStyle/>
          <a:p>
            <a:pPr marL="0" indent="0" algn="l">
              <a:buNone/>
            </a:pPr>
            <a:r>
              <a:rPr lang="en-US" sz="1700" b="1" dirty="0">
                <a:solidFill>
                  <a:srgbClr val="B0503F"/>
                </a:solidFill>
                <a:latin typeface="Cambria" panose="02040503050406030204" pitchFamily="34" charset="0"/>
                <a:ea typeface="Cambria" panose="02040503050406030204" pitchFamily="34" charset="-122"/>
                <a:cs typeface="Cambria" panose="02040503050406030204" pitchFamily="34" charset="-120"/>
              </a:rPr>
              <a:t>Limitations</a:t>
            </a:r>
            <a:endParaRPr lang="en-US" sz="1700" dirty="0"/>
          </a:p>
        </p:txBody>
      </p:sp>
      <p:sp>
        <p:nvSpPr>
          <p:cNvPr id="9" name="Text 7"/>
          <p:cNvSpPr/>
          <p:nvPr/>
        </p:nvSpPr>
        <p:spPr>
          <a:xfrm>
            <a:off x="6473952" y="2267712"/>
            <a:ext cx="4937760" cy="3429000"/>
          </a:xfrm>
          <a:prstGeom prst="rect">
            <a:avLst/>
          </a:prstGeom>
          <a:noFill/>
        </p:spPr>
        <p:txBody>
          <a:bodyPr wrap="square" rtlCol="0" anchor="t"/>
          <a:lstStyle/>
          <a:p>
            <a:pPr marL="0" indent="0" algn="l">
              <a:lnSpc>
                <a:spcPts val="1600"/>
              </a:lnSpc>
              <a:spcAft>
                <a:spcPts val="900"/>
              </a:spcAft>
              <a:buNone/>
            </a:pPr>
            <a:r>
              <a:rPr lang="en-US" sz="1250" dirty="0">
                <a:solidFill>
                  <a:srgbClr val="1A2432"/>
                </a:solidFill>
                <a:latin typeface="Calibri" panose="020F0502020204030204" pitchFamily="34" charset="0"/>
                <a:ea typeface="Calibri" panose="020F0502020204030204" pitchFamily="34" charset="-122"/>
                <a:cs typeface="Calibri" panose="020F0502020204030204" pitchFamily="34" charset="-120"/>
              </a:rPr>
              <a:t>✗   Dataset is historical, not live</a:t>
            </a:r>
            <a:endParaRPr lang="en-US" sz="1250" dirty="0"/>
          </a:p>
          <a:p>
            <a:pPr marL="0" indent="0" algn="l">
              <a:lnSpc>
                <a:spcPts val="1600"/>
              </a:lnSpc>
              <a:spcAft>
                <a:spcPts val="900"/>
              </a:spcAft>
              <a:buNone/>
            </a:pPr>
            <a:r>
              <a:rPr lang="en-US" sz="1250" dirty="0">
                <a:solidFill>
                  <a:srgbClr val="1A2432"/>
                </a:solidFill>
                <a:latin typeface="Calibri" panose="020F0502020204030204" pitchFamily="34" charset="0"/>
                <a:ea typeface="Calibri" panose="020F0502020204030204" pitchFamily="34" charset="-122"/>
                <a:cs typeface="Calibri" panose="020F0502020204030204" pitchFamily="34" charset="-120"/>
              </a:rPr>
              <a:t>✗   No live retail / POS connection</a:t>
            </a:r>
            <a:endParaRPr lang="en-US" sz="1250" dirty="0"/>
          </a:p>
          <a:p>
            <a:pPr marL="0" indent="0" algn="l">
              <a:lnSpc>
                <a:spcPts val="1600"/>
              </a:lnSpc>
              <a:spcAft>
                <a:spcPts val="900"/>
              </a:spcAft>
              <a:buNone/>
            </a:pPr>
            <a:r>
              <a:rPr lang="en-US" sz="1250" dirty="0">
                <a:solidFill>
                  <a:srgbClr val="1A2432"/>
                </a:solidFill>
                <a:latin typeface="Calibri" panose="020F0502020204030204" pitchFamily="34" charset="0"/>
                <a:ea typeface="Calibri" panose="020F0502020204030204" pitchFamily="34" charset="-122"/>
                <a:cs typeface="Calibri" panose="020F0502020204030204" pitchFamily="34" charset="-120"/>
              </a:rPr>
              <a:t>✗   Model relies on historical patterns &amp; available features</a:t>
            </a:r>
            <a:endParaRPr lang="en-US" sz="1250" dirty="0"/>
          </a:p>
          <a:p>
            <a:pPr marL="0" indent="0" algn="l">
              <a:lnSpc>
                <a:spcPts val="1600"/>
              </a:lnSpc>
              <a:spcAft>
                <a:spcPts val="900"/>
              </a:spcAft>
              <a:buNone/>
            </a:pPr>
            <a:r>
              <a:rPr lang="en-US" sz="1250" dirty="0">
                <a:solidFill>
                  <a:srgbClr val="1A2432"/>
                </a:solidFill>
                <a:latin typeface="Calibri" panose="020F0502020204030204" pitchFamily="34" charset="0"/>
                <a:ea typeface="Calibri" panose="020F0502020204030204" pitchFamily="34" charset="-122"/>
                <a:cs typeface="Calibri" panose="020F0502020204030204" pitchFamily="34" charset="-120"/>
              </a:rPr>
              <a:t>✗   Predictions are a model demonstration, not guaranteed demand</a:t>
            </a:r>
            <a:endParaRPr lang="en-US" sz="1250" dirty="0"/>
          </a:p>
        </p:txBody>
      </p:sp>
      <p:sp>
        <p:nvSpPr>
          <p:cNvPr id="10" name="Text 8"/>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11" name="Text 9"/>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292608"/>
          </a:xfrm>
          <a:prstGeom prst="rect">
            <a:avLst/>
          </a:prstGeom>
          <a:noFill/>
        </p:spPr>
        <p:txBody>
          <a:bodyPr wrap="square" rtlCol="0" anchor="ctr"/>
          <a:lstStyle/>
          <a:p>
            <a:pPr marL="0" indent="0" algn="l">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FUTURE SCOPE</a:t>
            </a:r>
            <a:endParaRPr lang="en-US" sz="1300" dirty="0"/>
          </a:p>
        </p:txBody>
      </p:sp>
      <p:sp>
        <p:nvSpPr>
          <p:cNvPr id="3" name="Text 1"/>
          <p:cNvSpPr/>
          <p:nvPr/>
        </p:nvSpPr>
        <p:spPr>
          <a:xfrm>
            <a:off x="548640" y="621792"/>
            <a:ext cx="11094415" cy="658368"/>
          </a:xfrm>
          <a:prstGeom prst="rect">
            <a:avLst/>
          </a:prstGeom>
          <a:noFill/>
        </p:spPr>
        <p:txBody>
          <a:bodyPr wrap="square" rtlCol="0" anchor="ctr"/>
          <a:lstStyle/>
          <a:p>
            <a:pPr marL="0" indent="0" algn="l">
              <a:buNone/>
            </a:pPr>
            <a:r>
              <a:rPr lang="en-US" sz="3000" b="1" dirty="0">
                <a:solidFill>
                  <a:srgbClr val="12395B"/>
                </a:solidFill>
                <a:latin typeface="Cambria" panose="02040503050406030204" pitchFamily="34" charset="0"/>
                <a:ea typeface="Cambria" panose="02040503050406030204" pitchFamily="34" charset="-122"/>
                <a:cs typeface="Cambria" panose="02040503050406030204" pitchFamily="34" charset="-120"/>
              </a:rPr>
              <a:t>Where This Project Can Go Next</a:t>
            </a:r>
            <a:endParaRPr lang="en-US" sz="3000" dirty="0"/>
          </a:p>
        </p:txBody>
      </p:sp>
      <p:sp>
        <p:nvSpPr>
          <p:cNvPr id="4" name="Shape 2"/>
          <p:cNvSpPr/>
          <p:nvPr/>
        </p:nvSpPr>
        <p:spPr>
          <a:xfrm>
            <a:off x="548640" y="1691640"/>
            <a:ext cx="2622728" cy="1783080"/>
          </a:xfrm>
          <a:prstGeom prst="roundRect">
            <a:avLst>
              <a:gd name="adj" fmla="val 5128"/>
            </a:avLst>
          </a:prstGeom>
          <a:solidFill>
            <a:srgbClr val="FFFFFF"/>
          </a:solidFill>
          <a:ln w="12700">
            <a:solidFill>
              <a:srgbClr val="E2E8EF"/>
            </a:solidFill>
            <a:prstDash val="solid"/>
          </a:ln>
        </p:spPr>
      </p:sp>
      <p:sp>
        <p:nvSpPr>
          <p:cNvPr id="5" name="Text 3"/>
          <p:cNvSpPr/>
          <p:nvPr/>
        </p:nvSpPr>
        <p:spPr>
          <a:xfrm>
            <a:off x="1603972" y="1874520"/>
            <a:ext cx="512064" cy="512064"/>
          </a:xfrm>
          <a:prstGeom prst="ellipse">
            <a:avLst/>
          </a:prstGeom>
          <a:solidFill>
            <a:srgbClr val="12395B"/>
          </a:solid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6" name="Text 4"/>
          <p:cNvSpPr/>
          <p:nvPr/>
        </p:nvSpPr>
        <p:spPr>
          <a:xfrm>
            <a:off x="658368" y="2514600"/>
            <a:ext cx="2403272" cy="347472"/>
          </a:xfrm>
          <a:prstGeom prst="rect">
            <a:avLst/>
          </a:prstGeom>
          <a:noFill/>
        </p:spPr>
        <p:txBody>
          <a:bodyPr wrap="square" rtlCol="0" anchor="ctr"/>
          <a:lstStyle/>
          <a:p>
            <a:pPr marL="0" indent="0" algn="ctr">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Live Data</a:t>
            </a:r>
            <a:endParaRPr lang="en-US" sz="1250" dirty="0"/>
          </a:p>
        </p:txBody>
      </p:sp>
      <p:sp>
        <p:nvSpPr>
          <p:cNvPr id="7" name="Text 5"/>
          <p:cNvSpPr/>
          <p:nvPr/>
        </p:nvSpPr>
        <p:spPr>
          <a:xfrm>
            <a:off x="685800" y="2834640"/>
            <a:ext cx="2348408" cy="594360"/>
          </a:xfrm>
          <a:prstGeom prst="rect">
            <a:avLst/>
          </a:prstGeom>
          <a:noFill/>
        </p:spPr>
        <p:txBody>
          <a:bodyPr wrap="square" rtlCol="0" anchor="ctr"/>
          <a:lstStyle/>
          <a:p>
            <a:pPr marL="0" indent="0" algn="ctr">
              <a:lnSpc>
                <a:spcPts val="1200"/>
              </a:lnSpc>
              <a:buNone/>
            </a:pPr>
            <a:r>
              <a:rPr lang="en-US" sz="970" dirty="0">
                <a:solidFill>
                  <a:srgbClr val="64758B"/>
                </a:solidFill>
                <a:latin typeface="Calibri" panose="020F0502020204030204" pitchFamily="34" charset="0"/>
                <a:ea typeface="Calibri" panose="020F0502020204030204" pitchFamily="34" charset="-122"/>
                <a:cs typeface="Calibri" panose="020F0502020204030204" pitchFamily="34" charset="-120"/>
              </a:rPr>
              <a:t>Connect to live retail / POS data feeds</a:t>
            </a:r>
            <a:endParaRPr lang="en-US" sz="970" dirty="0"/>
          </a:p>
        </p:txBody>
      </p:sp>
      <p:sp>
        <p:nvSpPr>
          <p:cNvPr id="8" name="Shape 6"/>
          <p:cNvSpPr/>
          <p:nvPr/>
        </p:nvSpPr>
        <p:spPr>
          <a:xfrm>
            <a:off x="3372536" y="1691640"/>
            <a:ext cx="2622728" cy="1783080"/>
          </a:xfrm>
          <a:prstGeom prst="roundRect">
            <a:avLst>
              <a:gd name="adj" fmla="val 5128"/>
            </a:avLst>
          </a:prstGeom>
          <a:solidFill>
            <a:srgbClr val="FFFFFF"/>
          </a:solidFill>
          <a:ln w="12700">
            <a:solidFill>
              <a:srgbClr val="E2E8EF"/>
            </a:solidFill>
            <a:prstDash val="solid"/>
          </a:ln>
        </p:spPr>
      </p:sp>
      <p:sp>
        <p:nvSpPr>
          <p:cNvPr id="9" name="Text 7"/>
          <p:cNvSpPr/>
          <p:nvPr/>
        </p:nvSpPr>
        <p:spPr>
          <a:xfrm>
            <a:off x="4427868" y="1874520"/>
            <a:ext cx="512064" cy="512064"/>
          </a:xfrm>
          <a:prstGeom prst="ellipse">
            <a:avLst/>
          </a:prstGeom>
          <a:solidFill>
            <a:srgbClr val="1F7A8C"/>
          </a:solid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0" name="Text 8"/>
          <p:cNvSpPr/>
          <p:nvPr/>
        </p:nvSpPr>
        <p:spPr>
          <a:xfrm>
            <a:off x="3482264" y="2514600"/>
            <a:ext cx="2403272" cy="347472"/>
          </a:xfrm>
          <a:prstGeom prst="rect">
            <a:avLst/>
          </a:prstGeom>
          <a:noFill/>
        </p:spPr>
        <p:txBody>
          <a:bodyPr wrap="square" rtlCol="0" anchor="ctr"/>
          <a:lstStyle/>
          <a:p>
            <a:pPr marL="0" indent="0" algn="ctr">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Inventory Levels</a:t>
            </a:r>
            <a:endParaRPr lang="en-US" sz="1250" dirty="0"/>
          </a:p>
        </p:txBody>
      </p:sp>
      <p:sp>
        <p:nvSpPr>
          <p:cNvPr id="11" name="Text 9"/>
          <p:cNvSpPr/>
          <p:nvPr/>
        </p:nvSpPr>
        <p:spPr>
          <a:xfrm>
            <a:off x="3509696" y="2834640"/>
            <a:ext cx="2348408" cy="594360"/>
          </a:xfrm>
          <a:prstGeom prst="rect">
            <a:avLst/>
          </a:prstGeom>
          <a:noFill/>
        </p:spPr>
        <p:txBody>
          <a:bodyPr wrap="square" rtlCol="0" anchor="ctr"/>
          <a:lstStyle/>
          <a:p>
            <a:pPr marL="0" indent="0" algn="ctr">
              <a:lnSpc>
                <a:spcPts val="1200"/>
              </a:lnSpc>
              <a:buNone/>
            </a:pPr>
            <a:r>
              <a:rPr lang="en-US" sz="970" dirty="0">
                <a:solidFill>
                  <a:srgbClr val="64758B"/>
                </a:solidFill>
                <a:latin typeface="Calibri" panose="020F0502020204030204" pitchFamily="34" charset="0"/>
                <a:ea typeface="Calibri" panose="020F0502020204030204" pitchFamily="34" charset="-122"/>
                <a:cs typeface="Calibri" panose="020F0502020204030204" pitchFamily="34" charset="-120"/>
              </a:rPr>
              <a:t>Incorporate current stock levels into the model</a:t>
            </a:r>
            <a:endParaRPr lang="en-US" sz="970" dirty="0"/>
          </a:p>
        </p:txBody>
      </p:sp>
      <p:sp>
        <p:nvSpPr>
          <p:cNvPr id="12" name="Shape 10"/>
          <p:cNvSpPr/>
          <p:nvPr/>
        </p:nvSpPr>
        <p:spPr>
          <a:xfrm>
            <a:off x="6196432" y="1691640"/>
            <a:ext cx="2622728" cy="1783080"/>
          </a:xfrm>
          <a:prstGeom prst="roundRect">
            <a:avLst>
              <a:gd name="adj" fmla="val 5128"/>
            </a:avLst>
          </a:prstGeom>
          <a:solidFill>
            <a:srgbClr val="FFFFFF"/>
          </a:solidFill>
          <a:ln w="12700">
            <a:solidFill>
              <a:srgbClr val="E2E8EF"/>
            </a:solidFill>
            <a:prstDash val="solid"/>
          </a:ln>
        </p:spPr>
      </p:sp>
      <p:sp>
        <p:nvSpPr>
          <p:cNvPr id="13" name="Text 11"/>
          <p:cNvSpPr/>
          <p:nvPr/>
        </p:nvSpPr>
        <p:spPr>
          <a:xfrm>
            <a:off x="7251764" y="1874520"/>
            <a:ext cx="512064" cy="512064"/>
          </a:xfrm>
          <a:prstGeom prst="ellipse">
            <a:avLst/>
          </a:prstGeom>
          <a:solidFill>
            <a:srgbClr val="12395B"/>
          </a:solid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4" name="Text 12"/>
          <p:cNvSpPr/>
          <p:nvPr/>
        </p:nvSpPr>
        <p:spPr>
          <a:xfrm>
            <a:off x="6306160" y="2514600"/>
            <a:ext cx="2403272" cy="347472"/>
          </a:xfrm>
          <a:prstGeom prst="rect">
            <a:avLst/>
          </a:prstGeom>
          <a:noFill/>
        </p:spPr>
        <p:txBody>
          <a:bodyPr wrap="square" rtlCol="0" anchor="ctr"/>
          <a:lstStyle/>
          <a:p>
            <a:pPr marL="0" indent="0" algn="ctr">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Promotions</a:t>
            </a:r>
            <a:endParaRPr lang="en-US" sz="1250" dirty="0"/>
          </a:p>
        </p:txBody>
      </p:sp>
      <p:sp>
        <p:nvSpPr>
          <p:cNvPr id="15" name="Text 13"/>
          <p:cNvSpPr/>
          <p:nvPr/>
        </p:nvSpPr>
        <p:spPr>
          <a:xfrm>
            <a:off x="6333592" y="2834640"/>
            <a:ext cx="2348408" cy="594360"/>
          </a:xfrm>
          <a:prstGeom prst="rect">
            <a:avLst/>
          </a:prstGeom>
          <a:noFill/>
        </p:spPr>
        <p:txBody>
          <a:bodyPr wrap="square" rtlCol="0" anchor="ctr"/>
          <a:lstStyle/>
          <a:p>
            <a:pPr marL="0" indent="0" algn="ctr">
              <a:lnSpc>
                <a:spcPts val="1200"/>
              </a:lnSpc>
              <a:buNone/>
            </a:pPr>
            <a:r>
              <a:rPr lang="en-US" sz="970" dirty="0">
                <a:solidFill>
                  <a:srgbClr val="64758B"/>
                </a:solidFill>
                <a:latin typeface="Calibri" panose="020F0502020204030204" pitchFamily="34" charset="0"/>
                <a:ea typeface="Calibri" panose="020F0502020204030204" pitchFamily="34" charset="-122"/>
                <a:cs typeface="Calibri" panose="020F0502020204030204" pitchFamily="34" charset="-120"/>
              </a:rPr>
              <a:t>Add promotions and discount information as features</a:t>
            </a:r>
            <a:endParaRPr lang="en-US" sz="970" dirty="0"/>
          </a:p>
        </p:txBody>
      </p:sp>
      <p:sp>
        <p:nvSpPr>
          <p:cNvPr id="16" name="Shape 14"/>
          <p:cNvSpPr/>
          <p:nvPr/>
        </p:nvSpPr>
        <p:spPr>
          <a:xfrm>
            <a:off x="9020327" y="1691640"/>
            <a:ext cx="2622728" cy="1783080"/>
          </a:xfrm>
          <a:prstGeom prst="roundRect">
            <a:avLst>
              <a:gd name="adj" fmla="val 5128"/>
            </a:avLst>
          </a:prstGeom>
          <a:solidFill>
            <a:srgbClr val="FFFFFF"/>
          </a:solidFill>
          <a:ln w="12700">
            <a:solidFill>
              <a:srgbClr val="E2E8EF"/>
            </a:solidFill>
            <a:prstDash val="solid"/>
          </a:ln>
        </p:spPr>
      </p:sp>
      <p:sp>
        <p:nvSpPr>
          <p:cNvPr id="17" name="Text 15"/>
          <p:cNvSpPr/>
          <p:nvPr/>
        </p:nvSpPr>
        <p:spPr>
          <a:xfrm>
            <a:off x="10075659" y="1874520"/>
            <a:ext cx="512064" cy="512064"/>
          </a:xfrm>
          <a:prstGeom prst="ellipse">
            <a:avLst/>
          </a:prstGeom>
          <a:solidFill>
            <a:srgbClr val="1F7A8C"/>
          </a:solid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18" name="Text 16"/>
          <p:cNvSpPr/>
          <p:nvPr/>
        </p:nvSpPr>
        <p:spPr>
          <a:xfrm>
            <a:off x="9130055" y="2514600"/>
            <a:ext cx="2403272" cy="347472"/>
          </a:xfrm>
          <a:prstGeom prst="rect">
            <a:avLst/>
          </a:prstGeom>
          <a:noFill/>
        </p:spPr>
        <p:txBody>
          <a:bodyPr wrap="square" rtlCol="0" anchor="ctr"/>
          <a:lstStyle/>
          <a:p>
            <a:pPr marL="0" indent="0" algn="ctr">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Seasonality</a:t>
            </a:r>
            <a:endParaRPr lang="en-US" sz="1250" dirty="0"/>
          </a:p>
        </p:txBody>
      </p:sp>
      <p:sp>
        <p:nvSpPr>
          <p:cNvPr id="19" name="Text 17"/>
          <p:cNvSpPr/>
          <p:nvPr/>
        </p:nvSpPr>
        <p:spPr>
          <a:xfrm>
            <a:off x="9157487" y="2834640"/>
            <a:ext cx="2348408" cy="594360"/>
          </a:xfrm>
          <a:prstGeom prst="rect">
            <a:avLst/>
          </a:prstGeom>
          <a:noFill/>
        </p:spPr>
        <p:txBody>
          <a:bodyPr wrap="square" rtlCol="0" anchor="ctr"/>
          <a:lstStyle/>
          <a:p>
            <a:pPr marL="0" indent="0" algn="ctr">
              <a:lnSpc>
                <a:spcPts val="1200"/>
              </a:lnSpc>
              <a:buNone/>
            </a:pPr>
            <a:r>
              <a:rPr lang="en-US" sz="970" dirty="0">
                <a:solidFill>
                  <a:srgbClr val="64758B"/>
                </a:solidFill>
                <a:latin typeface="Calibri" panose="020F0502020204030204" pitchFamily="34" charset="0"/>
                <a:ea typeface="Calibri" panose="020F0502020204030204" pitchFamily="34" charset="-122"/>
                <a:cs typeface="Calibri" panose="020F0502020204030204" pitchFamily="34" charset="-120"/>
              </a:rPr>
              <a:t>Add holidays and seasonal calendar information</a:t>
            </a:r>
            <a:endParaRPr lang="en-US" sz="970" dirty="0"/>
          </a:p>
        </p:txBody>
      </p:sp>
      <p:sp>
        <p:nvSpPr>
          <p:cNvPr id="20" name="Shape 18"/>
          <p:cNvSpPr/>
          <p:nvPr/>
        </p:nvSpPr>
        <p:spPr>
          <a:xfrm>
            <a:off x="548640" y="3675888"/>
            <a:ext cx="2622728" cy="1783080"/>
          </a:xfrm>
          <a:prstGeom prst="roundRect">
            <a:avLst>
              <a:gd name="adj" fmla="val 5128"/>
            </a:avLst>
          </a:prstGeom>
          <a:solidFill>
            <a:srgbClr val="FFFFFF"/>
          </a:solidFill>
          <a:ln w="12700">
            <a:solidFill>
              <a:srgbClr val="E2E8EF"/>
            </a:solidFill>
            <a:prstDash val="solid"/>
          </a:ln>
        </p:spPr>
      </p:sp>
      <p:sp>
        <p:nvSpPr>
          <p:cNvPr id="21" name="Text 19"/>
          <p:cNvSpPr/>
          <p:nvPr/>
        </p:nvSpPr>
        <p:spPr>
          <a:xfrm>
            <a:off x="1603972" y="3858768"/>
            <a:ext cx="512064" cy="512064"/>
          </a:xfrm>
          <a:prstGeom prst="ellipse">
            <a:avLst/>
          </a:prstGeom>
          <a:solidFill>
            <a:srgbClr val="12395B"/>
          </a:solid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600" dirty="0"/>
          </a:p>
        </p:txBody>
      </p:sp>
      <p:sp>
        <p:nvSpPr>
          <p:cNvPr id="22" name="Text 20"/>
          <p:cNvSpPr/>
          <p:nvPr/>
        </p:nvSpPr>
        <p:spPr>
          <a:xfrm>
            <a:off x="658368" y="4498848"/>
            <a:ext cx="2403272" cy="347472"/>
          </a:xfrm>
          <a:prstGeom prst="rect">
            <a:avLst/>
          </a:prstGeom>
          <a:noFill/>
        </p:spPr>
        <p:txBody>
          <a:bodyPr wrap="square" rtlCol="0" anchor="ctr"/>
          <a:lstStyle/>
          <a:p>
            <a:pPr marL="0" indent="0" algn="ctr">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Advanced Models</a:t>
            </a:r>
            <a:endParaRPr lang="en-US" sz="1250" dirty="0"/>
          </a:p>
        </p:txBody>
      </p:sp>
      <p:sp>
        <p:nvSpPr>
          <p:cNvPr id="23" name="Text 21"/>
          <p:cNvSpPr/>
          <p:nvPr/>
        </p:nvSpPr>
        <p:spPr>
          <a:xfrm>
            <a:off x="685800" y="4818888"/>
            <a:ext cx="2348408" cy="594360"/>
          </a:xfrm>
          <a:prstGeom prst="rect">
            <a:avLst/>
          </a:prstGeom>
          <a:noFill/>
        </p:spPr>
        <p:txBody>
          <a:bodyPr wrap="square" rtlCol="0" anchor="ctr"/>
          <a:lstStyle/>
          <a:p>
            <a:pPr marL="0" indent="0" algn="ctr">
              <a:lnSpc>
                <a:spcPts val="1200"/>
              </a:lnSpc>
              <a:buNone/>
            </a:pPr>
            <a:r>
              <a:rPr lang="en-US" sz="970" dirty="0">
                <a:solidFill>
                  <a:srgbClr val="64758B"/>
                </a:solidFill>
                <a:latin typeface="Calibri" panose="020F0502020204030204" pitchFamily="34" charset="0"/>
                <a:ea typeface="Calibri" panose="020F0502020204030204" pitchFamily="34" charset="-122"/>
                <a:cs typeface="Calibri" panose="020F0502020204030204" pitchFamily="34" charset="-120"/>
              </a:rPr>
              <a:t>Explore more advanced time-series forecasting models</a:t>
            </a:r>
            <a:endParaRPr lang="en-US" sz="970" dirty="0"/>
          </a:p>
        </p:txBody>
      </p:sp>
      <p:sp>
        <p:nvSpPr>
          <p:cNvPr id="24" name="Shape 22"/>
          <p:cNvSpPr/>
          <p:nvPr/>
        </p:nvSpPr>
        <p:spPr>
          <a:xfrm>
            <a:off x="3372536" y="3675888"/>
            <a:ext cx="2622728" cy="1783080"/>
          </a:xfrm>
          <a:prstGeom prst="roundRect">
            <a:avLst>
              <a:gd name="adj" fmla="val 5128"/>
            </a:avLst>
          </a:prstGeom>
          <a:solidFill>
            <a:srgbClr val="FFFFFF"/>
          </a:solidFill>
          <a:ln w="12700">
            <a:solidFill>
              <a:srgbClr val="E2E8EF"/>
            </a:solidFill>
            <a:prstDash val="solid"/>
          </a:ln>
        </p:spPr>
      </p:sp>
      <p:sp>
        <p:nvSpPr>
          <p:cNvPr id="25" name="Text 23"/>
          <p:cNvSpPr/>
          <p:nvPr/>
        </p:nvSpPr>
        <p:spPr>
          <a:xfrm>
            <a:off x="4427868" y="3858768"/>
            <a:ext cx="512064" cy="512064"/>
          </a:xfrm>
          <a:prstGeom prst="ellipse">
            <a:avLst/>
          </a:prstGeom>
          <a:solidFill>
            <a:srgbClr val="1F7A8C"/>
          </a:solid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600" dirty="0"/>
          </a:p>
        </p:txBody>
      </p:sp>
      <p:sp>
        <p:nvSpPr>
          <p:cNvPr id="26" name="Text 24"/>
          <p:cNvSpPr/>
          <p:nvPr/>
        </p:nvSpPr>
        <p:spPr>
          <a:xfrm>
            <a:off x="3482264" y="4498848"/>
            <a:ext cx="2403272" cy="347472"/>
          </a:xfrm>
          <a:prstGeom prst="rect">
            <a:avLst/>
          </a:prstGeom>
          <a:noFill/>
        </p:spPr>
        <p:txBody>
          <a:bodyPr wrap="square" rtlCol="0" anchor="ctr"/>
          <a:lstStyle/>
          <a:p>
            <a:pPr marL="0" indent="0" algn="ctr">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Multi-Day Forecasts</a:t>
            </a:r>
            <a:endParaRPr lang="en-US" sz="1250" dirty="0"/>
          </a:p>
        </p:txBody>
      </p:sp>
      <p:sp>
        <p:nvSpPr>
          <p:cNvPr id="27" name="Text 25"/>
          <p:cNvSpPr/>
          <p:nvPr/>
        </p:nvSpPr>
        <p:spPr>
          <a:xfrm>
            <a:off x="3509696" y="4818888"/>
            <a:ext cx="2348408" cy="594360"/>
          </a:xfrm>
          <a:prstGeom prst="rect">
            <a:avLst/>
          </a:prstGeom>
          <a:noFill/>
        </p:spPr>
        <p:txBody>
          <a:bodyPr wrap="square" rtlCol="0" anchor="ctr"/>
          <a:lstStyle/>
          <a:p>
            <a:pPr marL="0" indent="0" algn="ctr">
              <a:lnSpc>
                <a:spcPts val="1200"/>
              </a:lnSpc>
              <a:buNone/>
            </a:pPr>
            <a:r>
              <a:rPr lang="en-US" sz="970" dirty="0">
                <a:solidFill>
                  <a:srgbClr val="64758B"/>
                </a:solidFill>
                <a:latin typeface="Calibri" panose="020F0502020204030204" pitchFamily="34" charset="0"/>
                <a:ea typeface="Calibri" panose="020F0502020204030204" pitchFamily="34" charset="-122"/>
                <a:cs typeface="Calibri" panose="020F0502020204030204" pitchFamily="34" charset="-120"/>
              </a:rPr>
              <a:t>Improve forecasting across multiple future days</a:t>
            </a:r>
            <a:endParaRPr lang="en-US" sz="970" dirty="0"/>
          </a:p>
        </p:txBody>
      </p:sp>
      <p:sp>
        <p:nvSpPr>
          <p:cNvPr id="28" name="Shape 26"/>
          <p:cNvSpPr/>
          <p:nvPr/>
        </p:nvSpPr>
        <p:spPr>
          <a:xfrm>
            <a:off x="6196432" y="3675888"/>
            <a:ext cx="2622728" cy="1783080"/>
          </a:xfrm>
          <a:prstGeom prst="roundRect">
            <a:avLst>
              <a:gd name="adj" fmla="val 5128"/>
            </a:avLst>
          </a:prstGeom>
          <a:solidFill>
            <a:srgbClr val="FFFFFF"/>
          </a:solidFill>
          <a:ln w="12700">
            <a:solidFill>
              <a:srgbClr val="E2E8EF"/>
            </a:solidFill>
            <a:prstDash val="solid"/>
          </a:ln>
        </p:spPr>
      </p:sp>
      <p:sp>
        <p:nvSpPr>
          <p:cNvPr id="29" name="Text 27"/>
          <p:cNvSpPr/>
          <p:nvPr/>
        </p:nvSpPr>
        <p:spPr>
          <a:xfrm>
            <a:off x="7251764" y="3858768"/>
            <a:ext cx="512064" cy="512064"/>
          </a:xfrm>
          <a:prstGeom prst="ellipse">
            <a:avLst/>
          </a:prstGeom>
          <a:solidFill>
            <a:srgbClr val="12395B"/>
          </a:solid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7</a:t>
            </a:r>
            <a:endParaRPr lang="en-US" sz="1600" dirty="0"/>
          </a:p>
        </p:txBody>
      </p:sp>
      <p:sp>
        <p:nvSpPr>
          <p:cNvPr id="30" name="Text 28"/>
          <p:cNvSpPr/>
          <p:nvPr/>
        </p:nvSpPr>
        <p:spPr>
          <a:xfrm>
            <a:off x="6306160" y="4498848"/>
            <a:ext cx="2403272" cy="347472"/>
          </a:xfrm>
          <a:prstGeom prst="rect">
            <a:avLst/>
          </a:prstGeom>
          <a:noFill/>
        </p:spPr>
        <p:txBody>
          <a:bodyPr wrap="square" rtlCol="0" anchor="ctr"/>
          <a:lstStyle/>
          <a:p>
            <a:pPr marL="0" indent="0" algn="ctr">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Online Deployment</a:t>
            </a:r>
            <a:endParaRPr lang="en-US" sz="1250" dirty="0"/>
          </a:p>
        </p:txBody>
      </p:sp>
      <p:sp>
        <p:nvSpPr>
          <p:cNvPr id="31" name="Text 29"/>
          <p:cNvSpPr/>
          <p:nvPr/>
        </p:nvSpPr>
        <p:spPr>
          <a:xfrm>
            <a:off x="6333592" y="4818888"/>
            <a:ext cx="2348408" cy="594360"/>
          </a:xfrm>
          <a:prstGeom prst="rect">
            <a:avLst/>
          </a:prstGeom>
          <a:noFill/>
        </p:spPr>
        <p:txBody>
          <a:bodyPr wrap="square" rtlCol="0" anchor="ctr"/>
          <a:lstStyle/>
          <a:p>
            <a:pPr marL="0" indent="0" algn="ctr">
              <a:lnSpc>
                <a:spcPts val="1200"/>
              </a:lnSpc>
              <a:buNone/>
            </a:pPr>
            <a:r>
              <a:rPr lang="en-US" sz="970" dirty="0">
                <a:solidFill>
                  <a:srgbClr val="64758B"/>
                </a:solidFill>
                <a:latin typeface="Calibri" panose="020F0502020204030204" pitchFamily="34" charset="0"/>
                <a:ea typeface="Calibri" panose="020F0502020204030204" pitchFamily="34" charset="-122"/>
                <a:cs typeface="Calibri" panose="020F0502020204030204" pitchFamily="34" charset="-120"/>
              </a:rPr>
              <a:t>Deploy the application online for wider access</a:t>
            </a:r>
            <a:endParaRPr lang="en-US" sz="970" dirty="0"/>
          </a:p>
        </p:txBody>
      </p:sp>
      <p:sp>
        <p:nvSpPr>
          <p:cNvPr id="32" name="Shape 30"/>
          <p:cNvSpPr/>
          <p:nvPr/>
        </p:nvSpPr>
        <p:spPr>
          <a:xfrm>
            <a:off x="9020327" y="3675888"/>
            <a:ext cx="2622728" cy="1783080"/>
          </a:xfrm>
          <a:prstGeom prst="roundRect">
            <a:avLst>
              <a:gd name="adj" fmla="val 5128"/>
            </a:avLst>
          </a:prstGeom>
          <a:solidFill>
            <a:srgbClr val="FFFFFF"/>
          </a:solidFill>
          <a:ln w="12700">
            <a:solidFill>
              <a:srgbClr val="E2E8EF"/>
            </a:solidFill>
            <a:prstDash val="solid"/>
          </a:ln>
        </p:spPr>
      </p:sp>
      <p:sp>
        <p:nvSpPr>
          <p:cNvPr id="33" name="Text 31"/>
          <p:cNvSpPr/>
          <p:nvPr/>
        </p:nvSpPr>
        <p:spPr>
          <a:xfrm>
            <a:off x="10075659" y="3858768"/>
            <a:ext cx="512064" cy="512064"/>
          </a:xfrm>
          <a:prstGeom prst="ellipse">
            <a:avLst/>
          </a:prstGeom>
          <a:solidFill>
            <a:srgbClr val="1F7A8C"/>
          </a:solid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8</a:t>
            </a:r>
            <a:endParaRPr lang="en-US" sz="1600" dirty="0"/>
          </a:p>
        </p:txBody>
      </p:sp>
      <p:sp>
        <p:nvSpPr>
          <p:cNvPr id="34" name="Text 32"/>
          <p:cNvSpPr/>
          <p:nvPr/>
        </p:nvSpPr>
        <p:spPr>
          <a:xfrm>
            <a:off x="9130055" y="4498848"/>
            <a:ext cx="2403272" cy="347472"/>
          </a:xfrm>
          <a:prstGeom prst="rect">
            <a:avLst/>
          </a:prstGeom>
          <a:noFill/>
        </p:spPr>
        <p:txBody>
          <a:bodyPr wrap="square" rtlCol="0" anchor="ctr"/>
          <a:lstStyle/>
          <a:p>
            <a:pPr marL="0" indent="0" algn="ctr">
              <a:buNone/>
            </a:pPr>
            <a:r>
              <a:rPr lang="en-US" sz="1250" b="1" dirty="0">
                <a:solidFill>
                  <a:srgbClr val="12395B"/>
                </a:solidFill>
                <a:latin typeface="Cambria" panose="02040503050406030204" pitchFamily="34" charset="0"/>
                <a:ea typeface="Cambria" panose="02040503050406030204" pitchFamily="34" charset="-122"/>
                <a:cs typeface="Cambria" panose="02040503050406030204" pitchFamily="34" charset="-120"/>
              </a:rPr>
              <a:t>Auto Retraining</a:t>
            </a:r>
            <a:endParaRPr lang="en-US" sz="1250" dirty="0"/>
          </a:p>
        </p:txBody>
      </p:sp>
      <p:sp>
        <p:nvSpPr>
          <p:cNvPr id="35" name="Text 33"/>
          <p:cNvSpPr/>
          <p:nvPr/>
        </p:nvSpPr>
        <p:spPr>
          <a:xfrm>
            <a:off x="9157487" y="4818888"/>
            <a:ext cx="2348408" cy="594360"/>
          </a:xfrm>
          <a:prstGeom prst="rect">
            <a:avLst/>
          </a:prstGeom>
          <a:noFill/>
        </p:spPr>
        <p:txBody>
          <a:bodyPr wrap="square" rtlCol="0" anchor="ctr"/>
          <a:lstStyle/>
          <a:p>
            <a:pPr marL="0" indent="0" algn="ctr">
              <a:lnSpc>
                <a:spcPts val="1200"/>
              </a:lnSpc>
              <a:buNone/>
            </a:pPr>
            <a:r>
              <a:rPr lang="en-US" sz="970" dirty="0">
                <a:solidFill>
                  <a:srgbClr val="64758B"/>
                </a:solidFill>
                <a:latin typeface="Calibri" panose="020F0502020204030204" pitchFamily="34" charset="0"/>
                <a:ea typeface="Calibri" panose="020F0502020204030204" pitchFamily="34" charset="-122"/>
                <a:cs typeface="Calibri" panose="020F0502020204030204" pitchFamily="34" charset="-120"/>
              </a:rPr>
              <a:t>Add automated model retraining as new data arrives</a:t>
            </a:r>
            <a:endParaRPr lang="en-US" sz="970" dirty="0"/>
          </a:p>
        </p:txBody>
      </p:sp>
      <p:sp>
        <p:nvSpPr>
          <p:cNvPr id="36" name="Text 34"/>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37" name="Text 35"/>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2038"/>
        </a:solidFill>
        <a:effectLst/>
      </p:bgPr>
    </p:bg>
    <p:spTree>
      <p:nvGrpSpPr>
        <p:cNvPr id="1" name=""/>
        <p:cNvGrpSpPr/>
        <p:nvPr/>
      </p:nvGrpSpPr>
      <p:grpSpPr>
        <a:xfrm>
          <a:off x="0" y="0"/>
          <a:ext cx="0" cy="0"/>
          <a:chOff x="0" y="0"/>
          <a:chExt cx="0" cy="0"/>
        </a:xfrm>
      </p:grpSpPr>
      <p:sp>
        <p:nvSpPr>
          <p:cNvPr id="2" name="Shape 0"/>
          <p:cNvSpPr/>
          <p:nvPr/>
        </p:nvSpPr>
        <p:spPr>
          <a:xfrm>
            <a:off x="-2194560" y="-2194560"/>
            <a:ext cx="5029200" cy="5029200"/>
          </a:xfrm>
          <a:prstGeom prst="ellipse">
            <a:avLst/>
          </a:prstGeom>
          <a:solidFill>
            <a:srgbClr val="12395B">
              <a:alpha val="65000"/>
            </a:srgbClr>
          </a:solidFill>
        </p:spPr>
      </p:sp>
      <p:sp>
        <p:nvSpPr>
          <p:cNvPr id="3" name="Shape 1"/>
          <p:cNvSpPr/>
          <p:nvPr/>
        </p:nvSpPr>
        <p:spPr>
          <a:xfrm>
            <a:off x="9601200" y="4389120"/>
            <a:ext cx="4754880" cy="4754880"/>
          </a:xfrm>
          <a:prstGeom prst="ellipse">
            <a:avLst/>
          </a:prstGeom>
          <a:solidFill>
            <a:srgbClr val="1F7A8C">
              <a:alpha val="45000"/>
            </a:srgbClr>
          </a:solidFill>
        </p:spPr>
      </p:sp>
      <p:sp>
        <p:nvSpPr>
          <p:cNvPr id="4" name="Text 2"/>
          <p:cNvSpPr/>
          <p:nvPr/>
        </p:nvSpPr>
        <p:spPr>
          <a:xfrm>
            <a:off x="548640" y="502920"/>
            <a:ext cx="11094415" cy="320040"/>
          </a:xfrm>
          <a:prstGeom prst="rect">
            <a:avLst/>
          </a:prstGeom>
          <a:noFill/>
        </p:spPr>
        <p:txBody>
          <a:bodyPr wrap="square" rtlCol="0" anchor="ctr"/>
          <a:lstStyle/>
          <a:p>
            <a:pPr marL="0" indent="0">
              <a:buNone/>
            </a:pPr>
            <a:r>
              <a:rPr lang="en-US" sz="1300" b="1" kern="0" spc="200" dirty="0">
                <a:solidFill>
                  <a:srgbClr val="E0982E"/>
                </a:solidFill>
                <a:latin typeface="Calibri" panose="020F0502020204030204" pitchFamily="34" charset="0"/>
                <a:ea typeface="Calibri" panose="020F0502020204030204" pitchFamily="34" charset="-122"/>
                <a:cs typeface="Calibri" panose="020F0502020204030204" pitchFamily="34" charset="-120"/>
              </a:rPr>
              <a:t>CONCLUSION</a:t>
            </a:r>
            <a:endParaRPr lang="en-US" sz="1300" dirty="0"/>
          </a:p>
        </p:txBody>
      </p:sp>
      <p:sp>
        <p:nvSpPr>
          <p:cNvPr id="5" name="Text 3"/>
          <p:cNvSpPr/>
          <p:nvPr/>
        </p:nvSpPr>
        <p:spPr>
          <a:xfrm>
            <a:off x="548640" y="822960"/>
            <a:ext cx="11094415" cy="594360"/>
          </a:xfrm>
          <a:prstGeom prst="rect">
            <a:avLst/>
          </a:prstGeom>
          <a:noFill/>
        </p:spPr>
        <p:txBody>
          <a:bodyPr wrap="square" rtlCol="0" anchor="ctr"/>
          <a:lstStyle/>
          <a:p>
            <a:pPr marL="0" indent="0">
              <a:buNone/>
            </a:pPr>
            <a:r>
              <a:rPr lang="en-US" sz="2700" b="1" dirty="0">
                <a:solidFill>
                  <a:srgbClr val="FFFFFF"/>
                </a:solidFill>
                <a:latin typeface="Cambria" panose="02040503050406030204" pitchFamily="34" charset="0"/>
                <a:ea typeface="Cambria" panose="02040503050406030204" pitchFamily="34" charset="-122"/>
                <a:cs typeface="Cambria" panose="02040503050406030204" pitchFamily="34" charset="-120"/>
              </a:rPr>
              <a:t>From Raw Transactions to Usable Predictions</a:t>
            </a:r>
            <a:endParaRPr lang="en-US" sz="2700" dirty="0"/>
          </a:p>
        </p:txBody>
      </p:sp>
      <p:sp>
        <p:nvSpPr>
          <p:cNvPr id="6" name="Text 4"/>
          <p:cNvSpPr/>
          <p:nvPr/>
        </p:nvSpPr>
        <p:spPr>
          <a:xfrm>
            <a:off x="548640" y="1600200"/>
            <a:ext cx="7315200" cy="3291840"/>
          </a:xfrm>
          <a:prstGeom prst="rect">
            <a:avLst/>
          </a:prstGeom>
          <a:noFill/>
        </p:spPr>
        <p:txBody>
          <a:bodyPr wrap="square" rtlCol="0" anchor="t"/>
          <a:lstStyle/>
          <a:p>
            <a:pPr marL="342900" indent="-342900">
              <a:lnSpc>
                <a:spcPts val="1800"/>
              </a:lnSpc>
              <a:spcAft>
                <a:spcPts val="1100"/>
              </a:spcAft>
              <a:buSzPct val="100000"/>
              <a:buChar char="✓"/>
            </a:pPr>
            <a:r>
              <a:rPr lang="en-US" sz="1400" dirty="0">
                <a:solidFill>
                  <a:srgbClr val="E4ECF3"/>
                </a:solidFill>
                <a:latin typeface="Calibri" panose="020F0502020204030204" pitchFamily="34" charset="0"/>
                <a:ea typeface="Calibri" panose="020F0502020204030204" pitchFamily="34" charset="-122"/>
                <a:cs typeface="Calibri" panose="020F0502020204030204" pitchFamily="34" charset="-120"/>
              </a:rPr>
              <a:t>Historical retail transaction data was successfully processed and cleaned</a:t>
            </a:r>
            <a:endParaRPr lang="en-US" sz="1400" dirty="0"/>
          </a:p>
          <a:p>
            <a:pPr marL="342900" indent="-342900">
              <a:lnSpc>
                <a:spcPts val="1800"/>
              </a:lnSpc>
              <a:spcAft>
                <a:spcPts val="1100"/>
              </a:spcAft>
              <a:buSzPct val="100000"/>
              <a:buChar char="✓"/>
            </a:pPr>
            <a:r>
              <a:rPr lang="en-US" sz="1400" dirty="0">
                <a:solidFill>
                  <a:srgbClr val="E4ECF3"/>
                </a:solidFill>
                <a:latin typeface="Calibri" panose="020F0502020204030204" pitchFamily="34" charset="0"/>
                <a:ea typeface="Calibri" panose="020F0502020204030204" pitchFamily="34" charset="-122"/>
                <a:cs typeface="Calibri" panose="020F0502020204030204" pitchFamily="34" charset="-120"/>
              </a:rPr>
              <a:t>Demand-related features were engineered from raw sales records</a:t>
            </a:r>
            <a:endParaRPr lang="en-US" sz="1400" dirty="0"/>
          </a:p>
          <a:p>
            <a:pPr marL="342900" indent="-342900">
              <a:lnSpc>
                <a:spcPts val="1800"/>
              </a:lnSpc>
              <a:spcAft>
                <a:spcPts val="1100"/>
              </a:spcAft>
              <a:buSzPct val="100000"/>
              <a:buChar char="✓"/>
            </a:pPr>
            <a:r>
              <a:rPr lang="en-US" sz="1400" dirty="0">
                <a:solidFill>
                  <a:srgbClr val="E4ECF3"/>
                </a:solidFill>
                <a:latin typeface="Calibri" panose="020F0502020204030204" pitchFamily="34" charset="0"/>
                <a:ea typeface="Calibri" panose="020F0502020204030204" pitchFamily="34" charset="-122"/>
                <a:cs typeface="Calibri" panose="020F0502020204030204" pitchFamily="34" charset="-120"/>
              </a:rPr>
              <a:t>A Random Forest regression model was trained on the data</a:t>
            </a:r>
            <a:endParaRPr lang="en-US" sz="1400" dirty="0"/>
          </a:p>
          <a:p>
            <a:pPr marL="342900" indent="-342900">
              <a:lnSpc>
                <a:spcPts val="1800"/>
              </a:lnSpc>
              <a:spcAft>
                <a:spcPts val="1100"/>
              </a:spcAft>
              <a:buSzPct val="100000"/>
              <a:buChar char="✓"/>
            </a:pPr>
            <a:r>
              <a:rPr lang="en-US" sz="1400" dirty="0">
                <a:solidFill>
                  <a:srgbClr val="E4ECF3"/>
                </a:solidFill>
                <a:latin typeface="Calibri" panose="020F0502020204030204" pitchFamily="34" charset="0"/>
                <a:ea typeface="Calibri" panose="020F0502020204030204" pitchFamily="34" charset="-122"/>
                <a:cs typeface="Calibri" panose="020F0502020204030204" pitchFamily="34" charset="-120"/>
              </a:rPr>
              <a:t>The model was evaluated using MAE and RMSE metrics</a:t>
            </a:r>
            <a:endParaRPr lang="en-US" sz="1400" dirty="0"/>
          </a:p>
          <a:p>
            <a:pPr marL="342900" indent="-342900">
              <a:lnSpc>
                <a:spcPts val="1800"/>
              </a:lnSpc>
              <a:spcAft>
                <a:spcPts val="1100"/>
              </a:spcAft>
              <a:buSzPct val="100000"/>
              <a:buChar char="✓"/>
            </a:pPr>
            <a:r>
              <a:rPr lang="en-US" sz="1400" dirty="0">
                <a:solidFill>
                  <a:srgbClr val="E4ECF3"/>
                </a:solidFill>
                <a:latin typeface="Calibri" panose="020F0502020204030204" pitchFamily="34" charset="0"/>
                <a:ea typeface="Calibri" panose="020F0502020204030204" pitchFamily="34" charset="-122"/>
                <a:cs typeface="Calibri" panose="020F0502020204030204" pitchFamily="34" charset="-120"/>
              </a:rPr>
              <a:t>Product-level demand predictions were generated</a:t>
            </a:r>
            <a:endParaRPr lang="en-US" sz="1400" dirty="0"/>
          </a:p>
          <a:p>
            <a:pPr marL="342900" indent="-342900">
              <a:lnSpc>
                <a:spcPts val="1800"/>
              </a:lnSpc>
              <a:spcAft>
                <a:spcPts val="1100"/>
              </a:spcAft>
              <a:buSzPct val="100000"/>
              <a:buChar char="✓"/>
            </a:pPr>
            <a:r>
              <a:rPr lang="en-US" sz="1400" dirty="0">
                <a:solidFill>
                  <a:srgbClr val="E4ECF3"/>
                </a:solidFill>
                <a:latin typeface="Calibri" panose="020F0502020204030204" pitchFamily="34" charset="0"/>
                <a:ea typeface="Calibri" panose="020F0502020204030204" pitchFamily="34" charset="-122"/>
                <a:cs typeface="Calibri" panose="020F0502020204030204" pitchFamily="34" charset="-120"/>
              </a:rPr>
              <a:t>A Streamlit interface was built for interactive demonstration</a:t>
            </a:r>
            <a:endParaRPr lang="en-US" sz="1400" dirty="0"/>
          </a:p>
        </p:txBody>
      </p:sp>
      <p:sp>
        <p:nvSpPr>
          <p:cNvPr id="7" name="Shape 5"/>
          <p:cNvSpPr/>
          <p:nvPr/>
        </p:nvSpPr>
        <p:spPr>
          <a:xfrm>
            <a:off x="8229600" y="1691640"/>
            <a:ext cx="3429000" cy="3063240"/>
          </a:xfrm>
          <a:prstGeom prst="roundRect">
            <a:avLst>
              <a:gd name="adj" fmla="val 3582"/>
            </a:avLst>
          </a:prstGeom>
          <a:solidFill>
            <a:srgbClr val="132B49"/>
          </a:solidFill>
          <a:ln w="12700">
            <a:solidFill>
              <a:srgbClr val="234A70"/>
            </a:solidFill>
            <a:prstDash val="solid"/>
          </a:ln>
        </p:spPr>
      </p:sp>
      <p:sp>
        <p:nvSpPr>
          <p:cNvPr id="8" name="Text 6"/>
          <p:cNvSpPr/>
          <p:nvPr/>
        </p:nvSpPr>
        <p:spPr>
          <a:xfrm>
            <a:off x="8458200" y="1920240"/>
            <a:ext cx="2971800" cy="548640"/>
          </a:xfrm>
          <a:prstGeom prst="rect">
            <a:avLst/>
          </a:prstGeom>
          <a:noFill/>
        </p:spPr>
        <p:txBody>
          <a:bodyPr wrap="square" rtlCol="0" anchor="ctr"/>
          <a:lstStyle/>
          <a:p>
            <a:pPr marL="0" indent="0" algn="ctr">
              <a:lnSpc>
                <a:spcPts val="1300"/>
              </a:lnSpc>
              <a:buNone/>
            </a:pPr>
            <a:r>
              <a:rPr lang="en-US" sz="1100" b="1" kern="0" spc="100" dirty="0">
                <a:solidFill>
                  <a:srgbClr val="E0982E"/>
                </a:solidFill>
                <a:latin typeface="Calibri" panose="020F0502020204030204" pitchFamily="34" charset="0"/>
                <a:ea typeface="Calibri" panose="020F0502020204030204" pitchFamily="34" charset="-122"/>
                <a:cs typeface="Calibri" panose="020F0502020204030204" pitchFamily="34" charset="-120"/>
              </a:rPr>
              <a:t>PIPELINE</a:t>
            </a:r>
            <a:endParaRPr lang="en-US" sz="1100" dirty="0"/>
          </a:p>
          <a:p>
            <a:pPr marL="0" indent="0" algn="ctr">
              <a:lnSpc>
                <a:spcPts val="1300"/>
              </a:lnSpc>
              <a:buNone/>
            </a:pPr>
            <a:r>
              <a:rPr lang="en-US" sz="1100" b="1" kern="0" spc="100" dirty="0">
                <a:solidFill>
                  <a:srgbClr val="E0982E"/>
                </a:solidFill>
                <a:latin typeface="Calibri" panose="020F0502020204030204" pitchFamily="34" charset="0"/>
                <a:ea typeface="Calibri" panose="020F0502020204030204" pitchFamily="34" charset="-122"/>
                <a:cs typeface="Calibri" panose="020F0502020204030204" pitchFamily="34" charset="-120"/>
              </a:rPr>
              <a:t>SUMMARY</a:t>
            </a:r>
            <a:endParaRPr lang="en-US" sz="1100" dirty="0"/>
          </a:p>
        </p:txBody>
      </p:sp>
      <p:sp>
        <p:nvSpPr>
          <p:cNvPr id="9" name="Text 7"/>
          <p:cNvSpPr/>
          <p:nvPr/>
        </p:nvSpPr>
        <p:spPr>
          <a:xfrm>
            <a:off x="8458200" y="2606040"/>
            <a:ext cx="2971800" cy="384048"/>
          </a:xfrm>
          <a:prstGeom prst="rect">
            <a:avLst/>
          </a:prstGeom>
          <a:noFill/>
        </p:spPr>
        <p:txBody>
          <a:bodyPr wrap="square" rtlCol="0" anchor="ctr"/>
          <a:lstStyle/>
          <a:p>
            <a:pPr marL="0" indent="0" algn="ctr">
              <a:buNone/>
            </a:pPr>
            <a:r>
              <a:rPr lang="en-US" sz="1100" dirty="0">
                <a:solidFill>
                  <a:srgbClr val="D7E3EF"/>
                </a:solidFill>
                <a:latin typeface="Calibri" panose="020F0502020204030204" pitchFamily="34" charset="0"/>
                <a:ea typeface="Calibri" panose="020F0502020204030204" pitchFamily="34" charset="-122"/>
                <a:cs typeface="Calibri" panose="020F0502020204030204" pitchFamily="34" charset="-120"/>
              </a:rPr>
              <a:t>Data → Clean</a:t>
            </a:r>
            <a:endParaRPr lang="en-US" sz="1100" dirty="0"/>
          </a:p>
        </p:txBody>
      </p:sp>
      <p:sp>
        <p:nvSpPr>
          <p:cNvPr id="10" name="Text 8"/>
          <p:cNvSpPr/>
          <p:nvPr/>
        </p:nvSpPr>
        <p:spPr>
          <a:xfrm>
            <a:off x="8458200" y="3044952"/>
            <a:ext cx="2971800" cy="384048"/>
          </a:xfrm>
          <a:prstGeom prst="rect">
            <a:avLst/>
          </a:prstGeom>
          <a:noFill/>
        </p:spPr>
        <p:txBody>
          <a:bodyPr wrap="square" rtlCol="0" anchor="ctr"/>
          <a:lstStyle/>
          <a:p>
            <a:pPr marL="0" indent="0" algn="ctr">
              <a:buNone/>
            </a:pPr>
            <a:r>
              <a:rPr lang="en-US" sz="1100" dirty="0">
                <a:solidFill>
                  <a:srgbClr val="D7E3EF"/>
                </a:solidFill>
                <a:latin typeface="Calibri" panose="020F0502020204030204" pitchFamily="34" charset="0"/>
                <a:ea typeface="Calibri" panose="020F0502020204030204" pitchFamily="34" charset="-122"/>
                <a:cs typeface="Calibri" panose="020F0502020204030204" pitchFamily="34" charset="-120"/>
              </a:rPr>
              <a:t>Clean → Features</a:t>
            </a:r>
            <a:endParaRPr lang="en-US" sz="1100" dirty="0"/>
          </a:p>
        </p:txBody>
      </p:sp>
      <p:sp>
        <p:nvSpPr>
          <p:cNvPr id="11" name="Text 9"/>
          <p:cNvSpPr/>
          <p:nvPr/>
        </p:nvSpPr>
        <p:spPr>
          <a:xfrm>
            <a:off x="8458200" y="3483864"/>
            <a:ext cx="2971800" cy="384048"/>
          </a:xfrm>
          <a:prstGeom prst="rect">
            <a:avLst/>
          </a:prstGeom>
          <a:noFill/>
        </p:spPr>
        <p:txBody>
          <a:bodyPr wrap="square" rtlCol="0" anchor="ctr"/>
          <a:lstStyle/>
          <a:p>
            <a:pPr marL="0" indent="0" algn="ctr">
              <a:buNone/>
            </a:pPr>
            <a:r>
              <a:rPr lang="en-US" sz="1100" dirty="0">
                <a:solidFill>
                  <a:srgbClr val="D7E3EF"/>
                </a:solidFill>
                <a:latin typeface="Calibri" panose="020F0502020204030204" pitchFamily="34" charset="0"/>
                <a:ea typeface="Calibri" panose="020F0502020204030204" pitchFamily="34" charset="-122"/>
                <a:cs typeface="Calibri" panose="020F0502020204030204" pitchFamily="34" charset="-120"/>
              </a:rPr>
              <a:t>Features → Model</a:t>
            </a:r>
            <a:endParaRPr lang="en-US" sz="1100" dirty="0"/>
          </a:p>
        </p:txBody>
      </p:sp>
      <p:sp>
        <p:nvSpPr>
          <p:cNvPr id="12" name="Text 10"/>
          <p:cNvSpPr/>
          <p:nvPr/>
        </p:nvSpPr>
        <p:spPr>
          <a:xfrm>
            <a:off x="8458200" y="3922776"/>
            <a:ext cx="2971800" cy="384048"/>
          </a:xfrm>
          <a:prstGeom prst="rect">
            <a:avLst/>
          </a:prstGeom>
          <a:noFill/>
        </p:spPr>
        <p:txBody>
          <a:bodyPr wrap="square" rtlCol="0" anchor="ctr"/>
          <a:lstStyle/>
          <a:p>
            <a:pPr marL="0" indent="0" algn="ctr">
              <a:buNone/>
            </a:pPr>
            <a:r>
              <a:rPr lang="en-US" sz="1100" dirty="0">
                <a:solidFill>
                  <a:srgbClr val="D7E3EF"/>
                </a:solidFill>
                <a:latin typeface="Calibri" panose="020F0502020204030204" pitchFamily="34" charset="0"/>
                <a:ea typeface="Calibri" panose="020F0502020204030204" pitchFamily="34" charset="-122"/>
                <a:cs typeface="Calibri" panose="020F0502020204030204" pitchFamily="34" charset="-120"/>
              </a:rPr>
              <a:t>Model → Evaluation</a:t>
            </a:r>
            <a:endParaRPr lang="en-US" sz="1100" dirty="0"/>
          </a:p>
        </p:txBody>
      </p:sp>
      <p:sp>
        <p:nvSpPr>
          <p:cNvPr id="13" name="Text 11"/>
          <p:cNvSpPr/>
          <p:nvPr/>
        </p:nvSpPr>
        <p:spPr>
          <a:xfrm>
            <a:off x="8458200" y="4361688"/>
            <a:ext cx="2971800" cy="384048"/>
          </a:xfrm>
          <a:prstGeom prst="rect">
            <a:avLst/>
          </a:prstGeom>
          <a:noFill/>
        </p:spPr>
        <p:txBody>
          <a:bodyPr wrap="square" rtlCol="0" anchor="ctr"/>
          <a:lstStyle/>
          <a:p>
            <a:pPr marL="0" indent="0" algn="ctr">
              <a:buNone/>
            </a:pPr>
            <a:r>
              <a:rPr lang="en-US" sz="1100" dirty="0">
                <a:solidFill>
                  <a:srgbClr val="D7E3EF"/>
                </a:solidFill>
                <a:latin typeface="Calibri" panose="020F0502020204030204" pitchFamily="34" charset="0"/>
                <a:ea typeface="Calibri" panose="020F0502020204030204" pitchFamily="34" charset="-122"/>
                <a:cs typeface="Calibri" panose="020F0502020204030204" pitchFamily="34" charset="-120"/>
              </a:rPr>
              <a:t>Evaluation → App</a:t>
            </a:r>
            <a:endParaRPr lang="en-US" sz="1100" dirty="0"/>
          </a:p>
        </p:txBody>
      </p:sp>
      <p:sp>
        <p:nvSpPr>
          <p:cNvPr id="14" name="Shape 12"/>
          <p:cNvSpPr/>
          <p:nvPr/>
        </p:nvSpPr>
        <p:spPr>
          <a:xfrm>
            <a:off x="548640" y="5166360"/>
            <a:ext cx="11094415" cy="18288"/>
          </a:xfrm>
          <a:prstGeom prst="rect">
            <a:avLst/>
          </a:prstGeom>
          <a:solidFill>
            <a:srgbClr val="234A70"/>
          </a:solidFill>
        </p:spPr>
      </p:sp>
      <p:sp>
        <p:nvSpPr>
          <p:cNvPr id="15" name="Text 13"/>
          <p:cNvSpPr/>
          <p:nvPr/>
        </p:nvSpPr>
        <p:spPr>
          <a:xfrm>
            <a:off x="548640" y="5394960"/>
            <a:ext cx="6400800" cy="640080"/>
          </a:xfrm>
          <a:prstGeom prst="rect">
            <a:avLst/>
          </a:prstGeom>
          <a:noFill/>
        </p:spPr>
        <p:txBody>
          <a:bodyPr wrap="square"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3200" dirty="0"/>
          </a:p>
        </p:txBody>
      </p:sp>
      <p:sp>
        <p:nvSpPr>
          <p:cNvPr id="16" name="Text 14"/>
          <p:cNvSpPr/>
          <p:nvPr/>
        </p:nvSpPr>
        <p:spPr>
          <a:xfrm>
            <a:off x="548640" y="5943600"/>
            <a:ext cx="6400800" cy="457200"/>
          </a:xfrm>
          <a:prstGeom prst="rect">
            <a:avLst/>
          </a:prstGeom>
          <a:noFill/>
        </p:spPr>
        <p:txBody>
          <a:bodyPr wrap="square" rtlCol="0" anchor="ctr"/>
          <a:lstStyle/>
          <a:p>
            <a:pPr marL="0" indent="0">
              <a:buNone/>
            </a:pPr>
            <a:r>
              <a:rPr lang="en-US" sz="1600" i="1" dirty="0">
                <a:solidFill>
                  <a:srgbClr val="E0982E"/>
                </a:solidFill>
                <a:latin typeface="Calibri" panose="020F0502020204030204" pitchFamily="34" charset="0"/>
                <a:ea typeface="Calibri" panose="020F0502020204030204" pitchFamily="34" charset="-122"/>
                <a:cs typeface="Calibri" panose="020F0502020204030204" pitchFamily="34" charset="-120"/>
              </a:rPr>
              <a:t>Questions?</a:t>
            </a:r>
            <a:endParaRPr lang="en-US" sz="1600" dirty="0"/>
          </a:p>
        </p:txBody>
      </p:sp>
      <p:sp>
        <p:nvSpPr>
          <p:cNvPr id="17" name="Text 15"/>
          <p:cNvSpPr/>
          <p:nvPr/>
        </p:nvSpPr>
        <p:spPr>
          <a:xfrm>
            <a:off x="548640" y="6519672"/>
            <a:ext cx="6400800" cy="274320"/>
          </a:xfrm>
          <a:prstGeom prst="rect">
            <a:avLst/>
          </a:prstGeom>
          <a:noFill/>
        </p:spPr>
        <p:txBody>
          <a:bodyPr wrap="square" rtlCol="0" anchor="ctr"/>
          <a:lstStyle/>
          <a:p>
            <a:pPr marL="0" indent="0" algn="l">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AI-Powered Retail Demand Prediction System</a:t>
            </a:r>
            <a:endParaRPr lang="en-US" sz="900" dirty="0"/>
          </a:p>
        </p:txBody>
      </p:sp>
      <p:sp>
        <p:nvSpPr>
          <p:cNvPr id="18" name="Text 16"/>
          <p:cNvSpPr/>
          <p:nvPr/>
        </p:nvSpPr>
        <p:spPr>
          <a:xfrm>
            <a:off x="10545775" y="6519672"/>
            <a:ext cx="1097280" cy="274320"/>
          </a:xfrm>
          <a:prstGeom prst="rect">
            <a:avLst/>
          </a:prstGeom>
          <a:noFill/>
        </p:spPr>
        <p:txBody>
          <a:bodyPr wrap="square" rtlCol="0" anchor="ctr"/>
          <a:lstStyle/>
          <a:p>
            <a:pPr marL="0" indent="0" algn="r">
              <a:buNone/>
            </a:pPr>
            <a:r>
              <a:rPr lang="en-US" sz="900" dirty="0">
                <a:solidFill>
                  <a:srgbClr val="64758B"/>
                </a:solidFill>
                <a:latin typeface="Calibri" panose="020F0502020204030204" pitchFamily="34" charset="0"/>
                <a:ea typeface="Calibri" panose="020F0502020204030204" pitchFamily="34" charset="-122"/>
                <a:cs typeface="Calibri" panose="020F0502020204030204" pitchFamily="34" charset="-120"/>
              </a:rPr>
              <a:t>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2854</Words>
  <Application>Microsoft Office PowerPoint</Application>
  <PresentationFormat>Widescreen</PresentationFormat>
  <Paragraphs>413</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Retail Demand Prediction System</dc:title>
  <dc:subject>PptxGenJS Presentation</dc:subject>
  <dc:creator>CSE Project</dc:creator>
  <cp:lastModifiedBy>kolatam sindhuja</cp:lastModifiedBy>
  <cp:revision>3</cp:revision>
  <dcterms:created xsi:type="dcterms:W3CDTF">2026-09-18T03:38:00Z</dcterms:created>
  <dcterms:modified xsi:type="dcterms:W3CDTF">2026-09-18T03:50:13Z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568781DAC2B8477B8BE68C38C49B2419_13</vt:lpwstr>
  </property>
</Properties>
</file>